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5"/>
  </p:notesMasterIdLst>
  <p:sldIdLst>
    <p:sldId id="261" r:id="rId3"/>
    <p:sldId id="257" r:id="rId4"/>
    <p:sldId id="268" r:id="rId5"/>
    <p:sldId id="269" r:id="rId6"/>
    <p:sldId id="270"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307" r:id="rId24"/>
    <p:sldId id="287" r:id="rId25"/>
    <p:sldId id="288" r:id="rId26"/>
    <p:sldId id="289" r:id="rId27"/>
    <p:sldId id="290"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266"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F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1" d="100"/>
          <a:sy n="51" d="100"/>
        </p:scale>
        <p:origin x="53"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notesMaster" Target="notesMasters/notesMaster1.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4727AA-CC54-4EC6-BCBA-A2460513714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7F71B4-EC3B-4934-B433-F3E12748C3F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PA_图片 3"/>
          <p:cNvPicPr>
            <a:picLocks noChangeAspect="1"/>
          </p:cNvPicPr>
          <p:nvPr userDrawn="1">
            <p:custDataLst>
              <p:tags r:id="rId2"/>
            </p:custDataLst>
          </p:nvPr>
        </p:nvPicPr>
        <p:blipFill rotWithShape="1">
          <a:blip r:embed="rId3"/>
          <a:srcRect t="7834" b="783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6" presetClass="emph" presetSubtype="0" decel="100000" fill="hold" nodeType="afterEffect">
                                  <p:stCondLst>
                                    <p:cond delay="0"/>
                                  </p:stCondLst>
                                  <p:childTnLst>
                                    <p:animScale>
                                      <p:cBhvr>
                                        <p:cTn id="10" dur="5000" fill="hold"/>
                                        <p:tgtEl>
                                          <p:spTgt spid="7"/>
                                        </p:tgtEl>
                                      </p:cBhvr>
                                      <p:by x="115000" y="11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矩形 6"/>
          <p:cNvSpPr/>
          <p:nvPr userDrawn="1"/>
        </p:nvSpPr>
        <p:spPr>
          <a:xfrm>
            <a:off x="10183824" y="251167"/>
            <a:ext cx="1815274" cy="509796"/>
          </a:xfrm>
          <a:prstGeom prst="rect">
            <a:avLst/>
          </a:prstGeom>
          <a:noFill/>
          <a:ln>
            <a:noFill/>
          </a:ln>
          <a:effectLst>
            <a:glow rad="228600">
              <a:schemeClr val="accent1">
                <a:satMod val="175000"/>
                <a:alpha val="40000"/>
              </a:schemeClr>
            </a:glow>
            <a:outerShdw blurRad="76200" dist="12700" dir="8100000" sy="-23000" kx="800400" algn="br" rotWithShape="0">
              <a:prstClr val="black">
                <a:alpha val="20000"/>
              </a:prstClr>
            </a:outerShdw>
          </a:effectLst>
        </p:spPr>
        <p:txBody>
          <a:bodyPr anchor="ctr" anchorCtr="0"/>
          <a:lstStyle/>
          <a:p>
            <a:pPr algn="ctr">
              <a:defRPr/>
            </a:pPr>
            <a:r>
              <a:rPr lang="zh-CN" altLang="en-US" sz="2000" b="1" cap="none" spc="0" dirty="0" smtClean="0">
                <a:ln>
                  <a:noFill/>
                </a:ln>
                <a:solidFill>
                  <a:srgbClr val="00418D"/>
                </a:solidFill>
                <a:effectLst/>
                <a:latin typeface="微软雅黑" panose="020B0503020204020204" pitchFamily="34" charset="-122"/>
                <a:ea typeface="微软雅黑" panose="020B0503020204020204" pitchFamily="34" charset="-122"/>
              </a:rPr>
              <a:t>电子系统设计与制</a:t>
            </a:r>
            <a:r>
              <a:rPr lang="en-US" altLang="zh-CN" sz="2000" b="1" cap="none" spc="0" dirty="0" smtClean="0">
                <a:ln>
                  <a:noFill/>
                </a:ln>
                <a:solidFill>
                  <a:srgbClr val="00418D"/>
                </a:solidFill>
                <a:effectLst/>
                <a:latin typeface="微软雅黑" panose="020B0503020204020204" pitchFamily="34" charset="-122"/>
                <a:ea typeface="微软雅黑" panose="020B0503020204020204" pitchFamily="34" charset="-122"/>
              </a:rPr>
              <a:t>(Ⅰ)</a:t>
            </a:r>
            <a:endParaRPr lang="en-US" altLang="zh-CN" sz="2000" b="1" cap="none" spc="0" dirty="0">
              <a:ln>
                <a:noFill/>
              </a:ln>
              <a:solidFill>
                <a:srgbClr val="00418D"/>
              </a:solidFill>
              <a:effectLst/>
              <a:latin typeface="微软雅黑" panose="020B0503020204020204" pitchFamily="34" charset="-122"/>
              <a:ea typeface="微软雅黑" panose="020B0503020204020204" pitchFamily="34" charset="-122"/>
            </a:endParaRPr>
          </a:p>
        </p:txBody>
      </p:sp>
      <p:pic>
        <p:nvPicPr>
          <p:cNvPr id="8" name="图片 8"/>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92902" y="123579"/>
            <a:ext cx="683216" cy="687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7"/>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76118" y="212669"/>
            <a:ext cx="1944439" cy="509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p:nvPr userDrawn="1"/>
        </p:nvCxnSpPr>
        <p:spPr>
          <a:xfrm>
            <a:off x="0" y="936172"/>
            <a:ext cx="12192000" cy="0"/>
          </a:xfrm>
          <a:prstGeom prst="line">
            <a:avLst/>
          </a:prstGeom>
          <a:ln w="19050">
            <a:solidFill>
              <a:srgbClr val="003F8C"/>
            </a:solidFill>
          </a:ln>
        </p:spPr>
        <p:style>
          <a:lnRef idx="1">
            <a:schemeClr val="accent1"/>
          </a:lnRef>
          <a:fillRef idx="0">
            <a:schemeClr val="accent1"/>
          </a:fillRef>
          <a:effectRef idx="0">
            <a:schemeClr val="accent1"/>
          </a:effectRef>
          <a:fontRef idx="minor">
            <a:schemeClr val="tx1"/>
          </a:fontRef>
        </p:style>
      </p:cxnSp>
      <p:sp>
        <p:nvSpPr>
          <p:cNvPr id="12" name="灯片编号占位符 5"/>
          <p:cNvSpPr>
            <a:spLocks noGrp="1"/>
          </p:cNvSpPr>
          <p:nvPr>
            <p:ph type="sldNum" sz="quarter" idx="12"/>
          </p:nvPr>
        </p:nvSpPr>
        <p:spPr>
          <a:xfrm>
            <a:off x="11451771" y="6313717"/>
            <a:ext cx="547327" cy="386892"/>
          </a:xfrm>
          <a:prstGeom prst="rect">
            <a:avLst/>
          </a:prstGeom>
        </p:spPr>
        <p:txBody>
          <a:bodyPr/>
          <a:lstStyle>
            <a:lvl1pPr algn="r">
              <a:defRPr sz="2400" b="1" smtClean="0">
                <a:solidFill>
                  <a:schemeClr val="tx2">
                    <a:lumMod val="75000"/>
                  </a:schemeClr>
                </a:solidFill>
                <a:latin typeface="Times New Roman" panose="02020603050405020304" pitchFamily="18" charset="0"/>
                <a:cs typeface="Times New Roman" panose="02020603050405020304" pitchFamily="18" charset="0"/>
              </a:defRPr>
            </a:lvl1pPr>
          </a:lstStyle>
          <a:p>
            <a:pPr>
              <a:defRPr/>
            </a:pPr>
            <a:fld id="{FDDE4703-3FBD-4F37-BFAB-C103DF137E37}"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平行四边形 4"/>
          <p:cNvSpPr/>
          <p:nvPr userDrawn="1"/>
        </p:nvSpPr>
        <p:spPr>
          <a:xfrm>
            <a:off x="2366087" y="0"/>
            <a:ext cx="7459826" cy="6858000"/>
          </a:xfrm>
          <a:prstGeom prst="parallelogram">
            <a:avLst>
              <a:gd name="adj" fmla="val 26721"/>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50">
              <a:latin typeface="黑体" panose="02010609060101010101" pitchFamily="49" charset="-122"/>
              <a:ea typeface="黑体" panose="02010609060101010101" pitchFamily="49" charset="-122"/>
            </a:endParaRPr>
          </a:p>
        </p:txBody>
      </p:sp>
      <p:sp>
        <p:nvSpPr>
          <p:cNvPr id="7" name="文本框 5"/>
          <p:cNvSpPr txBox="1"/>
          <p:nvPr userDrawn="1"/>
        </p:nvSpPr>
        <p:spPr>
          <a:xfrm>
            <a:off x="3983845" y="2864676"/>
            <a:ext cx="4224307" cy="1015663"/>
          </a:xfrm>
          <a:prstGeom prst="rect">
            <a:avLst/>
          </a:prstGeom>
          <a:noFill/>
        </p:spPr>
        <p:txBody>
          <a:bodyPr wrap="square" rtlCol="0">
            <a:spAutoFit/>
          </a:bodyPr>
          <a:lstStyle/>
          <a:p>
            <a:pPr algn="ctr"/>
            <a:r>
              <a:rPr lang="en-US" altLang="zh-CN" sz="6000" b="1" dirty="0">
                <a:solidFill>
                  <a:srgbClr val="53575A"/>
                </a:solidFill>
                <a:latin typeface="微软雅黑" panose="020B0503020204020204" pitchFamily="34" charset="-122"/>
                <a:ea typeface="微软雅黑" panose="020B0503020204020204" pitchFamily="34" charset="-122"/>
                <a:cs typeface="Times New Roman" panose="02020603050405020304" pitchFamily="18" charset="0"/>
              </a:rPr>
              <a:t>THE END</a:t>
            </a:r>
            <a:endParaRPr lang="zh-CN" altLang="en-US" sz="6000" b="1" dirty="0">
              <a:solidFill>
                <a:srgbClr val="53575A"/>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矩形 6"/>
          <p:cNvSpPr/>
          <p:nvPr userDrawn="1"/>
        </p:nvSpPr>
        <p:spPr>
          <a:xfrm>
            <a:off x="3820400" y="3880339"/>
            <a:ext cx="4551199" cy="170848"/>
          </a:xfrm>
          <a:prstGeom prst="rect">
            <a:avLst/>
          </a:prstGeom>
          <a:solidFill>
            <a:srgbClr val="F39C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50" dirty="0">
              <a:latin typeface="黑体" panose="02010609060101010101" pitchFamily="49" charset="-122"/>
              <a:ea typeface="黑体" panose="02010609060101010101" pitchFamily="49" charset="-122"/>
            </a:endParaRPr>
          </a:p>
        </p:txBody>
      </p:sp>
      <p:pic>
        <p:nvPicPr>
          <p:cNvPr id="9" name="图片 9"/>
          <p:cNvPicPr>
            <a:picLocks noChangeAspect="1"/>
          </p:cNvPicPr>
          <p:nvPr userDrawn="1"/>
        </p:nvPicPr>
        <p:blipFill>
          <a:blip r:embed="rId2" cstate="print"/>
          <a:stretch>
            <a:fillRect/>
          </a:stretch>
        </p:blipFill>
        <p:spPr>
          <a:xfrm>
            <a:off x="5738376" y="2174206"/>
            <a:ext cx="715243" cy="715243"/>
          </a:xfrm>
          <a:prstGeom prst="rect">
            <a:avLst/>
          </a:prstGeom>
        </p:spPr>
      </p:pic>
      <p:pic>
        <p:nvPicPr>
          <p:cNvPr id="10" name="图片 8"/>
          <p:cNvPicPr>
            <a:picLocks noChangeAspect="1"/>
          </p:cNvPicPr>
          <p:nvPr userDrawn="1"/>
        </p:nvPicPr>
        <p:blipFill>
          <a:blip r:embed="rId3" cstate="print"/>
          <a:stretch>
            <a:fillRect/>
          </a:stretch>
        </p:blipFill>
        <p:spPr>
          <a:xfrm>
            <a:off x="3820400" y="4320965"/>
            <a:ext cx="4307733" cy="1150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par>
                                <p:cTn id="9" presetID="2" presetClass="entr" presetSubtype="6" fill="hold" nodeType="withEffect">
                                  <p:stCondLst>
                                    <p:cond delay="1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1+#ppt_w/2"/>
                                          </p:val>
                                        </p:tav>
                                        <p:tav tm="100000">
                                          <p:val>
                                            <p:strVal val="#ppt_x"/>
                                          </p:val>
                                        </p:tav>
                                      </p:tavLst>
                                    </p:anim>
                                    <p:anim calcmode="lin" valueType="num">
                                      <p:cBhvr additive="base">
                                        <p:cTn id="12" dur="10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2" decel="100000" fill="hold" grpId="0" nodeType="withEffect">
                                  <p:stCondLst>
                                    <p:cond delay="1500"/>
                                  </p:stCondLst>
                                  <p:iterate type="lt">
                                    <p:tmPct val="10000"/>
                                  </p:iterate>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additive="base">
                                        <p:cTn id="15" dur="1000" fill="hold"/>
                                        <p:tgtEl>
                                          <p:spTgt spid="7">
                                            <p:txEl>
                                              <p:pRg st="0" end="0"/>
                                            </p:txEl>
                                          </p:spTgt>
                                        </p:tgtEl>
                                        <p:attrNameLst>
                                          <p:attrName>ppt_x</p:attrName>
                                        </p:attrNameLst>
                                      </p:cBhvr>
                                      <p:tavLst>
                                        <p:tav tm="0">
                                          <p:val>
                                            <p:strVal val="1+#ppt_w/2"/>
                                          </p:val>
                                        </p:tav>
                                        <p:tav tm="100000">
                                          <p:val>
                                            <p:strVal val="#ppt_x"/>
                                          </p:val>
                                        </p:tav>
                                      </p:tavLst>
                                    </p:anim>
                                    <p:anim calcmode="lin" valueType="num">
                                      <p:cBhvr additive="base">
                                        <p:cTn id="16" dur="1000" fill="hold"/>
                                        <p:tgtEl>
                                          <p:spTgt spid="7">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15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000" fill="hold"/>
                                        <p:tgtEl>
                                          <p:spTgt spid="8"/>
                                        </p:tgtEl>
                                        <p:attrNameLst>
                                          <p:attrName>ppt_x</p:attrName>
                                        </p:attrNameLst>
                                      </p:cBhvr>
                                      <p:tavLst>
                                        <p:tav tm="0">
                                          <p:val>
                                            <p:strVal val="1+#ppt_w/2"/>
                                          </p:val>
                                        </p:tav>
                                        <p:tav tm="100000">
                                          <p:val>
                                            <p:strVal val="#ppt_x"/>
                                          </p:val>
                                        </p:tav>
                                      </p:tavLst>
                                    </p:anim>
                                    <p:anim calcmode="lin" valueType="num">
                                      <p:cBhvr additive="base">
                                        <p:cTn id="20" dur="1000" fill="hold"/>
                                        <p:tgtEl>
                                          <p:spTgt spid="8"/>
                                        </p:tgtEl>
                                        <p:attrNameLst>
                                          <p:attrName>ppt_y</p:attrName>
                                        </p:attrNameLst>
                                      </p:cBhvr>
                                      <p:tavLst>
                                        <p:tav tm="0">
                                          <p:val>
                                            <p:strVal val="#ppt_y"/>
                                          </p:val>
                                        </p:tav>
                                        <p:tav tm="100000">
                                          <p:val>
                                            <p:strVal val="#ppt_y"/>
                                          </p:val>
                                        </p:tav>
                                      </p:tavLst>
                                    </p:anim>
                                  </p:childTnLst>
                                </p:cTn>
                              </p:par>
                              <p:par>
                                <p:cTn id="21" presetID="16" presetClass="entr" presetSubtype="21"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arn(inVertical)">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build="p"/>
      <p:bldP spid="8" grpId="0" animBg="1"/>
    </p:bld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8.emf"/></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oleObject" Target="../embeddings/oleObject2.bin"/><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image" Target="../media/image27.jpeg"/></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image" Target="../media/image32.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8"/>
          <p:cNvPicPr>
            <a:picLocks noChangeAspect="1"/>
          </p:cNvPicPr>
          <p:nvPr/>
        </p:nvPicPr>
        <p:blipFill>
          <a:blip r:embed="rId1" cstate="print"/>
          <a:stretch>
            <a:fillRect/>
          </a:stretch>
        </p:blipFill>
        <p:spPr>
          <a:xfrm>
            <a:off x="311381" y="257820"/>
            <a:ext cx="2682189" cy="683835"/>
          </a:xfrm>
          <a:prstGeom prst="rect">
            <a:avLst/>
          </a:prstGeom>
        </p:spPr>
      </p:pic>
      <p:sp>
        <p:nvSpPr>
          <p:cNvPr id="3" name="PA_矩形 11"/>
          <p:cNvSpPr/>
          <p:nvPr>
            <p:custDataLst>
              <p:tags r:id="rId2"/>
            </p:custDataLst>
          </p:nvPr>
        </p:nvSpPr>
        <p:spPr>
          <a:xfrm>
            <a:off x="2064000" y="4339508"/>
            <a:ext cx="8064000" cy="49775"/>
          </a:xfrm>
          <a:prstGeom prst="rect">
            <a:avLst/>
          </a:prstGeom>
          <a:solidFill>
            <a:srgbClr val="2980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50" dirty="0">
              <a:solidFill>
                <a:srgbClr val="E5E5E2"/>
              </a:solidFill>
              <a:latin typeface="微软雅黑" panose="020B0503020204020204" pitchFamily="34" charset="-122"/>
              <a:ea typeface="微软雅黑" panose="020B0503020204020204" pitchFamily="34" charset="-122"/>
            </a:endParaRPr>
          </a:p>
        </p:txBody>
      </p:sp>
      <p:sp>
        <p:nvSpPr>
          <p:cNvPr id="4" name="PA_文本框 8"/>
          <p:cNvSpPr txBox="1"/>
          <p:nvPr>
            <p:custDataLst>
              <p:tags r:id="rId3"/>
            </p:custDataLst>
          </p:nvPr>
        </p:nvSpPr>
        <p:spPr>
          <a:xfrm>
            <a:off x="0" y="1290981"/>
            <a:ext cx="12192000" cy="2862322"/>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ctr">
              <a:lnSpc>
                <a:spcPct val="150000"/>
              </a:lnSpc>
            </a:pPr>
            <a:r>
              <a:rPr lang="zh-CN" altLang="en-US" sz="6000" b="1" dirty="0" smtClean="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rPr>
              <a:t>电子</a:t>
            </a:r>
            <a:r>
              <a:rPr lang="zh-CN" altLang="en-US" sz="60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rPr>
              <a:t>系统设计与制</a:t>
            </a:r>
            <a:r>
              <a:rPr lang="en-US" altLang="zh-CN" sz="60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rPr>
              <a:t>(Ⅰ)</a:t>
            </a:r>
            <a:endParaRPr lang="en-US" altLang="zh-CN" sz="60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50000"/>
              </a:lnSpc>
            </a:pPr>
            <a:r>
              <a:rPr lang="en-US" altLang="zh-CN" sz="60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rPr>
              <a:t>(56406006</a:t>
            </a:r>
            <a:r>
              <a:rPr lang="en-US" altLang="zh-CN" sz="6000" b="1" dirty="0" smtClean="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60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PA_文本框 8"/>
          <p:cNvSpPr txBox="1"/>
          <p:nvPr>
            <p:custDataLst>
              <p:tags r:id="rId4"/>
            </p:custDataLst>
          </p:nvPr>
        </p:nvSpPr>
        <p:spPr>
          <a:xfrm>
            <a:off x="2023042" y="4939991"/>
            <a:ext cx="8145917" cy="14140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rtlCol="0">
            <a:spAutoFit/>
          </a:bodyPr>
          <a:lstStyle/>
          <a:p>
            <a:pPr algn="ctr">
              <a:lnSpc>
                <a:spcPct val="125000"/>
              </a:lnSpc>
            </a:pPr>
            <a:r>
              <a:rPr lang="zh-CN" altLang="en-US" sz="36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rPr>
              <a:t>中国民航大学</a:t>
            </a:r>
            <a:endParaRPr lang="en-US" altLang="zh-CN" sz="36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endParaRPr>
          </a:p>
          <a:p>
            <a:pPr algn="ctr">
              <a:lnSpc>
                <a:spcPct val="125000"/>
              </a:lnSpc>
            </a:pPr>
            <a:r>
              <a:rPr lang="zh-CN" altLang="en-US" sz="36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rPr>
              <a:t>工程技术训练中心</a:t>
            </a:r>
            <a:endParaRPr lang="zh-CN" altLang="en-US" sz="3600" b="1" dirty="0">
              <a:ln w="12700">
                <a:solidFill>
                  <a:schemeClr val="accent5"/>
                </a:solidFill>
                <a:prstDash val="solid"/>
              </a:ln>
              <a:solidFill>
                <a:schemeClr val="accent5">
                  <a:lumMod val="20000"/>
                  <a:lumOff val="8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DDE4703-3FBD-4F37-BFAB-C103DF137E37}" type="slidenum">
              <a:rPr lang="zh-CN" altLang="en-US" smtClean="0"/>
            </a:fld>
            <a:endParaRPr lang="zh-CN" altLang="en-US" dirty="0"/>
          </a:p>
        </p:txBody>
      </p:sp>
      <p:sp>
        <p:nvSpPr>
          <p:cNvPr id="5" name="文本框 7"/>
          <p:cNvSpPr txBox="1">
            <a:spLocks noChangeAspect="1"/>
          </p:cNvSpPr>
          <p:nvPr/>
        </p:nvSpPr>
        <p:spPr bwMode="auto">
          <a:xfrm>
            <a:off x="506010" y="1241735"/>
            <a:ext cx="10863943" cy="835998"/>
          </a:xfrm>
          <a:prstGeom prst="rect">
            <a:avLst/>
          </a:prstGeom>
          <a:noFill/>
          <a:ln>
            <a:noFill/>
          </a:ln>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a:lnSpc>
                <a:spcPct val="120000"/>
              </a:lnSpc>
            </a:pPr>
            <a:r>
              <a:rPr lang="zh-CN" altLang="en-US" sz="4400" b="1" noProof="1">
                <a:latin typeface="微软雅黑" panose="020B0503020204020204" pitchFamily="34" charset="-122"/>
                <a:ea typeface="微软雅黑" panose="020B0503020204020204" pitchFamily="34" charset="-122"/>
                <a:sym typeface="Source Han Serif SC" panose="02020400000000000000" pitchFamily="18" charset="-122"/>
              </a:rPr>
              <a:t>主要内容</a:t>
            </a:r>
            <a:endParaRPr lang="zh-CN" altLang="zh-CN" sz="4400" noProof="1">
              <a:latin typeface="微软雅黑" panose="020B0503020204020204" pitchFamily="34" charset="-122"/>
              <a:ea typeface="微软雅黑" panose="020B0503020204020204" pitchFamily="34" charset="-122"/>
              <a:sym typeface="Source Han Serif SC" panose="02020400000000000000" pitchFamily="18" charset="-122"/>
            </a:endParaRPr>
          </a:p>
        </p:txBody>
      </p:sp>
      <p:sp>
        <p:nvSpPr>
          <p:cNvPr id="6" name="矩形 9"/>
          <p:cNvSpPr/>
          <p:nvPr/>
        </p:nvSpPr>
        <p:spPr>
          <a:xfrm>
            <a:off x="0" y="2499604"/>
            <a:ext cx="12191999" cy="3046988"/>
          </a:xfrm>
          <a:prstGeom prst="rect">
            <a:avLst/>
          </a:prstGeom>
        </p:spPr>
        <p:txBody>
          <a:bodyPr wrap="square">
            <a:spAutoFit/>
          </a:bodyPr>
          <a:lstStyle/>
          <a:p>
            <a:pPr>
              <a:lnSpc>
                <a:spcPct val="150000"/>
              </a:lnSpc>
              <a:buClr>
                <a:schemeClr val="accent2"/>
              </a:buClr>
              <a:defRPr/>
            </a:pPr>
            <a:r>
              <a:rPr kumimoji="1" lang="zh-CN" altLang="en-US" sz="3200" dirty="0">
                <a:solidFill>
                  <a:srgbClr val="002448"/>
                </a:solidFill>
                <a:latin typeface="微软雅黑" panose="020B0503020204020204" pitchFamily="34" charset="-122"/>
                <a:ea typeface="微软雅黑" panose="020B0503020204020204" pitchFamily="34" charset="-122"/>
              </a:rPr>
              <a:t>一、地位作用、基本要求，学生应达到的</a:t>
            </a:r>
            <a:r>
              <a:rPr kumimoji="1" lang="zh-CN" altLang="en-US" sz="3200" dirty="0" smtClean="0">
                <a:solidFill>
                  <a:srgbClr val="002448"/>
                </a:solidFill>
                <a:latin typeface="微软雅黑" panose="020B0503020204020204" pitchFamily="34" charset="-122"/>
                <a:ea typeface="微软雅黑" panose="020B0503020204020204" pitchFamily="34" charset="-122"/>
              </a:rPr>
              <a:t>能力</a:t>
            </a:r>
            <a:endParaRPr kumimoji="1" lang="en-US" altLang="zh-CN" sz="3200" dirty="0">
              <a:solidFill>
                <a:srgbClr val="002448"/>
              </a:solidFill>
              <a:latin typeface="微软雅黑" panose="020B0503020204020204" pitchFamily="34" charset="-122"/>
              <a:ea typeface="微软雅黑" panose="020B0503020204020204" pitchFamily="34" charset="-122"/>
            </a:endParaRPr>
          </a:p>
          <a:p>
            <a:pPr>
              <a:lnSpc>
                <a:spcPct val="150000"/>
              </a:lnSpc>
              <a:buClr>
                <a:schemeClr val="accent2"/>
              </a:buClr>
              <a:defRPr/>
            </a:pPr>
            <a:r>
              <a:rPr kumimoji="1" lang="zh-CN" altLang="en-US" sz="3200" dirty="0">
                <a:solidFill>
                  <a:srgbClr val="002448"/>
                </a:solidFill>
                <a:latin typeface="微软雅黑" panose="020B0503020204020204" pitchFamily="34" charset="-122"/>
                <a:ea typeface="微软雅黑" panose="020B0503020204020204" pitchFamily="34" charset="-122"/>
              </a:rPr>
              <a:t>二、实施过程、考核办法与成绩评定</a:t>
            </a:r>
            <a:endParaRPr kumimoji="1" lang="zh-CN" altLang="en-US" sz="3200" dirty="0">
              <a:solidFill>
                <a:srgbClr val="002448"/>
              </a:solidFill>
              <a:latin typeface="微软雅黑" panose="020B0503020204020204" pitchFamily="34" charset="-122"/>
              <a:ea typeface="微软雅黑" panose="020B0503020204020204" pitchFamily="34" charset="-122"/>
            </a:endParaRPr>
          </a:p>
          <a:p>
            <a:pPr>
              <a:lnSpc>
                <a:spcPct val="150000"/>
              </a:lnSpc>
              <a:buClr>
                <a:schemeClr val="accent2"/>
              </a:buClr>
              <a:defRPr/>
            </a:pPr>
            <a:r>
              <a:rPr kumimoji="1" lang="zh-CN" altLang="en-US" sz="3200" dirty="0">
                <a:solidFill>
                  <a:srgbClr val="002448"/>
                </a:solidFill>
                <a:latin typeface="微软雅黑" panose="020B0503020204020204" pitchFamily="34" charset="-122"/>
                <a:ea typeface="微软雅黑" panose="020B0503020204020204" pitchFamily="34" charset="-122"/>
              </a:rPr>
              <a:t>三、典型超外差式调幅</a:t>
            </a:r>
            <a:r>
              <a:rPr kumimoji="1" lang="zh-CN" altLang="en-US" sz="3200" dirty="0" smtClean="0">
                <a:solidFill>
                  <a:srgbClr val="002448"/>
                </a:solidFill>
                <a:latin typeface="微软雅黑" panose="020B0503020204020204" pitchFamily="34" charset="-122"/>
                <a:ea typeface="微软雅黑" panose="020B0503020204020204" pitchFamily="34" charset="-122"/>
              </a:rPr>
              <a:t>收音机原理、焊接、调试、测试</a:t>
            </a:r>
            <a:endParaRPr kumimoji="1" lang="en-US" altLang="zh-CN" sz="3200" dirty="0" smtClean="0">
              <a:solidFill>
                <a:srgbClr val="002448"/>
              </a:solidFill>
              <a:latin typeface="微软雅黑" panose="020B0503020204020204" pitchFamily="34" charset="-122"/>
              <a:ea typeface="微软雅黑" panose="020B0503020204020204" pitchFamily="34" charset="-122"/>
            </a:endParaRPr>
          </a:p>
          <a:p>
            <a:pPr>
              <a:lnSpc>
                <a:spcPct val="150000"/>
              </a:lnSpc>
              <a:buClr>
                <a:schemeClr val="accent2"/>
              </a:buClr>
              <a:defRPr/>
            </a:pPr>
            <a:r>
              <a:rPr kumimoji="1" lang="zh-CN" altLang="en-US" sz="3200" dirty="0">
                <a:solidFill>
                  <a:srgbClr val="002448"/>
                </a:solidFill>
                <a:latin typeface="微软雅黑" panose="020B0503020204020204" pitchFamily="34" charset="-122"/>
                <a:ea typeface="微软雅黑" panose="020B0503020204020204" pitchFamily="34" charset="-122"/>
              </a:rPr>
              <a:t>四、相关知识复习</a:t>
            </a:r>
            <a:endParaRPr kumimoji="1" lang="en-US" altLang="zh-CN" sz="3200" dirty="0">
              <a:solidFill>
                <a:srgbClr val="002448"/>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22" name="文本占位符 5122"/>
          <p:cNvSpPr>
            <a:spLocks noGrp="1" noChangeArrowheads="1"/>
          </p:cNvSpPr>
          <p:nvPr>
            <p:ph idx="4294967295"/>
          </p:nvPr>
        </p:nvSpPr>
        <p:spPr>
          <a:xfrm>
            <a:off x="1543665" y="1319981"/>
            <a:ext cx="8874125" cy="4535488"/>
          </a:xfrm>
        </p:spPr>
        <p:txBody>
          <a:bodyPr/>
          <a:lstStyle/>
          <a:p>
            <a:pPr>
              <a:buClrTx/>
              <a:buFont typeface="Wingdings" panose="05000000000000000000" pitchFamily="2" charset="2"/>
              <a:buChar char="l"/>
            </a:pPr>
            <a:r>
              <a:rPr lang="zh-CN" altLang="en-US" sz="2400" dirty="0" smtClean="0">
                <a:latin typeface="楷体_GB2312" pitchFamily="1" charset="-122"/>
                <a:ea typeface="楷体_GB2312" pitchFamily="1" charset="-122"/>
              </a:rPr>
              <a:t>本课程是电子类专业基础课，是对</a:t>
            </a:r>
            <a:r>
              <a:rPr lang="en-US" altLang="zh-CN" sz="2400" dirty="0" smtClean="0">
                <a:latin typeface="楷体_GB2312" pitchFamily="1" charset="-122"/>
                <a:ea typeface="楷体_GB2312" pitchFamily="1" charset="-122"/>
              </a:rPr>
              <a:t>《</a:t>
            </a:r>
            <a:r>
              <a:rPr lang="zh-CN" altLang="en-US" sz="2400" dirty="0" smtClean="0">
                <a:latin typeface="楷体_GB2312" pitchFamily="1" charset="-122"/>
                <a:ea typeface="楷体_GB2312" pitchFamily="1" charset="-122"/>
              </a:rPr>
              <a:t>通信电子线路</a:t>
            </a:r>
            <a:r>
              <a:rPr lang="en-US" altLang="zh-CN" sz="2400" dirty="0" smtClean="0">
                <a:latin typeface="楷体_GB2312" pitchFamily="1" charset="-122"/>
                <a:ea typeface="楷体_GB2312" pitchFamily="1" charset="-122"/>
              </a:rPr>
              <a:t>》</a:t>
            </a:r>
            <a:r>
              <a:rPr lang="zh-CN" altLang="en-US" sz="2400" dirty="0" smtClean="0">
                <a:latin typeface="楷体_GB2312" pitchFamily="1" charset="-122"/>
                <a:ea typeface="楷体_GB2312" pitchFamily="1" charset="-122"/>
              </a:rPr>
              <a:t>和</a:t>
            </a:r>
            <a:r>
              <a:rPr lang="en-US" altLang="zh-CN" sz="2400" dirty="0" smtClean="0">
                <a:latin typeface="楷体_GB2312" pitchFamily="1" charset="-122"/>
                <a:ea typeface="楷体_GB2312" pitchFamily="1" charset="-122"/>
              </a:rPr>
              <a:t>《</a:t>
            </a:r>
            <a:r>
              <a:rPr lang="zh-CN" altLang="en-US" sz="2400" dirty="0" smtClean="0">
                <a:latin typeface="楷体_GB2312" pitchFamily="1" charset="-122"/>
                <a:ea typeface="楷体_GB2312" pitchFamily="1" charset="-122"/>
              </a:rPr>
              <a:t>高频电子线路</a:t>
            </a:r>
            <a:r>
              <a:rPr lang="en-US" altLang="zh-CN" sz="2400" dirty="0" smtClean="0">
                <a:latin typeface="楷体_GB2312" pitchFamily="1" charset="-122"/>
                <a:ea typeface="楷体_GB2312" pitchFamily="1" charset="-122"/>
              </a:rPr>
              <a:t>》</a:t>
            </a:r>
            <a:r>
              <a:rPr lang="zh-CN" altLang="en-US" sz="2400" dirty="0" smtClean="0">
                <a:latin typeface="楷体_GB2312" pitchFamily="1" charset="-122"/>
                <a:ea typeface="楷体_GB2312" pitchFamily="1" charset="-122"/>
              </a:rPr>
              <a:t>的综合检验。通过对晶体管收音机安装、焊接、调试和检测，了解调幅接收机整机的工作原理、电子产品的装配过程；学习整机的装配工艺、调试方法、培养动手能力。</a:t>
            </a:r>
            <a:endParaRPr lang="zh-CN" altLang="en-US" sz="2400" dirty="0" smtClean="0">
              <a:latin typeface="楷体_GB2312" pitchFamily="1" charset="-122"/>
              <a:ea typeface="楷体_GB2312" pitchFamily="1" charset="-122"/>
            </a:endParaRPr>
          </a:p>
          <a:p>
            <a:pPr>
              <a:buClrTx/>
              <a:buFont typeface="Wingdings" panose="05000000000000000000" pitchFamily="2" charset="2"/>
              <a:buChar char="l"/>
            </a:pPr>
            <a:r>
              <a:rPr lang="zh-CN" altLang="en-US" sz="2400" dirty="0" smtClean="0">
                <a:latin typeface="楷体_GB2312" pitchFamily="1" charset="-122"/>
                <a:ea typeface="楷体_GB2312" pitchFamily="1" charset="-122"/>
              </a:rPr>
              <a:t>各种元器件的识别与测量。认识电路图上的符号，并与实物相对照。</a:t>
            </a:r>
            <a:endParaRPr lang="zh-CN" altLang="en-US" sz="2400" dirty="0" smtClean="0">
              <a:latin typeface="楷体_GB2312" pitchFamily="1" charset="-122"/>
              <a:ea typeface="楷体_GB2312" pitchFamily="1" charset="-122"/>
            </a:endParaRPr>
          </a:p>
          <a:p>
            <a:pPr>
              <a:buClrTx/>
              <a:buFont typeface="Wingdings" panose="05000000000000000000" pitchFamily="2" charset="2"/>
              <a:buChar char="l"/>
            </a:pPr>
            <a:r>
              <a:rPr lang="zh-CN" altLang="en-US" sz="2400" dirty="0" smtClean="0">
                <a:latin typeface="楷体_GB2312" pitchFamily="1" charset="-122"/>
                <a:ea typeface="楷体_GB2312" pitchFamily="1" charset="-122"/>
              </a:rPr>
              <a:t>无线电基本工作原理，分析并读懂收音机电路图。</a:t>
            </a:r>
            <a:endParaRPr lang="zh-CN" altLang="en-US" sz="2400" dirty="0" smtClean="0">
              <a:latin typeface="楷体_GB2312" pitchFamily="1" charset="-122"/>
              <a:ea typeface="楷体_GB2312" pitchFamily="1" charset="-122"/>
            </a:endParaRPr>
          </a:p>
          <a:p>
            <a:pPr>
              <a:buClrTx/>
              <a:buFont typeface="Wingdings" panose="05000000000000000000" pitchFamily="2" charset="2"/>
              <a:buChar char="l"/>
            </a:pPr>
            <a:r>
              <a:rPr lang="zh-CN" altLang="en-US" sz="2400" dirty="0" smtClean="0">
                <a:latin typeface="楷体_GB2312" pitchFamily="1" charset="-122"/>
                <a:ea typeface="楷体_GB2312" pitchFamily="1" charset="-122"/>
              </a:rPr>
              <a:t>无线电装配工艺，焊接工艺流程及焊接技术 。</a:t>
            </a:r>
            <a:endParaRPr lang="zh-CN" altLang="en-US" sz="2400" dirty="0" smtClean="0">
              <a:latin typeface="楷体_GB2312" pitchFamily="1" charset="-122"/>
              <a:ea typeface="楷体_GB2312" pitchFamily="1" charset="-122"/>
            </a:endParaRPr>
          </a:p>
          <a:p>
            <a:pPr>
              <a:buClrTx/>
              <a:buFont typeface="Wingdings" panose="05000000000000000000" pitchFamily="2" charset="2"/>
              <a:buChar char="l"/>
            </a:pPr>
            <a:r>
              <a:rPr lang="zh-CN" altLang="en-US" sz="2400" dirty="0" smtClean="0">
                <a:latin typeface="楷体_GB2312" pitchFamily="1" charset="-122"/>
                <a:ea typeface="楷体_GB2312" pitchFamily="1" charset="-122"/>
              </a:rPr>
              <a:t>主要技术指标的测量方法与技巧。</a:t>
            </a:r>
            <a:endParaRPr lang="zh-CN" altLang="en-US" sz="2400" dirty="0" smtClean="0">
              <a:latin typeface="楷体_GB2312" pitchFamily="1" charset="-122"/>
              <a:ea typeface="楷体_GB2312" pitchFamily="1" charset="-122"/>
            </a:endParaRPr>
          </a:p>
          <a:p>
            <a:pPr>
              <a:buClrTx/>
              <a:buFont typeface="Wingdings" panose="05000000000000000000" pitchFamily="2" charset="2"/>
              <a:buChar char="l"/>
            </a:pPr>
            <a:r>
              <a:rPr lang="zh-CN" altLang="en-US" sz="2400" dirty="0" smtClean="0">
                <a:latin typeface="楷体_GB2312" pitchFamily="1" charset="-122"/>
                <a:ea typeface="楷体_GB2312" pitchFamily="1" charset="-122"/>
              </a:rPr>
              <a:t>整机调试方法及原理。</a:t>
            </a:r>
            <a:endParaRPr lang="zh-CN" altLang="en-US" sz="2400" dirty="0" smtClean="0">
              <a:latin typeface="楷体_GB2312" pitchFamily="1" charset="-122"/>
              <a:ea typeface="楷体_GB2312" pitchFamily="1" charset="-122"/>
            </a:endParaRPr>
          </a:p>
          <a:p>
            <a:pPr>
              <a:buClrTx/>
              <a:buFont typeface="Wingdings" panose="05000000000000000000" pitchFamily="2" charset="2"/>
              <a:buChar char="l"/>
            </a:pPr>
            <a:r>
              <a:rPr lang="zh-CN" altLang="en-US" sz="2400" dirty="0" smtClean="0">
                <a:latin typeface="楷体_GB2312" pitchFamily="1" charset="-122"/>
                <a:ea typeface="楷体_GB2312" pitchFamily="1" charset="-122"/>
              </a:rPr>
              <a:t>常见故障分析及其维修方法与步骤。</a:t>
            </a:r>
            <a:endParaRPr lang="zh-CN" altLang="en-US" sz="2400" dirty="0">
              <a:latin typeface="楷体_GB2312" pitchFamily="1" charset="-122"/>
              <a:ea typeface="楷体_GB2312" pitchFamily="1" charset="-122"/>
            </a:endParaRPr>
          </a:p>
        </p:txBody>
      </p:sp>
      <p:sp>
        <p:nvSpPr>
          <p:cNvPr id="30723" name="Rectangle 2"/>
          <p:cNvSpPr>
            <a:spLocks noChangeArrowheads="1"/>
          </p:cNvSpPr>
          <p:nvPr/>
        </p:nvSpPr>
        <p:spPr bwMode="auto">
          <a:xfrm>
            <a:off x="2777613" y="282678"/>
            <a:ext cx="80041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274" tIns="43636" rIns="87274" bIns="43636" anchor="ctr"/>
          <a:lstStyle>
            <a:lvl1pPr defTabSz="68453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defTabSz="68453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defTabSz="68453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defTabSz="68453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defTabSz="68453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Font typeface="Arial" panose="020B0604020202020204" pitchFamily="34" charset="0"/>
              <a:buNone/>
            </a:pPr>
            <a:r>
              <a:rPr lang="zh-CN" altLang="en-US" sz="3200" dirty="0">
                <a:solidFill>
                  <a:srgbClr val="FF0000"/>
                </a:solidFill>
                <a:latin typeface="Arial" panose="020B0604020202020204" pitchFamily="34" charset="0"/>
                <a:ea typeface="楷体_GB2312" pitchFamily="1" charset="-122"/>
              </a:rPr>
              <a:t>地位作用、基本要求，学生应达到的能力</a:t>
            </a:r>
            <a:endParaRPr lang="zh-CN" altLang="en-US" sz="3200" dirty="0">
              <a:solidFill>
                <a:srgbClr val="FF0000"/>
              </a:solidFill>
              <a:latin typeface="Arial" panose="020B0604020202020204" pitchFamily="34" charset="0"/>
              <a:ea typeface="楷体_GB2312" pitchFamily="1" charset="-122"/>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2286100" y="1295456"/>
          <a:ext cx="7927630" cy="2728868"/>
        </p:xfrm>
        <a:graphic>
          <a:graphicData uri="http://schemas.openxmlformats.org/drawingml/2006/table">
            <a:tbl>
              <a:tblPr firstRow="1" bandRow="1">
                <a:tableStyleId>{5940675A-B579-460E-94D1-54222C63F5DA}</a:tableStyleId>
              </a:tblPr>
              <a:tblGrid>
                <a:gridCol w="632483"/>
                <a:gridCol w="6010495"/>
                <a:gridCol w="1284652"/>
              </a:tblGrid>
              <a:tr h="337858">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序号</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dirty="0">
                          <a:solidFill>
                            <a:schemeClr val="tx1">
                              <a:lumMod val="50000"/>
                            </a:schemeClr>
                          </a:solidFill>
                          <a:latin typeface="+mn-ea"/>
                          <a:cs typeface="宋体" panose="02010600030101010101" pitchFamily="2" charset="-122"/>
                        </a:rPr>
                        <a:t>教  　学  　内 　 容</a:t>
                      </a:r>
                      <a:endParaRPr lang="zh-CN" altLang="en-US" sz="2000" b="1" u="none" dirty="0">
                        <a:solidFill>
                          <a:schemeClr val="tx1">
                            <a:lumMod val="50000"/>
                          </a:schemeClr>
                        </a:solidFill>
                        <a:latin typeface="+mn-ea"/>
                        <a:cs typeface="宋体" panose="02010600030101010101" pitchFamily="2" charset="-122"/>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授课方式</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97554">
                <a:tc>
                  <a:txBody>
                    <a:bodyPr/>
                    <a:lstStyle/>
                    <a:p>
                      <a:pPr marL="0" indent="0" algn="ctr">
                        <a:buNone/>
                      </a:pPr>
                      <a:r>
                        <a:rPr lang="en-US" altLang="zh-CN" sz="2000" b="1" u="none">
                          <a:solidFill>
                            <a:schemeClr val="tx1">
                              <a:lumMod val="50000"/>
                            </a:schemeClr>
                          </a:solidFill>
                          <a:latin typeface="+mn-ea"/>
                          <a:cs typeface="Times New Roman" panose="02020603050405020304" pitchFamily="18" charset="0"/>
                        </a:rPr>
                        <a:t>1</a:t>
                      </a:r>
                      <a:endParaRPr lang="en-US" altLang="zh-CN" sz="2000" b="1" u="none">
                        <a:solidFill>
                          <a:schemeClr val="tx1">
                            <a:lumMod val="50000"/>
                          </a:schemeClr>
                        </a:solidFill>
                        <a:latin typeface="+mn-ea"/>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讲解收音机的工作原理，装配与焊接工艺，明确任务</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讲授</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7858">
                <a:tc>
                  <a:txBody>
                    <a:bodyPr/>
                    <a:lstStyle/>
                    <a:p>
                      <a:pPr marL="0" indent="0" algn="ctr">
                        <a:buNone/>
                      </a:pPr>
                      <a:r>
                        <a:rPr lang="en-US" altLang="zh-CN" sz="2000" b="1" u="none">
                          <a:solidFill>
                            <a:schemeClr val="tx1">
                              <a:lumMod val="50000"/>
                            </a:schemeClr>
                          </a:solidFill>
                          <a:latin typeface="+mn-ea"/>
                          <a:cs typeface="Times New Roman" panose="02020603050405020304" pitchFamily="18" charset="0"/>
                        </a:rPr>
                        <a:t>2</a:t>
                      </a:r>
                      <a:endParaRPr lang="en-US" altLang="zh-CN" sz="2000" b="1" u="none">
                        <a:solidFill>
                          <a:schemeClr val="tx1">
                            <a:lumMod val="50000"/>
                          </a:schemeClr>
                        </a:solidFill>
                        <a:latin typeface="+mn-ea"/>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元件识别与测量，收音机装配与焊接。</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讲授、实作</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7858">
                <a:tc>
                  <a:txBody>
                    <a:bodyPr/>
                    <a:lstStyle/>
                    <a:p>
                      <a:pPr marL="0" indent="0" algn="ctr">
                        <a:buNone/>
                      </a:pPr>
                      <a:r>
                        <a:rPr lang="en-US" altLang="zh-CN" sz="2000" b="1" u="none">
                          <a:solidFill>
                            <a:schemeClr val="tx1">
                              <a:lumMod val="50000"/>
                            </a:schemeClr>
                          </a:solidFill>
                          <a:latin typeface="+mn-ea"/>
                          <a:cs typeface="Times New Roman" panose="02020603050405020304" pitchFamily="18" charset="0"/>
                        </a:rPr>
                        <a:t>3</a:t>
                      </a:r>
                      <a:endParaRPr lang="en-US" altLang="zh-CN" sz="2000" b="1" u="none">
                        <a:solidFill>
                          <a:schemeClr val="tx1">
                            <a:lumMod val="50000"/>
                          </a:schemeClr>
                        </a:solidFill>
                        <a:latin typeface="+mn-ea"/>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收音机装配与焊接。</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讲授、实作</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5228">
                <a:tc>
                  <a:txBody>
                    <a:bodyPr/>
                    <a:lstStyle/>
                    <a:p>
                      <a:pPr marL="0" indent="0" algn="ctr">
                        <a:buNone/>
                      </a:pPr>
                      <a:r>
                        <a:rPr lang="en-US" altLang="zh-CN" sz="2000" b="1" u="none">
                          <a:solidFill>
                            <a:schemeClr val="tx1">
                              <a:lumMod val="50000"/>
                            </a:schemeClr>
                          </a:solidFill>
                          <a:latin typeface="+mn-ea"/>
                          <a:cs typeface="Times New Roman" panose="02020603050405020304" pitchFamily="18" charset="0"/>
                        </a:rPr>
                        <a:t>4</a:t>
                      </a:r>
                      <a:endParaRPr lang="en-US" altLang="zh-CN" sz="2000" b="1" u="none">
                        <a:solidFill>
                          <a:schemeClr val="tx1">
                            <a:lumMod val="50000"/>
                          </a:schemeClr>
                        </a:solidFill>
                        <a:latin typeface="+mn-ea"/>
                        <a:cs typeface="Times New Roman" panose="02020603050405020304" pitchFamily="18"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讲解调试、统调方法。对静态、动态指标进行测量。</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讲授、实作</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7223">
                <a:tc>
                  <a:txBody>
                    <a:bodyPr/>
                    <a:lstStyle/>
                    <a:p>
                      <a:pPr marL="0" indent="0" algn="ctr">
                        <a:buNone/>
                      </a:pPr>
                      <a:r>
                        <a:rPr lang="en-US" altLang="zh-CN" sz="2000" b="1" u="none">
                          <a:solidFill>
                            <a:schemeClr val="tx1">
                              <a:lumMod val="50000"/>
                            </a:schemeClr>
                          </a:solidFill>
                          <a:latin typeface="+mn-ea"/>
                          <a:cs typeface="宋体" panose="02010600030101010101" pitchFamily="2" charset="-122"/>
                        </a:rPr>
                        <a:t>5</a:t>
                      </a:r>
                      <a:endParaRPr lang="en-US" altLang="zh-CN" sz="2000" b="1" u="none">
                        <a:solidFill>
                          <a:schemeClr val="tx1">
                            <a:lumMod val="50000"/>
                          </a:schemeClr>
                        </a:solidFill>
                        <a:latin typeface="+mn-ea"/>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dirty="0">
                          <a:solidFill>
                            <a:schemeClr val="tx1">
                              <a:lumMod val="50000"/>
                            </a:schemeClr>
                          </a:solidFill>
                          <a:latin typeface="+mn-ea"/>
                          <a:cs typeface="宋体" panose="02010600030101010101" pitchFamily="2" charset="-122"/>
                        </a:rPr>
                        <a:t>收音机整机调试。</a:t>
                      </a:r>
                      <a:endParaRPr lang="zh-CN" altLang="en-US" sz="2000" b="1" u="none" dirty="0">
                        <a:solidFill>
                          <a:schemeClr val="tx1">
                            <a:lumMod val="50000"/>
                          </a:schemeClr>
                        </a:solidFill>
                        <a:latin typeface="+mn-ea"/>
                        <a:cs typeface="宋体" panose="02010600030101010101" pitchFamily="2" charset="-122"/>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讲授、实作</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7858">
                <a:tc>
                  <a:txBody>
                    <a:bodyPr/>
                    <a:lstStyle/>
                    <a:p>
                      <a:pPr marL="0" indent="0" algn="ctr">
                        <a:buNone/>
                      </a:pPr>
                      <a:r>
                        <a:rPr lang="en-US" altLang="zh-CN" sz="2000" b="1" u="none">
                          <a:solidFill>
                            <a:schemeClr val="tx1">
                              <a:lumMod val="50000"/>
                            </a:schemeClr>
                          </a:solidFill>
                          <a:latin typeface="+mn-ea"/>
                          <a:cs typeface="宋体" panose="02010600030101010101" pitchFamily="2" charset="-122"/>
                        </a:rPr>
                        <a:t>6</a:t>
                      </a:r>
                      <a:endParaRPr lang="en-US" altLang="zh-CN" sz="2000" b="1" u="none">
                        <a:solidFill>
                          <a:schemeClr val="tx1">
                            <a:lumMod val="50000"/>
                          </a:schemeClr>
                        </a:solidFill>
                        <a:latin typeface="+mn-ea"/>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dirty="0">
                          <a:solidFill>
                            <a:schemeClr val="tx1">
                              <a:lumMod val="50000"/>
                            </a:schemeClr>
                          </a:solidFill>
                          <a:latin typeface="+mn-ea"/>
                          <a:cs typeface="宋体" panose="02010600030101010101" pitchFamily="2" charset="-122"/>
                        </a:rPr>
                        <a:t>整机测试与</a:t>
                      </a:r>
                      <a:r>
                        <a:rPr lang="zh-CN" altLang="en-US" sz="2000" b="1" u="none" dirty="0">
                          <a:solidFill>
                            <a:schemeClr val="tx1">
                              <a:lumMod val="50000"/>
                            </a:schemeClr>
                          </a:solidFill>
                          <a:latin typeface="+mn-ea"/>
                          <a:cs typeface="宋体" panose="02010600030101010101" pitchFamily="2" charset="-122"/>
                          <a:sym typeface="+mn-ea"/>
                        </a:rPr>
                        <a:t>撰写报告</a:t>
                      </a:r>
                      <a:endParaRPr lang="zh-CN" altLang="en-US" sz="2000" b="1" u="none" dirty="0">
                        <a:solidFill>
                          <a:schemeClr val="tx1">
                            <a:lumMod val="50000"/>
                          </a:schemeClr>
                        </a:solidFill>
                        <a:latin typeface="+mn-ea"/>
                        <a:cs typeface="宋体" panose="02010600030101010101" pitchFamily="2" charset="-122"/>
                        <a:sym typeface="+mn-ea"/>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lgn="ctr">
                      <a:solidFill>
                        <a:srgbClr val="080000"/>
                      </a:solidFill>
                      <a:prstDash val="solid"/>
                      <a:round/>
                      <a:headEnd type="none" w="med" len="med"/>
                      <a:tailEnd type="none" w="med" len="med"/>
                    </a:lnB>
                    <a:lnTlToBr>
                      <a:noFill/>
                    </a:lnTlToBr>
                    <a:lnBlToTr>
                      <a:noFill/>
                    </a:lnBlToTr>
                    <a:noFill/>
                  </a:tcPr>
                </a:tc>
                <a:tc>
                  <a:txBody>
                    <a:bodyPr/>
                    <a:lstStyle/>
                    <a:p>
                      <a:pPr marL="0" indent="0" algn="ctr">
                        <a:buNone/>
                      </a:pPr>
                      <a:r>
                        <a:rPr lang="zh-CN" altLang="en-US" sz="2000" b="1" u="none">
                          <a:solidFill>
                            <a:schemeClr val="tx1">
                              <a:lumMod val="50000"/>
                            </a:schemeClr>
                          </a:solidFill>
                          <a:latin typeface="+mn-ea"/>
                          <a:cs typeface="宋体" panose="02010600030101010101" pitchFamily="2" charset="-122"/>
                        </a:rPr>
                        <a:t>讲授、实作</a:t>
                      </a:r>
                      <a:endParaRPr lang="zh-CN" altLang="en-US" sz="2000" b="1" u="none">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37858">
                <a:tc>
                  <a:txBody>
                    <a:bodyPr/>
                    <a:lstStyle/>
                    <a:p>
                      <a:pPr marL="0" indent="0" algn="ctr">
                        <a:buNone/>
                      </a:pPr>
                      <a:r>
                        <a:rPr lang="en-US" altLang="zh-CN" sz="2000" b="1" u="none">
                          <a:solidFill>
                            <a:schemeClr val="tx1">
                              <a:lumMod val="50000"/>
                            </a:schemeClr>
                          </a:solidFill>
                          <a:latin typeface="+mn-ea"/>
                          <a:cs typeface="宋体" panose="02010600030101010101" pitchFamily="2" charset="-122"/>
                        </a:rPr>
                        <a:t>7</a:t>
                      </a:r>
                      <a:endParaRPr lang="en-US" altLang="zh-CN" sz="2000" b="1" u="none">
                        <a:solidFill>
                          <a:schemeClr val="tx1">
                            <a:lumMod val="50000"/>
                          </a:schemeClr>
                        </a:solidFill>
                        <a:latin typeface="+mn-ea"/>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a:solidFill>
                            <a:schemeClr val="tx1">
                              <a:lumMod val="50000"/>
                            </a:schemeClr>
                          </a:solidFill>
                          <a:latin typeface="+mn-ea"/>
                          <a:cs typeface="宋体" panose="02010600030101010101" pitchFamily="2" charset="-122"/>
                          <a:sym typeface="+mn-ea"/>
                        </a:rPr>
                        <a:t>总结</a:t>
                      </a:r>
                      <a:endParaRPr lang="zh-CN" altLang="en-US" sz="2000" b="1" u="none">
                        <a:solidFill>
                          <a:schemeClr val="tx1">
                            <a:lumMod val="50000"/>
                          </a:schemeClr>
                        </a:solidFill>
                        <a:latin typeface="+mn-ea"/>
                        <a:cs typeface="宋体" panose="02010600030101010101" pitchFamily="2" charset="-122"/>
                        <a:sym typeface="+mn-ea"/>
                      </a:endParaRPr>
                    </a:p>
                  </a:txBody>
                  <a:tcPr marL="0" marR="0" marT="0" marB="1" anchor="ctr">
                    <a:lnL w="12700" cap="flat" cmpd="sng" algn="ctr">
                      <a:solidFill>
                        <a:srgbClr val="080000"/>
                      </a:solidFill>
                      <a:prstDash val="solid"/>
                      <a:round/>
                      <a:headEnd type="none" w="med" len="med"/>
                      <a:tailEnd type="none" w="med" len="med"/>
                    </a:lnL>
                    <a:lnR w="9525" cap="flat" cmpd="sng">
                      <a:solidFill>
                        <a:srgbClr val="000000"/>
                      </a:solidFill>
                      <a:prstDash val="solid"/>
                      <a:headEnd type="none" w="med" len="med"/>
                      <a:tailEnd type="none" w="med" len="med"/>
                    </a:lnR>
                    <a:lnT w="12700" cap="flat" cmpd="sng" algn="ctr">
                      <a:solidFill>
                        <a:srgbClr val="080000"/>
                      </a:solidFill>
                      <a:prstDash val="solid"/>
                      <a:roun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2000" b="1" u="none" dirty="0">
                          <a:solidFill>
                            <a:schemeClr val="tx1">
                              <a:lumMod val="50000"/>
                            </a:schemeClr>
                          </a:solidFill>
                          <a:latin typeface="+mn-ea"/>
                          <a:cs typeface="宋体" panose="02010600030101010101" pitchFamily="2" charset="-122"/>
                        </a:rPr>
                        <a:t>答疑</a:t>
                      </a:r>
                      <a:endParaRPr lang="zh-CN" altLang="en-US" sz="2000" b="1" u="none" dirty="0">
                        <a:solidFill>
                          <a:schemeClr val="tx1">
                            <a:lumMod val="50000"/>
                          </a:schemeClr>
                        </a:solidFill>
                        <a:latin typeface="+mn-ea"/>
                        <a:cs typeface="宋体" panose="02010600030101010101" pitchFamily="2" charset="-122"/>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7170" name="Rectangle 2"/>
          <p:cNvSpPr/>
          <p:nvPr/>
        </p:nvSpPr>
        <p:spPr>
          <a:xfrm>
            <a:off x="3072146" y="341672"/>
            <a:ext cx="8004175" cy="504825"/>
          </a:xfrm>
          <a:prstGeom prst="rect">
            <a:avLst/>
          </a:prstGeom>
          <a:noFill/>
          <a:ln w="9525">
            <a:noFill/>
          </a:ln>
        </p:spPr>
        <p:txBody>
          <a:bodyPr lIns="87274" tIns="43636" rIns="87274" bIns="43636" anchor="ctr"/>
          <a:lstStyle>
            <a:lvl1pPr defTabSz="684530" eaLnBrk="0" hangingPunct="0">
              <a:defRPr>
                <a:solidFill>
                  <a:schemeClr val="tx1"/>
                </a:solidFill>
                <a:latin typeface="宋体" panose="02010600030101010101" pitchFamily="2" charset="-122"/>
                <a:ea typeface="宋体" panose="02010600030101010101" pitchFamily="2" charset="-122"/>
              </a:defRPr>
            </a:lvl1pPr>
            <a:lvl2pPr defTabSz="684530" eaLnBrk="0" hangingPunct="0">
              <a:defRPr>
                <a:solidFill>
                  <a:schemeClr val="tx1"/>
                </a:solidFill>
                <a:latin typeface="宋体" panose="02010600030101010101" pitchFamily="2" charset="-122"/>
                <a:ea typeface="宋体" panose="02010600030101010101" pitchFamily="2" charset="-122"/>
              </a:defRPr>
            </a:lvl2pPr>
            <a:lvl3pPr defTabSz="684530" eaLnBrk="0" hangingPunct="0">
              <a:defRPr>
                <a:solidFill>
                  <a:schemeClr val="tx1"/>
                </a:solidFill>
                <a:latin typeface="宋体" panose="02010600030101010101" pitchFamily="2" charset="-122"/>
                <a:ea typeface="宋体" panose="02010600030101010101" pitchFamily="2" charset="-122"/>
              </a:defRPr>
            </a:lvl3pPr>
            <a:lvl4pPr defTabSz="684530" eaLnBrk="0" hangingPunct="0">
              <a:defRPr>
                <a:solidFill>
                  <a:schemeClr val="tx1"/>
                </a:solidFill>
                <a:latin typeface="宋体" panose="02010600030101010101" pitchFamily="2" charset="-122"/>
                <a:ea typeface="宋体" panose="02010600030101010101" pitchFamily="2" charset="-122"/>
              </a:defRPr>
            </a:lvl4pPr>
            <a:lvl5pPr defTabSz="684530" eaLnBrk="0" hangingPunct="0">
              <a:defRPr>
                <a:solidFill>
                  <a:schemeClr val="tx1"/>
                </a:solidFill>
                <a:latin typeface="宋体" panose="02010600030101010101" pitchFamily="2" charset="-122"/>
                <a:ea typeface="宋体" panose="02010600030101010101" pitchFamily="2" charset="-122"/>
              </a:defRPr>
            </a:lvl5pPr>
            <a:lvl6pPr defTabSz="68453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defTabSz="68453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defTabSz="68453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defTabSz="68453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eaLnBrk="1" hangingPunct="1">
              <a:buFont typeface="Arial" panose="020B0604020202020204" pitchFamily="34" charset="0"/>
              <a:buNone/>
              <a:defRPr/>
            </a:pPr>
            <a:r>
              <a:rPr lang="zh-CN" altLang="en-US" sz="3200" dirty="0">
                <a:solidFill>
                  <a:srgbClr val="FF0000"/>
                </a:solidFill>
                <a:effectLst>
                  <a:outerShdw blurRad="38100" dist="38100" dir="2700000" algn="tl">
                    <a:srgbClr val="C0C0C0"/>
                  </a:outerShdw>
                </a:effectLst>
                <a:latin typeface="Arial" panose="020B0604020202020204" pitchFamily="34" charset="0"/>
                <a:ea typeface="楷体_GB2312" pitchFamily="1" charset="-122"/>
              </a:rPr>
              <a:t>实施</a:t>
            </a:r>
            <a:r>
              <a:rPr lang="zh-CN" altLang="en-US" sz="3200" dirty="0">
                <a:solidFill>
                  <a:srgbClr val="FF0000"/>
                </a:solidFill>
                <a:latin typeface="Arial" panose="020B0604020202020204" pitchFamily="34" charset="0"/>
                <a:ea typeface="楷体_GB2312" pitchFamily="1" charset="-122"/>
              </a:rPr>
              <a:t>过程</a:t>
            </a:r>
            <a:r>
              <a:rPr lang="zh-CN" altLang="en-US" sz="3200" dirty="0">
                <a:solidFill>
                  <a:srgbClr val="FF0000"/>
                </a:solidFill>
                <a:effectLst>
                  <a:outerShdw blurRad="38100" dist="38100" dir="2700000" algn="tl">
                    <a:srgbClr val="C0C0C0"/>
                  </a:outerShdw>
                </a:effectLst>
                <a:latin typeface="Arial" panose="020B0604020202020204" pitchFamily="34" charset="0"/>
                <a:ea typeface="楷体_GB2312" pitchFamily="1" charset="-122"/>
              </a:rPr>
              <a:t>、考核办法与成绩评定</a:t>
            </a:r>
            <a:endParaRPr lang="zh-CN" altLang="en-US" sz="3200" dirty="0">
              <a:solidFill>
                <a:srgbClr val="FF0000"/>
              </a:solidFill>
              <a:effectLst>
                <a:outerShdw blurRad="38100" dist="38100" dir="2700000" algn="tl">
                  <a:srgbClr val="C0C0C0"/>
                </a:outerShdw>
              </a:effectLst>
              <a:latin typeface="Arial" panose="020B0604020202020204" pitchFamily="34" charset="0"/>
              <a:ea typeface="楷体_GB2312" pitchFamily="1" charset="-122"/>
            </a:endParaRPr>
          </a:p>
        </p:txBody>
      </p:sp>
      <p:sp>
        <p:nvSpPr>
          <p:cNvPr id="31794" name="文本占位符 8194"/>
          <p:cNvSpPr>
            <a:spLocks noGrp="1" noChangeArrowheads="1"/>
          </p:cNvSpPr>
          <p:nvPr>
            <p:ph idx="4294967295"/>
          </p:nvPr>
        </p:nvSpPr>
        <p:spPr>
          <a:xfrm>
            <a:off x="2247107" y="4239599"/>
            <a:ext cx="8691562" cy="2120900"/>
          </a:xfrm>
        </p:spPr>
        <p:txBody>
          <a:bodyPr/>
          <a:lstStyle/>
          <a:p>
            <a:pPr marL="0" indent="0">
              <a:buNone/>
            </a:pPr>
            <a:r>
              <a:rPr lang="zh-CN" altLang="en-US" sz="2400" dirty="0">
                <a:latin typeface="楷体_GB2312" pitchFamily="1" charset="-122"/>
                <a:ea typeface="楷体_GB2312" pitchFamily="1" charset="-122"/>
              </a:rPr>
              <a:t>学生的实验成绩100 分制，由三部分组成：</a:t>
            </a:r>
            <a:endParaRPr lang="zh-CN" altLang="en-US" sz="2400" dirty="0">
              <a:latin typeface="楷体_GB2312" pitchFamily="1" charset="-122"/>
              <a:ea typeface="楷体_GB2312" pitchFamily="1" charset="-122"/>
            </a:endParaRPr>
          </a:p>
          <a:p>
            <a:pPr marL="0" indent="0">
              <a:buFont typeface="Wingdings" panose="05000000000000000000" pitchFamily="2" charset="2"/>
              <a:buChar char="l"/>
            </a:pPr>
            <a:r>
              <a:rPr lang="zh-CN" altLang="en-US" sz="2400" dirty="0">
                <a:latin typeface="楷体_GB2312" pitchFamily="1" charset="-122"/>
                <a:ea typeface="楷体_GB2312" pitchFamily="1" charset="-122"/>
              </a:rPr>
              <a:t>调幅接收机整机的质量（保证收到6个电台以上），占60%；</a:t>
            </a:r>
            <a:endParaRPr lang="zh-CN" altLang="en-US" sz="2400" dirty="0">
              <a:latin typeface="楷体_GB2312" pitchFamily="1" charset="-122"/>
              <a:ea typeface="楷体_GB2312" pitchFamily="1" charset="-122"/>
            </a:endParaRPr>
          </a:p>
          <a:p>
            <a:pPr marL="0" indent="0">
              <a:buFont typeface="Wingdings" panose="05000000000000000000" pitchFamily="2" charset="2"/>
              <a:buChar char="l"/>
            </a:pPr>
            <a:r>
              <a:rPr lang="zh-CN" altLang="en-US" sz="2400" dirty="0">
                <a:latin typeface="楷体_GB2312" pitchFamily="1" charset="-122"/>
                <a:ea typeface="楷体_GB2312" pitchFamily="1" charset="-122"/>
              </a:rPr>
              <a:t>出勤，占10%。</a:t>
            </a:r>
            <a:endParaRPr lang="zh-CN" altLang="en-US" sz="2400" dirty="0">
              <a:latin typeface="楷体_GB2312" pitchFamily="1" charset="-122"/>
              <a:ea typeface="楷体_GB2312" pitchFamily="1" charset="-122"/>
            </a:endParaRPr>
          </a:p>
          <a:p>
            <a:pPr marL="0" indent="0">
              <a:buFont typeface="Wingdings" panose="05000000000000000000" pitchFamily="2" charset="2"/>
              <a:buChar char="l"/>
            </a:pPr>
            <a:r>
              <a:rPr lang="zh-CN" altLang="en-US" sz="2400" dirty="0">
                <a:latin typeface="楷体_GB2312" pitchFamily="1" charset="-122"/>
                <a:ea typeface="楷体_GB2312" pitchFamily="1" charset="-122"/>
              </a:rPr>
              <a:t>收音机的装配、工艺与焊接。占</a:t>
            </a:r>
            <a:r>
              <a:rPr lang="en-US" altLang="zh-CN" sz="2400" dirty="0">
                <a:latin typeface="楷体_GB2312" pitchFamily="1" charset="-122"/>
                <a:ea typeface="楷体_GB2312" pitchFamily="1" charset="-122"/>
              </a:rPr>
              <a:t>2</a:t>
            </a:r>
            <a:r>
              <a:rPr lang="zh-CN" altLang="en-US" sz="2400" dirty="0">
                <a:latin typeface="楷体_GB2312" pitchFamily="1" charset="-122"/>
                <a:ea typeface="楷体_GB2312" pitchFamily="1" charset="-122"/>
              </a:rPr>
              <a:t>0%；</a:t>
            </a:r>
            <a:endParaRPr lang="zh-CN" altLang="en-US" sz="2400" dirty="0">
              <a:latin typeface="楷体_GB2312" pitchFamily="1" charset="-122"/>
              <a:ea typeface="楷体_GB2312" pitchFamily="1" charset="-122"/>
            </a:endParaRPr>
          </a:p>
          <a:p>
            <a:pPr marL="0" indent="0">
              <a:buFont typeface="Wingdings" panose="05000000000000000000" pitchFamily="2" charset="2"/>
              <a:buChar char="l"/>
            </a:pPr>
            <a:r>
              <a:rPr lang="zh-CN" altLang="en-US" sz="2400" dirty="0">
                <a:latin typeface="楷体_GB2312" pitchFamily="1" charset="-122"/>
                <a:ea typeface="楷体_GB2312" pitchFamily="1" charset="-122"/>
              </a:rPr>
              <a:t>收音机的总结。占10%。</a:t>
            </a:r>
            <a:endParaRPr lang="zh-CN" altLang="en-US" sz="2400" dirty="0">
              <a:latin typeface="楷体_GB2312" pitchFamily="1" charset="-122"/>
              <a:ea typeface="楷体_GB2312" pitchFamily="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3161072" y="275899"/>
            <a:ext cx="557980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274" tIns="43636" rIns="87274" bIns="43636" anchor="ctr"/>
          <a:lstStyle>
            <a:lvl1pPr defTabSz="68453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defTabSz="68453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defTabSz="68453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defTabSz="68453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defTabSz="68453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defTabSz="68453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Font typeface="Arial" panose="020B0604020202020204" pitchFamily="34" charset="0"/>
              <a:buNone/>
            </a:pPr>
            <a:r>
              <a:rPr lang="zh-CN" altLang="en-US" sz="3200" dirty="0">
                <a:solidFill>
                  <a:srgbClr val="FF0000"/>
                </a:solidFill>
                <a:latin typeface="Arial" panose="020B0604020202020204" pitchFamily="34" charset="0"/>
                <a:ea typeface="楷体_GB2312" pitchFamily="1" charset="-122"/>
              </a:rPr>
              <a:t>无线电广播和接收概述</a:t>
            </a:r>
            <a:endParaRPr lang="zh-CN" altLang="en-US" sz="3200" dirty="0">
              <a:solidFill>
                <a:srgbClr val="FF0000"/>
              </a:solidFill>
              <a:latin typeface="Arial" panose="020B0604020202020204" pitchFamily="34" charset="0"/>
              <a:ea typeface="楷体_GB2312" pitchFamily="1" charset="-122"/>
            </a:endParaRPr>
          </a:p>
        </p:txBody>
      </p:sp>
      <p:pic>
        <p:nvPicPr>
          <p:cNvPr id="32771"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0" y="1752601"/>
            <a:ext cx="8675688"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4114800"/>
            <a:ext cx="8686800"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文本框 87045"/>
          <p:cNvSpPr txBox="1">
            <a:spLocks noChangeArrowheads="1"/>
          </p:cNvSpPr>
          <p:nvPr/>
        </p:nvSpPr>
        <p:spPr bwMode="auto">
          <a:xfrm>
            <a:off x="1752600" y="1143000"/>
            <a:ext cx="8726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800" b="1">
                <a:latin typeface="Arial" panose="020B0604020202020204" pitchFamily="34" charset="0"/>
              </a:rPr>
              <a:t>无线电广播是一种利用电磁波传播声音信号的手段。</a:t>
            </a:r>
            <a:endParaRPr lang="zh-CN" altLang="en-US" sz="2800" b="1">
              <a:latin typeface="Arial" panose="020B0604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9217"/>
          <p:cNvSpPr>
            <a:spLocks noGrp="1"/>
          </p:cNvSpPr>
          <p:nvPr>
            <p:ph type="title" idx="4294967295"/>
          </p:nvPr>
        </p:nvSpPr>
        <p:spPr>
          <a:xfrm>
            <a:off x="3352800" y="171450"/>
            <a:ext cx="7772400" cy="647700"/>
          </a:xfrm>
        </p:spPr>
        <p:txBody>
          <a:bodyPr anchor="b"/>
          <a:lstStyle/>
          <a:p>
            <a:pPr>
              <a:defRPr/>
            </a:pPr>
            <a:r>
              <a:rPr lang="zh-CN" altLang="en-US" sz="3200" noProof="1">
                <a:solidFill>
                  <a:srgbClr val="FF0000"/>
                </a:solidFill>
              </a:rPr>
              <a:t>超外差式调幅收音机的主要特点</a:t>
            </a:r>
            <a:endParaRPr lang="zh-CN" altLang="en-US" sz="3200" noProof="1">
              <a:solidFill>
                <a:srgbClr val="FF0000"/>
              </a:solidFill>
            </a:endParaRPr>
          </a:p>
        </p:txBody>
      </p:sp>
      <p:sp>
        <p:nvSpPr>
          <p:cNvPr id="9219" name="内容占位符 9218"/>
          <p:cNvSpPr>
            <a:spLocks noGrp="1" noChangeArrowheads="1"/>
          </p:cNvSpPr>
          <p:nvPr>
            <p:ph idx="4294967295"/>
          </p:nvPr>
        </p:nvSpPr>
        <p:spPr>
          <a:xfrm>
            <a:off x="1984375" y="1207295"/>
            <a:ext cx="8928100" cy="1530350"/>
          </a:xfrm>
        </p:spPr>
        <p:txBody>
          <a:bodyPr/>
          <a:lstStyle/>
          <a:p>
            <a:pPr>
              <a:buClrTx/>
              <a:buFont typeface="Wingdings" panose="05000000000000000000" pitchFamily="2" charset="2"/>
              <a:buChar char="l"/>
            </a:pPr>
            <a:r>
              <a:rPr lang="zh-CN" altLang="en-US" sz="2400" dirty="0"/>
              <a:t>超外差式是与直放式相对而言的一种接收方式，超外差收音机先将高频信号通过变频变成中频信号，此信号的频率高于音频信号频率，其频率固定为</a:t>
            </a:r>
            <a:r>
              <a:rPr lang="en-US" altLang="zh-CN" sz="2400" dirty="0"/>
              <a:t>465kHz</a:t>
            </a:r>
            <a:r>
              <a:rPr lang="zh-CN" altLang="en-US" sz="2400" dirty="0"/>
              <a:t>。由于</a:t>
            </a:r>
            <a:r>
              <a:rPr lang="en-US" altLang="zh-CN" sz="2400" dirty="0"/>
              <a:t>465kHz</a:t>
            </a:r>
            <a:r>
              <a:rPr lang="zh-CN" altLang="en-US" sz="2400" dirty="0"/>
              <a:t>取自于本地振荡信号频率与外部高频信号频率之差，故成为超外差。即：</a:t>
            </a:r>
            <a:endParaRPr lang="zh-CN" altLang="en-US" sz="2400" dirty="0"/>
          </a:p>
        </p:txBody>
      </p:sp>
      <p:sp>
        <p:nvSpPr>
          <p:cNvPr id="33796" name="文本框 9220"/>
          <p:cNvSpPr txBox="1">
            <a:spLocks noChangeArrowheads="1"/>
          </p:cNvSpPr>
          <p:nvPr/>
        </p:nvSpPr>
        <p:spPr bwMode="auto">
          <a:xfrm>
            <a:off x="3352800" y="3276601"/>
            <a:ext cx="958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a:latin typeface="Arial" panose="020B0604020202020204" pitchFamily="34" charset="0"/>
              </a:rPr>
              <a:t>465kHz</a:t>
            </a:r>
            <a:endParaRPr lang="en-US" altLang="zh-CN">
              <a:latin typeface="Arial" panose="020B0604020202020204" pitchFamily="34" charset="0"/>
            </a:endParaRPr>
          </a:p>
        </p:txBody>
      </p:sp>
      <p:sp>
        <p:nvSpPr>
          <p:cNvPr id="33797" name="文本框 9221"/>
          <p:cNvSpPr txBox="1">
            <a:spLocks noChangeArrowheads="1"/>
          </p:cNvSpPr>
          <p:nvPr/>
        </p:nvSpPr>
        <p:spPr bwMode="auto">
          <a:xfrm>
            <a:off x="6781800" y="3276601"/>
            <a:ext cx="1600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a:latin typeface="Arial" panose="020B0604020202020204" pitchFamily="34" charset="0"/>
              </a:rPr>
              <a:t>535~1605kHz</a:t>
            </a:r>
            <a:endParaRPr lang="en-US" altLang="zh-CN">
              <a:latin typeface="Arial" panose="020B0604020202020204" pitchFamily="34" charset="0"/>
            </a:endParaRPr>
          </a:p>
        </p:txBody>
      </p:sp>
      <p:sp>
        <p:nvSpPr>
          <p:cNvPr id="33798" name="文本框 9222"/>
          <p:cNvSpPr txBox="1">
            <a:spLocks noChangeArrowheads="1"/>
          </p:cNvSpPr>
          <p:nvPr/>
        </p:nvSpPr>
        <p:spPr bwMode="auto">
          <a:xfrm>
            <a:off x="4648200" y="3276601"/>
            <a:ext cx="172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a:latin typeface="Arial" panose="020B0604020202020204" pitchFamily="34" charset="0"/>
              </a:rPr>
              <a:t>1000~2070kHz</a:t>
            </a:r>
            <a:endParaRPr lang="en-US" altLang="zh-CN">
              <a:latin typeface="Arial" panose="020B0604020202020204" pitchFamily="34" charset="0"/>
            </a:endParaRPr>
          </a:p>
        </p:txBody>
      </p:sp>
      <p:pic>
        <p:nvPicPr>
          <p:cNvPr id="33799"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76600" y="2667001"/>
            <a:ext cx="63436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内容占位符 9218"/>
          <p:cNvSpPr>
            <a:spLocks noGrp="1" noChangeArrowheads="1"/>
          </p:cNvSpPr>
          <p:nvPr/>
        </p:nvSpPr>
        <p:spPr bwMode="auto">
          <a:xfrm>
            <a:off x="1828800" y="3962401"/>
            <a:ext cx="8631238"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buClrTx/>
              <a:buFont typeface="Wingdings" panose="05000000000000000000" pitchFamily="2" charset="2"/>
              <a:buChar char="l"/>
            </a:pPr>
            <a:r>
              <a:rPr lang="zh-CN" altLang="en-US" sz="2400" dirty="0"/>
              <a:t>超外差式的优点：中放可采用窄带放大器。可以较容易地实现很高的增益，工作也比较稳定。能获得较高的灵敏度和稳定性。中放级采用窄带放大器，经多个谐振回路选择。有较强的选择性和较高的信噪比。由于不论哪一个电台的广播信号，在接收中都变成固定频率的中频信号在放大，因此，对不同电台具有大致相同的灵敏度。</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diamond(in)">
                                      <p:cBhvr>
                                        <p:cTn id="7" dur="2000"/>
                                        <p:tgtEl>
                                          <p:spTgt spid="9218"/>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219">
                                            <p:txEl>
                                              <p:pRg st="0" end="0"/>
                                            </p:txEl>
                                          </p:spTgt>
                                        </p:tgtEl>
                                        <p:attrNameLst>
                                          <p:attrName>style.visibility</p:attrName>
                                        </p:attrNameLst>
                                      </p:cBhvr>
                                      <p:to>
                                        <p:strVal val="visible"/>
                                      </p:to>
                                    </p:set>
                                    <p:animEffect transition="in" filter="dissolve">
                                      <p:cBhvr>
                                        <p:cTn id="12" dur="500"/>
                                        <p:tgtEl>
                                          <p:spTgt spid="92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p:bldP spid="921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标题 11266"/>
          <p:cNvSpPr>
            <a:spLocks noGrp="1"/>
          </p:cNvSpPr>
          <p:nvPr>
            <p:ph type="title" idx="4294967295"/>
          </p:nvPr>
        </p:nvSpPr>
        <p:spPr>
          <a:xfrm>
            <a:off x="3121946" y="282677"/>
            <a:ext cx="7880350" cy="576263"/>
          </a:xfrm>
        </p:spPr>
        <p:txBody>
          <a:bodyPr anchor="b"/>
          <a:lstStyle/>
          <a:p>
            <a:pPr>
              <a:defRPr/>
            </a:pPr>
            <a:r>
              <a:rPr lang="zh-CN" altLang="en-US" sz="3200" noProof="1">
                <a:solidFill>
                  <a:srgbClr val="FF0000"/>
                </a:solidFill>
              </a:rPr>
              <a:t>典型超外差式调幅收音机的框图</a:t>
            </a:r>
            <a:r>
              <a:rPr lang="en-US" altLang="zh-CN" sz="3200" noProof="1">
                <a:solidFill>
                  <a:srgbClr val="FF0000"/>
                </a:solidFill>
              </a:rPr>
              <a:t>/</a:t>
            </a:r>
            <a:r>
              <a:rPr lang="zh-CN" altLang="en-US" sz="3200" noProof="1">
                <a:solidFill>
                  <a:srgbClr val="FF0000"/>
                </a:solidFill>
              </a:rPr>
              <a:t>原理图</a:t>
            </a:r>
            <a:endParaRPr lang="zh-CN" altLang="en-US" sz="3200" noProof="1">
              <a:solidFill>
                <a:srgbClr val="FF0000"/>
              </a:solidFill>
            </a:endParaRPr>
          </a:p>
        </p:txBody>
      </p:sp>
      <p:graphicFrame>
        <p:nvGraphicFramePr>
          <p:cNvPr id="34819" name="对象 2"/>
          <p:cNvGraphicFramePr/>
          <p:nvPr/>
        </p:nvGraphicFramePr>
        <p:xfrm>
          <a:off x="1508126" y="990600"/>
          <a:ext cx="9128125" cy="3352800"/>
        </p:xfrm>
        <a:graphic>
          <a:graphicData uri="http://schemas.openxmlformats.org/presentationml/2006/ole">
            <mc:AlternateContent xmlns:mc="http://schemas.openxmlformats.org/markup-compatibility/2006">
              <mc:Choice xmlns:v="urn:schemas-microsoft-com:vml" Requires="v">
                <p:oleObj spid="_x0000_s1041" name="" r:id="rId1" imgW="9121140" imgH="3482340" progId="Paint.Picture">
                  <p:embed/>
                </p:oleObj>
              </mc:Choice>
              <mc:Fallback>
                <p:oleObj name="" r:id="rId1" imgW="9121140" imgH="3482340" progId="Paint.Picture">
                  <p:embed/>
                  <p:pic>
                    <p:nvPicPr>
                      <p:cNvPr id="0" name="对象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126" y="990600"/>
                        <a:ext cx="912812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4820" name="图片 10241" descr="hw2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7338" y="4376738"/>
            <a:ext cx="9034462"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diamond(in)">
                                      <p:cBhvr>
                                        <p:cTn id="7" dur="2000"/>
                                        <p:tgtEl>
                                          <p:spTgt spid="11267"/>
                                        </p:tgtEl>
                                      </p:cBhvr>
                                    </p:animEffect>
                                  </p:childTnLst>
                                  <p:subTnLst>
                                    <p:audio>
                                      <p:cMediaNode>
                                        <p:cTn display="0" masterRel="sameClick">
                                          <p:stCondLst>
                                            <p:cond evt="begin" delay="0">
                                              <p:tn val="5"/>
                                            </p:cond>
                                          </p:stCondLst>
                                          <p:endCondLst>
                                            <p:cond evt="onStopAudio" delay="0">
                                              <p:tgtEl>
                                                <p:sldTgt/>
                                              </p:tgtEl>
                                            </p:cond>
                                          </p:endCondLst>
                                        </p:cTn>
                                        <p:tgtEl>
                                          <p:sndTgt r:embed="rId4"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文本框 175175"/>
          <p:cNvSpPr txBox="1">
            <a:spLocks noChangeArrowheads="1"/>
          </p:cNvSpPr>
          <p:nvPr/>
        </p:nvSpPr>
        <p:spPr bwMode="auto">
          <a:xfrm>
            <a:off x="1663700" y="1079501"/>
            <a:ext cx="90043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spcBef>
                <a:spcPct val="50000"/>
              </a:spcBef>
            </a:pPr>
            <a:r>
              <a:rPr lang="zh-CN" altLang="en-US" sz="2000" b="1">
                <a:latin typeface="Arial" panose="020B0604020202020204" pitchFamily="34" charset="0"/>
              </a:rPr>
              <a:t>LC并联谐振回路在其固有振荡频率等于外界某电磁波频率时产生并联谐振，从而将某台的调幅发射信号接收下来。并通过线圈耦合到下一级电路。</a:t>
            </a:r>
            <a:endParaRPr lang="zh-CN" altLang="en-US" sz="2000" b="1">
              <a:latin typeface="Arial" panose="020B0604020202020204" pitchFamily="34" charset="0"/>
            </a:endParaRPr>
          </a:p>
        </p:txBody>
      </p:sp>
      <p:grpSp>
        <p:nvGrpSpPr>
          <p:cNvPr id="35843" name="组合 175172"/>
          <p:cNvGrpSpPr/>
          <p:nvPr/>
        </p:nvGrpSpPr>
        <p:grpSpPr bwMode="auto">
          <a:xfrm>
            <a:off x="3200400" y="1966913"/>
            <a:ext cx="2286000" cy="2628900"/>
            <a:chOff x="540" y="1944"/>
            <a:chExt cx="1440" cy="1656"/>
          </a:xfrm>
        </p:grpSpPr>
        <p:sp>
          <p:nvSpPr>
            <p:cNvPr id="35894" name="直接连接符 175133"/>
            <p:cNvSpPr>
              <a:spLocks noChangeShapeType="1"/>
            </p:cNvSpPr>
            <p:nvPr/>
          </p:nvSpPr>
          <p:spPr bwMode="auto">
            <a:xfrm>
              <a:off x="708" y="3065"/>
              <a:ext cx="0" cy="347"/>
            </a:xfrm>
            <a:prstGeom prst="line">
              <a:avLst/>
            </a:prstGeom>
            <a:noFill/>
            <a:ln w="254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95" name="任意多边形 175143"/>
            <p:cNvSpPr>
              <a:spLocks noChangeArrowheads="1"/>
            </p:cNvSpPr>
            <p:nvPr/>
          </p:nvSpPr>
          <p:spPr bwMode="auto">
            <a:xfrm>
              <a:off x="1392" y="2280"/>
              <a:ext cx="588" cy="708"/>
            </a:xfrm>
            <a:custGeom>
              <a:avLst/>
              <a:gdLst>
                <a:gd name="T0" fmla="*/ 0 w 588"/>
                <a:gd name="T1" fmla="*/ 0 h 708"/>
                <a:gd name="T2" fmla="*/ 0 w 588"/>
                <a:gd name="T3" fmla="*/ 708 h 708"/>
                <a:gd name="T4" fmla="*/ 588 w 588"/>
                <a:gd name="T5" fmla="*/ 708 h 708"/>
                <a:gd name="T6" fmla="*/ 0 60000 65536"/>
                <a:gd name="T7" fmla="*/ 0 60000 65536"/>
                <a:gd name="T8" fmla="*/ 0 60000 65536"/>
              </a:gdLst>
              <a:ahLst/>
              <a:cxnLst>
                <a:cxn ang="T6">
                  <a:pos x="T0" y="T1"/>
                </a:cxn>
                <a:cxn ang="T7">
                  <a:pos x="T2" y="T3"/>
                </a:cxn>
                <a:cxn ang="T8">
                  <a:pos x="T4" y="T5"/>
                </a:cxn>
              </a:cxnLst>
              <a:rect l="0" t="0" r="r" b="b"/>
              <a:pathLst>
                <a:path w="588" h="708">
                  <a:moveTo>
                    <a:pt x="0" y="0"/>
                  </a:moveTo>
                  <a:lnTo>
                    <a:pt x="0" y="708"/>
                  </a:lnTo>
                  <a:lnTo>
                    <a:pt x="588" y="708"/>
                  </a:lnTo>
                </a:path>
              </a:pathLst>
            </a:custGeom>
            <a:noFill/>
            <a:ln w="25400">
              <a:solidFill>
                <a:srgbClr val="66FF33"/>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96" name="立方体 175109"/>
            <p:cNvSpPr>
              <a:spLocks noChangeAspect="1" noChangeArrowheads="1"/>
            </p:cNvSpPr>
            <p:nvPr/>
          </p:nvSpPr>
          <p:spPr bwMode="auto">
            <a:xfrm>
              <a:off x="540" y="1944"/>
              <a:ext cx="1245" cy="1368"/>
            </a:xfrm>
            <a:prstGeom prst="cube">
              <a:avLst>
                <a:gd name="adj" fmla="val 93315"/>
              </a:avLst>
            </a:prstGeom>
            <a:solidFill>
              <a:schemeClr val="accent1"/>
            </a:solidFill>
            <a:ln w="25400">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p>
          </p:txBody>
        </p:sp>
        <p:grpSp>
          <p:nvGrpSpPr>
            <p:cNvPr id="35897" name="组合 175132"/>
            <p:cNvGrpSpPr/>
            <p:nvPr/>
          </p:nvGrpSpPr>
          <p:grpSpPr bwMode="auto">
            <a:xfrm>
              <a:off x="1401" y="2016"/>
              <a:ext cx="305" cy="449"/>
              <a:chOff x="1677" y="1164"/>
              <a:chExt cx="305" cy="449"/>
            </a:xfrm>
          </p:grpSpPr>
          <p:sp>
            <p:nvSpPr>
              <p:cNvPr id="35915" name="任意多边形 175122"/>
              <p:cNvSpPr>
                <a:spLocks noChangeArrowheads="1"/>
              </p:cNvSpPr>
              <p:nvPr/>
            </p:nvSpPr>
            <p:spPr bwMode="auto">
              <a:xfrm>
                <a:off x="1736" y="1339"/>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00FF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16" name="任意多边形 175124"/>
              <p:cNvSpPr>
                <a:spLocks noChangeArrowheads="1"/>
              </p:cNvSpPr>
              <p:nvPr/>
            </p:nvSpPr>
            <p:spPr bwMode="auto">
              <a:xfrm>
                <a:off x="1852" y="1223"/>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00FF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17" name="任意多边形 175125"/>
              <p:cNvSpPr>
                <a:spLocks noChangeArrowheads="1"/>
              </p:cNvSpPr>
              <p:nvPr/>
            </p:nvSpPr>
            <p:spPr bwMode="auto">
              <a:xfrm>
                <a:off x="1677" y="1397"/>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00FF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18" name="任意多边形 175127"/>
              <p:cNvSpPr>
                <a:spLocks noChangeArrowheads="1"/>
              </p:cNvSpPr>
              <p:nvPr/>
            </p:nvSpPr>
            <p:spPr bwMode="auto">
              <a:xfrm>
                <a:off x="1910" y="1164"/>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00FF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19" name="任意多边形 175129"/>
              <p:cNvSpPr>
                <a:spLocks noChangeArrowheads="1"/>
              </p:cNvSpPr>
              <p:nvPr/>
            </p:nvSpPr>
            <p:spPr bwMode="auto">
              <a:xfrm>
                <a:off x="1794" y="1281"/>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00FF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898" name="任意多边形 175117"/>
            <p:cNvSpPr>
              <a:spLocks noChangeArrowheads="1"/>
            </p:cNvSpPr>
            <p:nvPr/>
          </p:nvSpPr>
          <p:spPr bwMode="auto">
            <a:xfrm>
              <a:off x="732" y="2916"/>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99" name="任意多边形 175118"/>
            <p:cNvSpPr>
              <a:spLocks noChangeArrowheads="1"/>
            </p:cNvSpPr>
            <p:nvPr/>
          </p:nvSpPr>
          <p:spPr bwMode="auto">
            <a:xfrm>
              <a:off x="791" y="2858"/>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0" name="任意多边形 175119"/>
            <p:cNvSpPr>
              <a:spLocks noChangeArrowheads="1"/>
            </p:cNvSpPr>
            <p:nvPr/>
          </p:nvSpPr>
          <p:spPr bwMode="auto">
            <a:xfrm>
              <a:off x="907" y="2742"/>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1" name="任意多边形 175120"/>
            <p:cNvSpPr>
              <a:spLocks noChangeArrowheads="1"/>
            </p:cNvSpPr>
            <p:nvPr/>
          </p:nvSpPr>
          <p:spPr bwMode="auto">
            <a:xfrm>
              <a:off x="1024" y="2626"/>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2" name="任意多边形 175123"/>
            <p:cNvSpPr>
              <a:spLocks noChangeArrowheads="1"/>
            </p:cNvSpPr>
            <p:nvPr/>
          </p:nvSpPr>
          <p:spPr bwMode="auto">
            <a:xfrm>
              <a:off x="1141" y="2509"/>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3" name="任意多边形 175126"/>
            <p:cNvSpPr>
              <a:spLocks noChangeArrowheads="1"/>
            </p:cNvSpPr>
            <p:nvPr/>
          </p:nvSpPr>
          <p:spPr bwMode="auto">
            <a:xfrm>
              <a:off x="966" y="2684"/>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4" name="任意多边形 175128"/>
            <p:cNvSpPr>
              <a:spLocks noChangeArrowheads="1"/>
            </p:cNvSpPr>
            <p:nvPr/>
          </p:nvSpPr>
          <p:spPr bwMode="auto">
            <a:xfrm>
              <a:off x="1082" y="2568"/>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5" name="任意多边形 175130"/>
            <p:cNvSpPr>
              <a:spLocks noChangeArrowheads="1"/>
            </p:cNvSpPr>
            <p:nvPr/>
          </p:nvSpPr>
          <p:spPr bwMode="auto">
            <a:xfrm>
              <a:off x="849" y="2800"/>
              <a:ext cx="72" cy="216"/>
            </a:xfrm>
            <a:custGeom>
              <a:avLst/>
              <a:gdLst>
                <a:gd name="T0" fmla="*/ 0 w 180"/>
                <a:gd name="T1" fmla="*/ 0 h 444"/>
                <a:gd name="T2" fmla="*/ 72 w 180"/>
                <a:gd name="T3" fmla="*/ 0 h 444"/>
                <a:gd name="T4" fmla="*/ 72 w 180"/>
                <a:gd name="T5" fmla="*/ 216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6" name="任意多边形 175121"/>
            <p:cNvSpPr>
              <a:spLocks noChangeArrowheads="1"/>
            </p:cNvSpPr>
            <p:nvPr/>
          </p:nvSpPr>
          <p:spPr bwMode="auto">
            <a:xfrm>
              <a:off x="1199" y="2451"/>
              <a:ext cx="72" cy="968"/>
            </a:xfrm>
            <a:custGeom>
              <a:avLst/>
              <a:gdLst>
                <a:gd name="T0" fmla="*/ 0 w 180"/>
                <a:gd name="T1" fmla="*/ 0 h 444"/>
                <a:gd name="T2" fmla="*/ 72 w 180"/>
                <a:gd name="T3" fmla="*/ 0 h 444"/>
                <a:gd name="T4" fmla="*/ 72 w 180"/>
                <a:gd name="T5" fmla="*/ 968 h 444"/>
                <a:gd name="T6" fmla="*/ 0 60000 65536"/>
                <a:gd name="T7" fmla="*/ 0 60000 65536"/>
                <a:gd name="T8" fmla="*/ 0 60000 65536"/>
              </a:gdLst>
              <a:ahLst/>
              <a:cxnLst>
                <a:cxn ang="T6">
                  <a:pos x="T0" y="T1"/>
                </a:cxn>
                <a:cxn ang="T7">
                  <a:pos x="T2" y="T3"/>
                </a:cxn>
                <a:cxn ang="T8">
                  <a:pos x="T4" y="T5"/>
                </a:cxn>
              </a:cxnLst>
              <a:rect l="0" t="0" r="r" b="b"/>
              <a:pathLst>
                <a:path w="180" h="444">
                  <a:moveTo>
                    <a:pt x="0" y="0"/>
                  </a:moveTo>
                  <a:lnTo>
                    <a:pt x="180" y="0"/>
                  </a:lnTo>
                  <a:lnTo>
                    <a:pt x="180" y="444"/>
                  </a:lnTo>
                </a:path>
              </a:pathLst>
            </a:custGeom>
            <a:noFill/>
            <a:ln w="25400">
              <a:solidFill>
                <a:srgbClr val="FF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07" name="直接连接符 175136"/>
            <p:cNvSpPr>
              <a:spLocks noChangeShapeType="1"/>
            </p:cNvSpPr>
            <p:nvPr/>
          </p:nvSpPr>
          <p:spPr bwMode="auto">
            <a:xfrm>
              <a:off x="708" y="3412"/>
              <a:ext cx="216" cy="0"/>
            </a:xfrm>
            <a:prstGeom prst="line">
              <a:avLst/>
            </a:prstGeom>
            <a:noFill/>
            <a:ln w="254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08" name="直接连接符 175137"/>
            <p:cNvSpPr>
              <a:spLocks noChangeShapeType="1"/>
            </p:cNvSpPr>
            <p:nvPr/>
          </p:nvSpPr>
          <p:spPr bwMode="auto">
            <a:xfrm>
              <a:off x="1037" y="3415"/>
              <a:ext cx="216" cy="0"/>
            </a:xfrm>
            <a:prstGeom prst="line">
              <a:avLst/>
            </a:prstGeom>
            <a:noFill/>
            <a:ln w="25400">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35909" name="组合 175168"/>
            <p:cNvGrpSpPr/>
            <p:nvPr/>
          </p:nvGrpSpPr>
          <p:grpSpPr bwMode="auto">
            <a:xfrm>
              <a:off x="840" y="3300"/>
              <a:ext cx="300" cy="300"/>
              <a:chOff x="852" y="3780"/>
              <a:chExt cx="300" cy="300"/>
            </a:xfrm>
          </p:grpSpPr>
          <p:grpSp>
            <p:nvGrpSpPr>
              <p:cNvPr id="35911" name="组合 175140"/>
              <p:cNvGrpSpPr/>
              <p:nvPr/>
            </p:nvGrpSpPr>
            <p:grpSpPr bwMode="auto">
              <a:xfrm>
                <a:off x="948" y="3804"/>
                <a:ext cx="77" cy="240"/>
                <a:chOff x="1212" y="3084"/>
                <a:chExt cx="77" cy="120"/>
              </a:xfrm>
            </p:grpSpPr>
            <p:sp>
              <p:nvSpPr>
                <p:cNvPr id="35913" name="直接连接符 175138"/>
                <p:cNvSpPr>
                  <a:spLocks noChangeShapeType="1"/>
                </p:cNvSpPr>
                <p:nvPr/>
              </p:nvSpPr>
              <p:spPr bwMode="auto">
                <a:xfrm>
                  <a:off x="1212" y="3084"/>
                  <a:ext cx="0" cy="12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914" name="直接连接符 175139"/>
                <p:cNvSpPr>
                  <a:spLocks noChangeShapeType="1"/>
                </p:cNvSpPr>
                <p:nvPr/>
              </p:nvSpPr>
              <p:spPr bwMode="auto">
                <a:xfrm>
                  <a:off x="1289" y="3084"/>
                  <a:ext cx="0" cy="12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5912" name="直接连接符 175141"/>
              <p:cNvSpPr>
                <a:spLocks noChangeShapeType="1"/>
              </p:cNvSpPr>
              <p:nvPr/>
            </p:nvSpPr>
            <p:spPr bwMode="auto">
              <a:xfrm flipV="1">
                <a:off x="852" y="3780"/>
                <a:ext cx="300" cy="30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35910" name="任意多边形 175144"/>
            <p:cNvSpPr>
              <a:spLocks noChangeArrowheads="1"/>
            </p:cNvSpPr>
            <p:nvPr/>
          </p:nvSpPr>
          <p:spPr bwMode="auto">
            <a:xfrm>
              <a:off x="1709" y="2081"/>
              <a:ext cx="264" cy="708"/>
            </a:xfrm>
            <a:custGeom>
              <a:avLst/>
              <a:gdLst>
                <a:gd name="T0" fmla="*/ 0 w 588"/>
                <a:gd name="T1" fmla="*/ 0 h 708"/>
                <a:gd name="T2" fmla="*/ 0 w 588"/>
                <a:gd name="T3" fmla="*/ 708 h 708"/>
                <a:gd name="T4" fmla="*/ 264 w 588"/>
                <a:gd name="T5" fmla="*/ 708 h 708"/>
                <a:gd name="T6" fmla="*/ 0 60000 65536"/>
                <a:gd name="T7" fmla="*/ 0 60000 65536"/>
                <a:gd name="T8" fmla="*/ 0 60000 65536"/>
              </a:gdLst>
              <a:ahLst/>
              <a:cxnLst>
                <a:cxn ang="T6">
                  <a:pos x="T0" y="T1"/>
                </a:cxn>
                <a:cxn ang="T7">
                  <a:pos x="T2" y="T3"/>
                </a:cxn>
                <a:cxn ang="T8">
                  <a:pos x="T4" y="T5"/>
                </a:cxn>
              </a:cxnLst>
              <a:rect l="0" t="0" r="r" b="b"/>
              <a:pathLst>
                <a:path w="588" h="708">
                  <a:moveTo>
                    <a:pt x="0" y="0"/>
                  </a:moveTo>
                  <a:lnTo>
                    <a:pt x="0" y="708"/>
                  </a:lnTo>
                  <a:lnTo>
                    <a:pt x="588" y="708"/>
                  </a:lnTo>
                </a:path>
              </a:pathLst>
            </a:custGeom>
            <a:noFill/>
            <a:ln w="25400">
              <a:solidFill>
                <a:srgbClr val="66FF33"/>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844" name="组合 175165"/>
          <p:cNvGrpSpPr/>
          <p:nvPr/>
        </p:nvGrpSpPr>
        <p:grpSpPr bwMode="auto">
          <a:xfrm>
            <a:off x="7410450" y="2481263"/>
            <a:ext cx="2503488" cy="1905000"/>
            <a:chOff x="3084" y="2412"/>
            <a:chExt cx="1577" cy="1200"/>
          </a:xfrm>
        </p:grpSpPr>
        <p:sp>
          <p:nvSpPr>
            <p:cNvPr id="35882" name="任意多边形 175152"/>
            <p:cNvSpPr>
              <a:spLocks noChangeArrowheads="1"/>
            </p:cNvSpPr>
            <p:nvPr/>
          </p:nvSpPr>
          <p:spPr bwMode="auto">
            <a:xfrm flipV="1">
              <a:off x="3245" y="3065"/>
              <a:ext cx="624" cy="408"/>
            </a:xfrm>
            <a:custGeom>
              <a:avLst/>
              <a:gdLst>
                <a:gd name="T0" fmla="*/ 624 w 624"/>
                <a:gd name="T1" fmla="*/ 213 h 528"/>
                <a:gd name="T2" fmla="*/ 624 w 624"/>
                <a:gd name="T3" fmla="*/ 0 h 528"/>
                <a:gd name="T4" fmla="*/ 0 w 624"/>
                <a:gd name="T5" fmla="*/ 0 h 528"/>
                <a:gd name="T6" fmla="*/ 0 w 624"/>
                <a:gd name="T7" fmla="*/ 408 h 5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528">
                  <a:moveTo>
                    <a:pt x="624" y="276"/>
                  </a:moveTo>
                  <a:lnTo>
                    <a:pt x="624" y="0"/>
                  </a:lnTo>
                  <a:lnTo>
                    <a:pt x="0" y="0"/>
                  </a:lnTo>
                  <a:lnTo>
                    <a:pt x="0" y="528"/>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83" name="任意多边形 175157"/>
            <p:cNvSpPr>
              <a:spLocks noChangeArrowheads="1"/>
            </p:cNvSpPr>
            <p:nvPr/>
          </p:nvSpPr>
          <p:spPr bwMode="auto">
            <a:xfrm>
              <a:off x="3238" y="2518"/>
              <a:ext cx="624" cy="408"/>
            </a:xfrm>
            <a:custGeom>
              <a:avLst/>
              <a:gdLst>
                <a:gd name="T0" fmla="*/ 624 w 624"/>
                <a:gd name="T1" fmla="*/ 213 h 528"/>
                <a:gd name="T2" fmla="*/ 624 w 624"/>
                <a:gd name="T3" fmla="*/ 0 h 528"/>
                <a:gd name="T4" fmla="*/ 0 w 624"/>
                <a:gd name="T5" fmla="*/ 0 h 528"/>
                <a:gd name="T6" fmla="*/ 0 w 624"/>
                <a:gd name="T7" fmla="*/ 408 h 52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528">
                  <a:moveTo>
                    <a:pt x="624" y="276"/>
                  </a:moveTo>
                  <a:lnTo>
                    <a:pt x="624" y="0"/>
                  </a:lnTo>
                  <a:lnTo>
                    <a:pt x="0" y="0"/>
                  </a:lnTo>
                  <a:lnTo>
                    <a:pt x="0" y="528"/>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5884" name="组合 175149"/>
            <p:cNvGrpSpPr/>
            <p:nvPr/>
          </p:nvGrpSpPr>
          <p:grpSpPr bwMode="auto">
            <a:xfrm>
              <a:off x="3852" y="2688"/>
              <a:ext cx="91" cy="581"/>
              <a:chOff x="3984" y="1380"/>
              <a:chExt cx="67" cy="737"/>
            </a:xfrm>
          </p:grpSpPr>
          <p:sp>
            <p:nvSpPr>
              <p:cNvPr id="35892" name="任意多边形 175147"/>
              <p:cNvSpPr>
                <a:spLocks noChangeArrowheads="1"/>
              </p:cNvSpPr>
              <p:nvPr/>
            </p:nvSpPr>
            <p:spPr bwMode="auto">
              <a:xfrm>
                <a:off x="3984" y="1380"/>
                <a:ext cx="62" cy="360"/>
              </a:xfrm>
              <a:custGeom>
                <a:avLst/>
                <a:gdLst>
                  <a:gd name="T0" fmla="*/ 2 w 470"/>
                  <a:gd name="T1" fmla="*/ 0 h 3624"/>
                  <a:gd name="T2" fmla="*/ 62 w 470"/>
                  <a:gd name="T3" fmla="*/ 45 h 3624"/>
                  <a:gd name="T4" fmla="*/ 0 w 470"/>
                  <a:gd name="T5" fmla="*/ 89 h 3624"/>
                  <a:gd name="T6" fmla="*/ 62 w 470"/>
                  <a:gd name="T7" fmla="*/ 135 h 3624"/>
                  <a:gd name="T8" fmla="*/ 2 w 470"/>
                  <a:gd name="T9" fmla="*/ 180 h 3624"/>
                  <a:gd name="T10" fmla="*/ 62 w 470"/>
                  <a:gd name="T11" fmla="*/ 225 h 3624"/>
                  <a:gd name="T12" fmla="*/ 2 w 470"/>
                  <a:gd name="T13" fmla="*/ 272 h 3624"/>
                  <a:gd name="T14" fmla="*/ 62 w 470"/>
                  <a:gd name="T15" fmla="*/ 315 h 3624"/>
                  <a:gd name="T16" fmla="*/ 2 w 470"/>
                  <a:gd name="T17" fmla="*/ 360 h 3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70" h="3624">
                    <a:moveTo>
                      <a:pt x="12" y="0"/>
                    </a:moveTo>
                    <a:cubicBezTo>
                      <a:pt x="241" y="153"/>
                      <a:pt x="470" y="306"/>
                      <a:pt x="468" y="456"/>
                    </a:cubicBezTo>
                    <a:cubicBezTo>
                      <a:pt x="466" y="606"/>
                      <a:pt x="0" y="750"/>
                      <a:pt x="0" y="900"/>
                    </a:cubicBezTo>
                    <a:cubicBezTo>
                      <a:pt x="0" y="1050"/>
                      <a:pt x="466" y="1204"/>
                      <a:pt x="468" y="1356"/>
                    </a:cubicBezTo>
                    <a:cubicBezTo>
                      <a:pt x="470" y="1508"/>
                      <a:pt x="12" y="1660"/>
                      <a:pt x="12" y="1812"/>
                    </a:cubicBezTo>
                    <a:cubicBezTo>
                      <a:pt x="12" y="1964"/>
                      <a:pt x="468" y="2114"/>
                      <a:pt x="468" y="2268"/>
                    </a:cubicBezTo>
                    <a:cubicBezTo>
                      <a:pt x="468" y="2422"/>
                      <a:pt x="12" y="2586"/>
                      <a:pt x="12" y="2736"/>
                    </a:cubicBezTo>
                    <a:cubicBezTo>
                      <a:pt x="12" y="2886"/>
                      <a:pt x="468" y="3020"/>
                      <a:pt x="468" y="3168"/>
                    </a:cubicBezTo>
                    <a:cubicBezTo>
                      <a:pt x="468" y="3316"/>
                      <a:pt x="240" y="3470"/>
                      <a:pt x="12" y="3624"/>
                    </a:cubicBezTo>
                  </a:path>
                </a:pathLst>
              </a:custGeom>
              <a:solidFill>
                <a:schemeClr val="bg2"/>
              </a:solidFill>
              <a:ln w="25400">
                <a:solidFill>
                  <a:schemeClr val="tx1"/>
                </a:solidFill>
                <a:round/>
              </a:ln>
            </p:spPr>
            <p:txBody>
              <a:bodyPr/>
              <a:lstStyle/>
              <a:p>
                <a:endParaRPr lang="zh-CN" altLang="en-US"/>
              </a:p>
            </p:txBody>
          </p:sp>
          <p:sp>
            <p:nvSpPr>
              <p:cNvPr id="35893" name="任意多边形 175148"/>
              <p:cNvSpPr>
                <a:spLocks noChangeArrowheads="1"/>
              </p:cNvSpPr>
              <p:nvPr/>
            </p:nvSpPr>
            <p:spPr bwMode="auto">
              <a:xfrm>
                <a:off x="3989" y="1757"/>
                <a:ext cx="62" cy="360"/>
              </a:xfrm>
              <a:custGeom>
                <a:avLst/>
                <a:gdLst>
                  <a:gd name="T0" fmla="*/ 2 w 470"/>
                  <a:gd name="T1" fmla="*/ 0 h 3624"/>
                  <a:gd name="T2" fmla="*/ 62 w 470"/>
                  <a:gd name="T3" fmla="*/ 45 h 3624"/>
                  <a:gd name="T4" fmla="*/ 0 w 470"/>
                  <a:gd name="T5" fmla="*/ 89 h 3624"/>
                  <a:gd name="T6" fmla="*/ 62 w 470"/>
                  <a:gd name="T7" fmla="*/ 135 h 3624"/>
                  <a:gd name="T8" fmla="*/ 2 w 470"/>
                  <a:gd name="T9" fmla="*/ 180 h 3624"/>
                  <a:gd name="T10" fmla="*/ 62 w 470"/>
                  <a:gd name="T11" fmla="*/ 225 h 3624"/>
                  <a:gd name="T12" fmla="*/ 2 w 470"/>
                  <a:gd name="T13" fmla="*/ 272 h 3624"/>
                  <a:gd name="T14" fmla="*/ 62 w 470"/>
                  <a:gd name="T15" fmla="*/ 315 h 3624"/>
                  <a:gd name="T16" fmla="*/ 2 w 470"/>
                  <a:gd name="T17" fmla="*/ 360 h 3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70" h="3624">
                    <a:moveTo>
                      <a:pt x="12" y="0"/>
                    </a:moveTo>
                    <a:cubicBezTo>
                      <a:pt x="241" y="153"/>
                      <a:pt x="470" y="306"/>
                      <a:pt x="468" y="456"/>
                    </a:cubicBezTo>
                    <a:cubicBezTo>
                      <a:pt x="466" y="606"/>
                      <a:pt x="0" y="750"/>
                      <a:pt x="0" y="900"/>
                    </a:cubicBezTo>
                    <a:cubicBezTo>
                      <a:pt x="0" y="1050"/>
                      <a:pt x="466" y="1204"/>
                      <a:pt x="468" y="1356"/>
                    </a:cubicBezTo>
                    <a:cubicBezTo>
                      <a:pt x="470" y="1508"/>
                      <a:pt x="12" y="1660"/>
                      <a:pt x="12" y="1812"/>
                    </a:cubicBezTo>
                    <a:cubicBezTo>
                      <a:pt x="12" y="1964"/>
                      <a:pt x="468" y="2114"/>
                      <a:pt x="468" y="2268"/>
                    </a:cubicBezTo>
                    <a:cubicBezTo>
                      <a:pt x="468" y="2422"/>
                      <a:pt x="12" y="2586"/>
                      <a:pt x="12" y="2736"/>
                    </a:cubicBezTo>
                    <a:cubicBezTo>
                      <a:pt x="12" y="2886"/>
                      <a:pt x="468" y="3020"/>
                      <a:pt x="468" y="3168"/>
                    </a:cubicBezTo>
                    <a:cubicBezTo>
                      <a:pt x="468" y="3316"/>
                      <a:pt x="240" y="3470"/>
                      <a:pt x="12" y="3624"/>
                    </a:cubicBezTo>
                  </a:path>
                </a:pathLst>
              </a:custGeom>
              <a:solidFill>
                <a:schemeClr val="bg1"/>
              </a:solidFill>
              <a:ln w="25400">
                <a:solidFill>
                  <a:schemeClr val="tx1"/>
                </a:solidFill>
                <a:round/>
              </a:ln>
            </p:spPr>
            <p:txBody>
              <a:bodyPr/>
              <a:lstStyle/>
              <a:p>
                <a:endParaRPr lang="zh-CN" altLang="en-US"/>
              </a:p>
            </p:txBody>
          </p:sp>
        </p:grpSp>
        <p:sp>
          <p:nvSpPr>
            <p:cNvPr id="35885" name="直接连接符 175155"/>
            <p:cNvSpPr>
              <a:spLocks noChangeShapeType="1"/>
            </p:cNvSpPr>
            <p:nvPr/>
          </p:nvSpPr>
          <p:spPr bwMode="auto">
            <a:xfrm>
              <a:off x="3120" y="2916"/>
              <a:ext cx="228"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86" name="直接连接符 175156"/>
            <p:cNvSpPr>
              <a:spLocks noChangeShapeType="1"/>
            </p:cNvSpPr>
            <p:nvPr/>
          </p:nvSpPr>
          <p:spPr bwMode="auto">
            <a:xfrm>
              <a:off x="3125" y="3053"/>
              <a:ext cx="228"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887" name="直接连接符 175158"/>
            <p:cNvSpPr>
              <a:spLocks noChangeShapeType="1"/>
            </p:cNvSpPr>
            <p:nvPr/>
          </p:nvSpPr>
          <p:spPr bwMode="auto">
            <a:xfrm flipV="1">
              <a:off x="3084" y="2772"/>
              <a:ext cx="270" cy="468"/>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88" name="任意多边形 175160"/>
            <p:cNvSpPr>
              <a:spLocks noChangeArrowheads="1"/>
            </p:cNvSpPr>
            <p:nvPr/>
          </p:nvSpPr>
          <p:spPr bwMode="auto">
            <a:xfrm flipH="1">
              <a:off x="4133" y="2849"/>
              <a:ext cx="84" cy="284"/>
            </a:xfrm>
            <a:custGeom>
              <a:avLst/>
              <a:gdLst>
                <a:gd name="T0" fmla="*/ 2 w 470"/>
                <a:gd name="T1" fmla="*/ 0 h 3624"/>
                <a:gd name="T2" fmla="*/ 84 w 470"/>
                <a:gd name="T3" fmla="*/ 36 h 3624"/>
                <a:gd name="T4" fmla="*/ 0 w 470"/>
                <a:gd name="T5" fmla="*/ 71 h 3624"/>
                <a:gd name="T6" fmla="*/ 84 w 470"/>
                <a:gd name="T7" fmla="*/ 106 h 3624"/>
                <a:gd name="T8" fmla="*/ 2 w 470"/>
                <a:gd name="T9" fmla="*/ 142 h 3624"/>
                <a:gd name="T10" fmla="*/ 84 w 470"/>
                <a:gd name="T11" fmla="*/ 178 h 3624"/>
                <a:gd name="T12" fmla="*/ 2 w 470"/>
                <a:gd name="T13" fmla="*/ 214 h 3624"/>
                <a:gd name="T14" fmla="*/ 84 w 470"/>
                <a:gd name="T15" fmla="*/ 248 h 3624"/>
                <a:gd name="T16" fmla="*/ 2 w 470"/>
                <a:gd name="T17" fmla="*/ 284 h 36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70" h="3624">
                  <a:moveTo>
                    <a:pt x="12" y="0"/>
                  </a:moveTo>
                  <a:cubicBezTo>
                    <a:pt x="241" y="153"/>
                    <a:pt x="470" y="306"/>
                    <a:pt x="468" y="456"/>
                  </a:cubicBezTo>
                  <a:cubicBezTo>
                    <a:pt x="466" y="606"/>
                    <a:pt x="0" y="750"/>
                    <a:pt x="0" y="900"/>
                  </a:cubicBezTo>
                  <a:cubicBezTo>
                    <a:pt x="0" y="1050"/>
                    <a:pt x="466" y="1204"/>
                    <a:pt x="468" y="1356"/>
                  </a:cubicBezTo>
                  <a:cubicBezTo>
                    <a:pt x="470" y="1508"/>
                    <a:pt x="12" y="1660"/>
                    <a:pt x="12" y="1812"/>
                  </a:cubicBezTo>
                  <a:cubicBezTo>
                    <a:pt x="12" y="1964"/>
                    <a:pt x="468" y="2114"/>
                    <a:pt x="468" y="2268"/>
                  </a:cubicBezTo>
                  <a:cubicBezTo>
                    <a:pt x="468" y="2422"/>
                    <a:pt x="12" y="2586"/>
                    <a:pt x="12" y="2736"/>
                  </a:cubicBezTo>
                  <a:cubicBezTo>
                    <a:pt x="12" y="2886"/>
                    <a:pt x="468" y="3020"/>
                    <a:pt x="468" y="3168"/>
                  </a:cubicBezTo>
                  <a:cubicBezTo>
                    <a:pt x="468" y="3316"/>
                    <a:pt x="240" y="3470"/>
                    <a:pt x="12" y="3624"/>
                  </a:cubicBezTo>
                </a:path>
              </a:pathLst>
            </a:custGeom>
            <a:solidFill>
              <a:schemeClr val="bg1"/>
            </a:solidFill>
            <a:ln w="25400">
              <a:solidFill>
                <a:schemeClr val="tx1"/>
              </a:solidFill>
              <a:round/>
            </a:ln>
          </p:spPr>
          <p:txBody>
            <a:bodyPr/>
            <a:lstStyle/>
            <a:p>
              <a:endParaRPr lang="zh-CN" altLang="en-US"/>
            </a:p>
          </p:txBody>
        </p:sp>
        <p:sp>
          <p:nvSpPr>
            <p:cNvPr id="35889" name="直接连接符 175162"/>
            <p:cNvSpPr>
              <a:spLocks noChangeShapeType="1"/>
            </p:cNvSpPr>
            <p:nvPr/>
          </p:nvSpPr>
          <p:spPr bwMode="auto">
            <a:xfrm>
              <a:off x="4044" y="2412"/>
              <a:ext cx="0" cy="1200"/>
            </a:xfrm>
            <a:prstGeom prst="line">
              <a:avLst/>
            </a:prstGeom>
            <a:noFill/>
            <a:ln w="25400">
              <a:solidFill>
                <a:schemeClr val="tx1"/>
              </a:solidFill>
              <a:prstDash val="dashDot"/>
              <a:round/>
            </a:ln>
            <a:extLst>
              <a:ext uri="{909E8E84-426E-40DD-AFC4-6F175D3DCCD1}">
                <a14:hiddenFill xmlns:a14="http://schemas.microsoft.com/office/drawing/2010/main">
                  <a:noFill/>
                </a14:hiddenFill>
              </a:ext>
            </a:extLst>
          </p:spPr>
          <p:txBody>
            <a:bodyPr/>
            <a:lstStyle/>
            <a:p>
              <a:endParaRPr lang="zh-CN" altLang="en-US"/>
            </a:p>
          </p:txBody>
        </p:sp>
        <p:sp>
          <p:nvSpPr>
            <p:cNvPr id="35890" name="任意多边形 175163"/>
            <p:cNvSpPr>
              <a:spLocks noChangeArrowheads="1"/>
            </p:cNvSpPr>
            <p:nvPr/>
          </p:nvSpPr>
          <p:spPr bwMode="auto">
            <a:xfrm>
              <a:off x="4200" y="2688"/>
              <a:ext cx="444" cy="132"/>
            </a:xfrm>
            <a:custGeom>
              <a:avLst/>
              <a:gdLst>
                <a:gd name="T0" fmla="*/ 0 w 444"/>
                <a:gd name="T1" fmla="*/ 132 h 132"/>
                <a:gd name="T2" fmla="*/ 0 w 444"/>
                <a:gd name="T3" fmla="*/ 0 h 132"/>
                <a:gd name="T4" fmla="*/ 444 w 444"/>
                <a:gd name="T5" fmla="*/ 0 h 132"/>
                <a:gd name="T6" fmla="*/ 0 60000 65536"/>
                <a:gd name="T7" fmla="*/ 0 60000 65536"/>
                <a:gd name="T8" fmla="*/ 0 60000 65536"/>
              </a:gdLst>
              <a:ahLst/>
              <a:cxnLst>
                <a:cxn ang="T6">
                  <a:pos x="T0" y="T1"/>
                </a:cxn>
                <a:cxn ang="T7">
                  <a:pos x="T2" y="T3"/>
                </a:cxn>
                <a:cxn ang="T8">
                  <a:pos x="T4" y="T5"/>
                </a:cxn>
              </a:cxnLst>
              <a:rect l="0" t="0" r="r" b="b"/>
              <a:pathLst>
                <a:path w="444" h="132">
                  <a:moveTo>
                    <a:pt x="0" y="132"/>
                  </a:moveTo>
                  <a:lnTo>
                    <a:pt x="0" y="0"/>
                  </a:lnTo>
                  <a:lnTo>
                    <a:pt x="444" y="0"/>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91" name="任意多边形 175164"/>
            <p:cNvSpPr>
              <a:spLocks noChangeArrowheads="1"/>
            </p:cNvSpPr>
            <p:nvPr/>
          </p:nvSpPr>
          <p:spPr bwMode="auto">
            <a:xfrm flipV="1">
              <a:off x="4217" y="3149"/>
              <a:ext cx="444" cy="132"/>
            </a:xfrm>
            <a:custGeom>
              <a:avLst/>
              <a:gdLst>
                <a:gd name="T0" fmla="*/ 0 w 444"/>
                <a:gd name="T1" fmla="*/ 132 h 132"/>
                <a:gd name="T2" fmla="*/ 0 w 444"/>
                <a:gd name="T3" fmla="*/ 0 h 132"/>
                <a:gd name="T4" fmla="*/ 444 w 444"/>
                <a:gd name="T5" fmla="*/ 0 h 132"/>
                <a:gd name="T6" fmla="*/ 0 60000 65536"/>
                <a:gd name="T7" fmla="*/ 0 60000 65536"/>
                <a:gd name="T8" fmla="*/ 0 60000 65536"/>
              </a:gdLst>
              <a:ahLst/>
              <a:cxnLst>
                <a:cxn ang="T6">
                  <a:pos x="T0" y="T1"/>
                </a:cxn>
                <a:cxn ang="T7">
                  <a:pos x="T2" y="T3"/>
                </a:cxn>
                <a:cxn ang="T8">
                  <a:pos x="T4" y="T5"/>
                </a:cxn>
              </a:cxnLst>
              <a:rect l="0" t="0" r="r" b="b"/>
              <a:pathLst>
                <a:path w="444" h="132">
                  <a:moveTo>
                    <a:pt x="0" y="132"/>
                  </a:moveTo>
                  <a:lnTo>
                    <a:pt x="0" y="0"/>
                  </a:lnTo>
                  <a:lnTo>
                    <a:pt x="444" y="0"/>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5845" name="右箭头 175166"/>
          <p:cNvSpPr>
            <a:spLocks noChangeArrowheads="1"/>
          </p:cNvSpPr>
          <p:nvPr/>
        </p:nvSpPr>
        <p:spPr bwMode="auto">
          <a:xfrm>
            <a:off x="6134100" y="3186113"/>
            <a:ext cx="1123950" cy="495300"/>
          </a:xfrm>
          <a:prstGeom prst="rightArrow">
            <a:avLst>
              <a:gd name="adj1" fmla="val 50000"/>
              <a:gd name="adj2" fmla="val 56710"/>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p>
        </p:txBody>
      </p:sp>
      <p:sp>
        <p:nvSpPr>
          <p:cNvPr id="35846" name="文本框 175173"/>
          <p:cNvSpPr txBox="1">
            <a:spLocks noChangeArrowheads="1"/>
          </p:cNvSpPr>
          <p:nvPr/>
        </p:nvSpPr>
        <p:spPr bwMode="auto">
          <a:xfrm>
            <a:off x="2762250" y="4614864"/>
            <a:ext cx="3009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lgn="ctr">
              <a:spcBef>
                <a:spcPct val="50000"/>
              </a:spcBef>
            </a:pPr>
            <a:r>
              <a:rPr lang="zh-CN" altLang="en-US" sz="2000" b="1">
                <a:latin typeface="Arial" panose="020B0604020202020204" pitchFamily="34" charset="0"/>
              </a:rPr>
              <a:t>磁性天线结构图</a:t>
            </a:r>
            <a:endParaRPr lang="zh-CN" altLang="en-US" sz="2000" b="1">
              <a:latin typeface="Arial" panose="020B0604020202020204" pitchFamily="34" charset="0"/>
            </a:endParaRPr>
          </a:p>
        </p:txBody>
      </p:sp>
      <p:sp>
        <p:nvSpPr>
          <p:cNvPr id="35847" name="文本框 175174"/>
          <p:cNvSpPr txBox="1">
            <a:spLocks noChangeArrowheads="1"/>
          </p:cNvSpPr>
          <p:nvPr/>
        </p:nvSpPr>
        <p:spPr bwMode="auto">
          <a:xfrm>
            <a:off x="7780338" y="4584701"/>
            <a:ext cx="205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lgn="ctr">
              <a:spcBef>
                <a:spcPct val="50000"/>
              </a:spcBef>
            </a:pPr>
            <a:r>
              <a:rPr lang="zh-CN" altLang="en-US" sz="2000" b="1">
                <a:latin typeface="Arial" panose="020B0604020202020204" pitchFamily="34" charset="0"/>
              </a:rPr>
              <a:t>等效电路符号</a:t>
            </a:r>
            <a:endParaRPr lang="zh-CN" altLang="en-US" sz="2000" b="1">
              <a:latin typeface="Arial" panose="020B0604020202020204" pitchFamily="34" charset="0"/>
            </a:endParaRPr>
          </a:p>
        </p:txBody>
      </p:sp>
      <p:sp>
        <p:nvSpPr>
          <p:cNvPr id="35848" name="直接连接符 175176"/>
          <p:cNvSpPr>
            <a:spLocks noChangeShapeType="1"/>
          </p:cNvSpPr>
          <p:nvPr/>
        </p:nvSpPr>
        <p:spPr bwMode="auto">
          <a:xfrm>
            <a:off x="2933700" y="3319463"/>
            <a:ext cx="685800"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49" name="文本框 175177"/>
          <p:cNvSpPr txBox="1">
            <a:spLocks noChangeArrowheads="1"/>
          </p:cNvSpPr>
          <p:nvPr/>
        </p:nvSpPr>
        <p:spPr bwMode="auto">
          <a:xfrm>
            <a:off x="2286000" y="3136901"/>
            <a:ext cx="895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spcBef>
                <a:spcPct val="50000"/>
              </a:spcBef>
            </a:pPr>
            <a:r>
              <a:rPr lang="zh-CN" altLang="en-US" sz="2000" b="1">
                <a:latin typeface="Arial" panose="020B0604020202020204" pitchFamily="34" charset="0"/>
              </a:rPr>
              <a:t>初级</a:t>
            </a:r>
            <a:endParaRPr lang="zh-CN" altLang="en-US" sz="2000" b="1">
              <a:latin typeface="Arial" panose="020B0604020202020204" pitchFamily="34" charset="0"/>
            </a:endParaRPr>
          </a:p>
        </p:txBody>
      </p:sp>
      <p:sp>
        <p:nvSpPr>
          <p:cNvPr id="35850" name="直接连接符 175178"/>
          <p:cNvSpPr>
            <a:spLocks noChangeShapeType="1"/>
          </p:cNvSpPr>
          <p:nvPr/>
        </p:nvSpPr>
        <p:spPr bwMode="auto">
          <a:xfrm>
            <a:off x="4198938" y="2203450"/>
            <a:ext cx="552450"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1" name="文本框 175179"/>
          <p:cNvSpPr txBox="1">
            <a:spLocks noChangeArrowheads="1"/>
          </p:cNvSpPr>
          <p:nvPr/>
        </p:nvSpPr>
        <p:spPr bwMode="auto">
          <a:xfrm>
            <a:off x="3502025" y="1963739"/>
            <a:ext cx="895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lgn="ctr">
              <a:spcBef>
                <a:spcPct val="50000"/>
              </a:spcBef>
            </a:pPr>
            <a:r>
              <a:rPr lang="zh-CN" altLang="en-US" sz="2000" b="1">
                <a:latin typeface="Arial" panose="020B0604020202020204" pitchFamily="34" charset="0"/>
              </a:rPr>
              <a:t>次级</a:t>
            </a:r>
            <a:endParaRPr lang="zh-CN" altLang="en-US" sz="2000" b="1">
              <a:latin typeface="Arial" panose="020B0604020202020204" pitchFamily="34" charset="0"/>
            </a:endParaRPr>
          </a:p>
        </p:txBody>
      </p:sp>
      <p:sp>
        <p:nvSpPr>
          <p:cNvPr id="35852" name="直接连接符 175180"/>
          <p:cNvSpPr>
            <a:spLocks noChangeShapeType="1"/>
          </p:cNvSpPr>
          <p:nvPr/>
        </p:nvSpPr>
        <p:spPr bwMode="auto">
          <a:xfrm>
            <a:off x="2876550" y="3967163"/>
            <a:ext cx="344488" cy="0"/>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3" name="文本框 175181"/>
          <p:cNvSpPr txBox="1">
            <a:spLocks noChangeArrowheads="1"/>
          </p:cNvSpPr>
          <p:nvPr/>
        </p:nvSpPr>
        <p:spPr bwMode="auto">
          <a:xfrm>
            <a:off x="2286000" y="3773489"/>
            <a:ext cx="781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spcBef>
                <a:spcPct val="50000"/>
              </a:spcBef>
            </a:pPr>
            <a:r>
              <a:rPr lang="zh-CN" altLang="en-US" sz="2000" b="1">
                <a:solidFill>
                  <a:srgbClr val="FF00FF"/>
                </a:solidFill>
                <a:latin typeface="Arial" panose="020B0604020202020204" pitchFamily="34" charset="0"/>
              </a:rPr>
              <a:t>磁棒</a:t>
            </a:r>
            <a:endParaRPr lang="zh-CN" altLang="en-US" sz="2000" b="1">
              <a:solidFill>
                <a:srgbClr val="FF00FF"/>
              </a:solidFill>
              <a:latin typeface="Arial" panose="020B0604020202020204" pitchFamily="34" charset="0"/>
            </a:endParaRPr>
          </a:p>
        </p:txBody>
      </p:sp>
      <p:sp>
        <p:nvSpPr>
          <p:cNvPr id="35854" name="直接连接符 175182"/>
          <p:cNvSpPr>
            <a:spLocks noChangeShapeType="1"/>
          </p:cNvSpPr>
          <p:nvPr/>
        </p:nvSpPr>
        <p:spPr bwMode="auto">
          <a:xfrm>
            <a:off x="3238500" y="2595564"/>
            <a:ext cx="571500" cy="42862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5" name="直接连接符 175183"/>
          <p:cNvSpPr>
            <a:spLocks noChangeShapeType="1"/>
          </p:cNvSpPr>
          <p:nvPr/>
        </p:nvSpPr>
        <p:spPr bwMode="auto">
          <a:xfrm flipV="1">
            <a:off x="3265488" y="2384426"/>
            <a:ext cx="1295400" cy="219075"/>
          </a:xfrm>
          <a:prstGeom prst="line">
            <a:avLst/>
          </a:prstGeom>
          <a:noFill/>
          <a:ln w="254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856" name="文本框 175184"/>
          <p:cNvSpPr txBox="1">
            <a:spLocks noChangeArrowheads="1"/>
          </p:cNvSpPr>
          <p:nvPr/>
        </p:nvSpPr>
        <p:spPr bwMode="auto">
          <a:xfrm>
            <a:off x="2522538" y="2363789"/>
            <a:ext cx="895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spcBef>
                <a:spcPct val="50000"/>
              </a:spcBef>
            </a:pPr>
            <a:r>
              <a:rPr lang="zh-CN" altLang="en-US" sz="2000" b="1">
                <a:solidFill>
                  <a:srgbClr val="FF00FF"/>
                </a:solidFill>
                <a:latin typeface="Arial" panose="020B0604020202020204" pitchFamily="34" charset="0"/>
              </a:rPr>
              <a:t>线圈</a:t>
            </a:r>
            <a:endParaRPr lang="zh-CN" altLang="en-US" sz="2000" b="1">
              <a:solidFill>
                <a:srgbClr val="FF00FF"/>
              </a:solidFill>
              <a:latin typeface="Arial" panose="020B0604020202020204" pitchFamily="34" charset="0"/>
            </a:endParaRPr>
          </a:p>
        </p:txBody>
      </p:sp>
      <p:sp>
        <p:nvSpPr>
          <p:cNvPr id="35857" name="矩形 175187"/>
          <p:cNvSpPr>
            <a:spLocks noChangeArrowheads="1"/>
          </p:cNvSpPr>
          <p:nvPr/>
        </p:nvSpPr>
        <p:spPr bwMode="auto">
          <a:xfrm>
            <a:off x="6477001" y="2133601"/>
            <a:ext cx="2100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b="1">
                <a:latin typeface="Arial" panose="020B0604020202020204" pitchFamily="34" charset="0"/>
              </a:rPr>
              <a:t>LC</a:t>
            </a:r>
            <a:r>
              <a:rPr lang="zh-CN" altLang="en-US" b="1">
                <a:latin typeface="Arial" panose="020B0604020202020204" pitchFamily="34" charset="0"/>
              </a:rPr>
              <a:t>并联谐振回路：</a:t>
            </a:r>
            <a:endParaRPr lang="en-US" altLang="zh-CN" b="1">
              <a:latin typeface="Arial" panose="020B0604020202020204" pitchFamily="34" charset="0"/>
            </a:endParaRPr>
          </a:p>
        </p:txBody>
      </p:sp>
      <p:sp>
        <p:nvSpPr>
          <p:cNvPr id="35858" name="矩形 175190"/>
          <p:cNvSpPr>
            <a:spLocks noChangeArrowheads="1"/>
          </p:cNvSpPr>
          <p:nvPr/>
        </p:nvSpPr>
        <p:spPr bwMode="auto">
          <a:xfrm>
            <a:off x="2449513" y="5286376"/>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000">
                <a:latin typeface="Arial" panose="020B0604020202020204" pitchFamily="34" charset="0"/>
              </a:rPr>
              <a:t>C</a:t>
            </a:r>
            <a:endParaRPr lang="en-US" altLang="zh-CN" sz="2000">
              <a:latin typeface="Arial" panose="020B0604020202020204" pitchFamily="34" charset="0"/>
            </a:endParaRPr>
          </a:p>
        </p:txBody>
      </p:sp>
      <p:grpSp>
        <p:nvGrpSpPr>
          <p:cNvPr id="35859" name="组合 175197"/>
          <p:cNvGrpSpPr/>
          <p:nvPr/>
        </p:nvGrpSpPr>
        <p:grpSpPr bwMode="auto">
          <a:xfrm>
            <a:off x="2590800" y="5662613"/>
            <a:ext cx="103188" cy="323850"/>
            <a:chOff x="804" y="3228"/>
            <a:chExt cx="65" cy="204"/>
          </a:xfrm>
        </p:grpSpPr>
        <p:sp>
          <p:nvSpPr>
            <p:cNvPr id="35880" name="直接连接符 175191"/>
            <p:cNvSpPr>
              <a:spLocks noChangeShapeType="1"/>
            </p:cNvSpPr>
            <p:nvPr/>
          </p:nvSpPr>
          <p:spPr bwMode="auto">
            <a:xfrm flipV="1">
              <a:off x="804" y="3228"/>
              <a:ext cx="0" cy="20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1" name="直接连接符 175192"/>
            <p:cNvSpPr>
              <a:spLocks noChangeShapeType="1"/>
            </p:cNvSpPr>
            <p:nvPr/>
          </p:nvSpPr>
          <p:spPr bwMode="auto">
            <a:xfrm>
              <a:off x="869" y="3228"/>
              <a:ext cx="0" cy="20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60" name="矩形 175193"/>
          <p:cNvSpPr>
            <a:spLocks noChangeArrowheads="1"/>
          </p:cNvSpPr>
          <p:nvPr/>
        </p:nvSpPr>
        <p:spPr bwMode="auto">
          <a:xfrm>
            <a:off x="3695700" y="3789364"/>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000">
                <a:latin typeface="Arial" panose="020B0604020202020204" pitchFamily="34" charset="0"/>
              </a:rPr>
              <a:t>C</a:t>
            </a:r>
            <a:endParaRPr lang="en-US" altLang="zh-CN" sz="2000">
              <a:latin typeface="Arial" panose="020B0604020202020204" pitchFamily="34" charset="0"/>
            </a:endParaRPr>
          </a:p>
        </p:txBody>
      </p:sp>
      <p:sp>
        <p:nvSpPr>
          <p:cNvPr id="35861" name="矩形 175194"/>
          <p:cNvSpPr>
            <a:spLocks noChangeArrowheads="1"/>
          </p:cNvSpPr>
          <p:nvPr/>
        </p:nvSpPr>
        <p:spPr bwMode="auto">
          <a:xfrm>
            <a:off x="7799388" y="3206751"/>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000" b="1">
                <a:latin typeface="Arial" panose="020B0604020202020204" pitchFamily="34" charset="0"/>
              </a:rPr>
              <a:t>C</a:t>
            </a:r>
            <a:endParaRPr lang="en-US" altLang="zh-CN" sz="2000" b="1">
              <a:latin typeface="Arial" panose="020B0604020202020204" pitchFamily="34" charset="0"/>
            </a:endParaRPr>
          </a:p>
        </p:txBody>
      </p:sp>
      <p:sp>
        <p:nvSpPr>
          <p:cNvPr id="35862" name="矩形 175195"/>
          <p:cNvSpPr>
            <a:spLocks noChangeArrowheads="1"/>
          </p:cNvSpPr>
          <p:nvPr/>
        </p:nvSpPr>
        <p:spPr bwMode="auto">
          <a:xfrm>
            <a:off x="8302626" y="3195639"/>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000" b="1">
                <a:latin typeface="Arial" panose="020B0604020202020204" pitchFamily="34" charset="0"/>
              </a:rPr>
              <a:t>L</a:t>
            </a:r>
            <a:endParaRPr lang="en-US" altLang="zh-CN" sz="2000" b="1">
              <a:latin typeface="Arial" panose="020B0604020202020204" pitchFamily="34" charset="0"/>
            </a:endParaRPr>
          </a:p>
        </p:txBody>
      </p:sp>
      <p:sp>
        <p:nvSpPr>
          <p:cNvPr id="35863" name="直接连接符 175196"/>
          <p:cNvSpPr>
            <a:spLocks noChangeShapeType="1"/>
          </p:cNvSpPr>
          <p:nvPr/>
        </p:nvSpPr>
        <p:spPr bwMode="auto">
          <a:xfrm>
            <a:off x="2990850" y="5529263"/>
            <a:ext cx="5334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4" name="矩形 175198"/>
          <p:cNvSpPr>
            <a:spLocks noChangeArrowheads="1"/>
          </p:cNvSpPr>
          <p:nvPr/>
        </p:nvSpPr>
        <p:spPr bwMode="auto">
          <a:xfrm>
            <a:off x="3486150" y="5278438"/>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400" i="1">
                <a:latin typeface="Times New Roman" panose="02020603050405020304" pitchFamily="18" charset="0"/>
              </a:rPr>
              <a:t>f</a:t>
            </a:r>
            <a:r>
              <a:rPr lang="en-US" altLang="zh-CN" sz="2400" baseline="-25000">
                <a:latin typeface="Times New Roman" panose="02020603050405020304" pitchFamily="18" charset="0"/>
              </a:rPr>
              <a:t>a</a:t>
            </a:r>
            <a:endParaRPr lang="en-US" altLang="zh-CN" sz="2400" baseline="-25000">
              <a:latin typeface="Times New Roman" panose="02020603050405020304" pitchFamily="18" charset="0"/>
            </a:endParaRPr>
          </a:p>
        </p:txBody>
      </p:sp>
      <p:grpSp>
        <p:nvGrpSpPr>
          <p:cNvPr id="35865" name="组合 175200"/>
          <p:cNvGrpSpPr/>
          <p:nvPr/>
        </p:nvGrpSpPr>
        <p:grpSpPr bwMode="auto">
          <a:xfrm>
            <a:off x="3589339" y="5746750"/>
            <a:ext cx="103187" cy="323850"/>
            <a:chOff x="804" y="3228"/>
            <a:chExt cx="65" cy="204"/>
          </a:xfrm>
        </p:grpSpPr>
        <p:sp>
          <p:nvSpPr>
            <p:cNvPr id="35878" name="直接连接符 175201"/>
            <p:cNvSpPr>
              <a:spLocks noChangeShapeType="1"/>
            </p:cNvSpPr>
            <p:nvPr/>
          </p:nvSpPr>
          <p:spPr bwMode="auto">
            <a:xfrm flipV="1">
              <a:off x="804" y="3228"/>
              <a:ext cx="0" cy="20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9" name="直接连接符 175202"/>
            <p:cNvSpPr>
              <a:spLocks noChangeShapeType="1"/>
            </p:cNvSpPr>
            <p:nvPr/>
          </p:nvSpPr>
          <p:spPr bwMode="auto">
            <a:xfrm>
              <a:off x="869" y="3228"/>
              <a:ext cx="0" cy="20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5866" name="直接连接符 175203"/>
          <p:cNvSpPr>
            <a:spLocks noChangeShapeType="1"/>
          </p:cNvSpPr>
          <p:nvPr/>
        </p:nvSpPr>
        <p:spPr bwMode="auto">
          <a:xfrm>
            <a:off x="3962400" y="5548313"/>
            <a:ext cx="4381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7" name="矩形 175204"/>
          <p:cNvSpPr>
            <a:spLocks noChangeArrowheads="1"/>
          </p:cNvSpPr>
          <p:nvPr/>
        </p:nvSpPr>
        <p:spPr bwMode="auto">
          <a:xfrm>
            <a:off x="4389438" y="5305425"/>
            <a:ext cx="1816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400" i="1">
                <a:latin typeface="Times New Roman" panose="02020603050405020304" pitchFamily="18" charset="0"/>
              </a:rPr>
              <a:t>f</a:t>
            </a:r>
            <a:r>
              <a:rPr lang="en-US" altLang="zh-CN" sz="2400" baseline="-25000">
                <a:latin typeface="Times New Roman" panose="02020603050405020304" pitchFamily="18" charset="0"/>
              </a:rPr>
              <a:t>a</a:t>
            </a:r>
            <a:r>
              <a:rPr lang="en-US" altLang="zh-CN" sz="2400">
                <a:latin typeface="Times New Roman" panose="02020603050405020304" pitchFamily="18" charset="0"/>
              </a:rPr>
              <a:t>= </a:t>
            </a:r>
            <a:r>
              <a:rPr lang="en-US" altLang="zh-CN" sz="2400" i="1">
                <a:latin typeface="Times New Roman" panose="02020603050405020304" pitchFamily="18" charset="0"/>
              </a:rPr>
              <a:t>f</a:t>
            </a:r>
            <a:r>
              <a:rPr lang="en-US" altLang="zh-CN" sz="2400" baseline="-25000">
                <a:latin typeface="Times New Roman" panose="02020603050405020304" pitchFamily="18" charset="0"/>
              </a:rPr>
              <a:t>S</a:t>
            </a:r>
            <a:endParaRPr lang="en-US" altLang="zh-CN" sz="2400" baseline="-25000">
              <a:latin typeface="Times New Roman" panose="02020603050405020304" pitchFamily="18" charset="0"/>
            </a:endParaRPr>
          </a:p>
        </p:txBody>
      </p:sp>
      <p:sp>
        <p:nvSpPr>
          <p:cNvPr id="35868" name="直接连接符 175205"/>
          <p:cNvSpPr>
            <a:spLocks noChangeShapeType="1"/>
          </p:cNvSpPr>
          <p:nvPr/>
        </p:nvSpPr>
        <p:spPr bwMode="auto">
          <a:xfrm flipV="1">
            <a:off x="4972050" y="5795963"/>
            <a:ext cx="0" cy="2667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69" name="矩形 175206"/>
          <p:cNvSpPr>
            <a:spLocks noChangeArrowheads="1"/>
          </p:cNvSpPr>
          <p:nvPr/>
        </p:nvSpPr>
        <p:spPr bwMode="auto">
          <a:xfrm>
            <a:off x="4476750" y="6003926"/>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000">
                <a:latin typeface="Arial" panose="020B0604020202020204" pitchFamily="34" charset="0"/>
              </a:rPr>
              <a:t>某台载频</a:t>
            </a:r>
            <a:endParaRPr lang="zh-CN" altLang="en-US" sz="2000">
              <a:latin typeface="Arial" panose="020B0604020202020204" pitchFamily="34" charset="0"/>
            </a:endParaRPr>
          </a:p>
        </p:txBody>
      </p:sp>
      <p:sp>
        <p:nvSpPr>
          <p:cNvPr id="35870" name="直接连接符 175207"/>
          <p:cNvSpPr>
            <a:spLocks noChangeShapeType="1"/>
          </p:cNvSpPr>
          <p:nvPr/>
        </p:nvSpPr>
        <p:spPr bwMode="auto">
          <a:xfrm>
            <a:off x="5143500" y="5605463"/>
            <a:ext cx="51435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71" name="矩形 175208"/>
          <p:cNvSpPr>
            <a:spLocks noChangeArrowheads="1"/>
          </p:cNvSpPr>
          <p:nvPr/>
        </p:nvSpPr>
        <p:spPr bwMode="auto">
          <a:xfrm>
            <a:off x="5665789" y="5397501"/>
            <a:ext cx="3811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000">
                <a:latin typeface="Arial" panose="020B0604020202020204" pitchFamily="34" charset="0"/>
              </a:rPr>
              <a:t>电磁波在</a:t>
            </a:r>
            <a:r>
              <a:rPr lang="en-US" altLang="zh-CN" sz="2000">
                <a:latin typeface="Arial" panose="020B0604020202020204" pitchFamily="34" charset="0"/>
              </a:rPr>
              <a:t>LC</a:t>
            </a:r>
            <a:r>
              <a:rPr lang="zh-CN" altLang="en-US" sz="2000">
                <a:latin typeface="Arial" panose="020B0604020202020204" pitchFamily="34" charset="0"/>
              </a:rPr>
              <a:t>回路中产生并联谐振</a:t>
            </a:r>
            <a:endParaRPr lang="zh-CN" altLang="en-US" sz="2000">
              <a:latin typeface="Arial" panose="020B0604020202020204" pitchFamily="34" charset="0"/>
            </a:endParaRPr>
          </a:p>
        </p:txBody>
      </p:sp>
      <p:sp>
        <p:nvSpPr>
          <p:cNvPr id="35872" name="矩形 175210"/>
          <p:cNvSpPr>
            <a:spLocks noChangeArrowheads="1"/>
          </p:cNvSpPr>
          <p:nvPr/>
        </p:nvSpPr>
        <p:spPr bwMode="auto">
          <a:xfrm>
            <a:off x="6629400" y="5791201"/>
            <a:ext cx="399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000">
                <a:latin typeface="Arial" panose="020B0604020202020204" pitchFamily="34" charset="0"/>
              </a:rPr>
              <a:t>在次级线圈中感生出高频调幅信号</a:t>
            </a:r>
            <a:endParaRPr lang="zh-CN" altLang="en-US" sz="2000">
              <a:latin typeface="Arial" panose="020B0604020202020204" pitchFamily="34" charset="0"/>
            </a:endParaRPr>
          </a:p>
        </p:txBody>
      </p:sp>
      <p:sp>
        <p:nvSpPr>
          <p:cNvPr id="35873" name="任意多边形 175212"/>
          <p:cNvSpPr>
            <a:spLocks noChangeArrowheads="1"/>
          </p:cNvSpPr>
          <p:nvPr/>
        </p:nvSpPr>
        <p:spPr bwMode="auto">
          <a:xfrm>
            <a:off x="9410700" y="5605463"/>
            <a:ext cx="419100" cy="266700"/>
          </a:xfrm>
          <a:custGeom>
            <a:avLst/>
            <a:gdLst>
              <a:gd name="T0" fmla="*/ 0 w 264"/>
              <a:gd name="T1" fmla="*/ 0 h 168"/>
              <a:gd name="T2" fmla="*/ 419100 w 264"/>
              <a:gd name="T3" fmla="*/ 0 h 168"/>
              <a:gd name="T4" fmla="*/ 419100 w 264"/>
              <a:gd name="T5" fmla="*/ 266700 h 168"/>
              <a:gd name="T6" fmla="*/ 0 60000 65536"/>
              <a:gd name="T7" fmla="*/ 0 60000 65536"/>
              <a:gd name="T8" fmla="*/ 0 60000 65536"/>
            </a:gdLst>
            <a:ahLst/>
            <a:cxnLst>
              <a:cxn ang="T6">
                <a:pos x="T0" y="T1"/>
              </a:cxn>
              <a:cxn ang="T7">
                <a:pos x="T2" y="T3"/>
              </a:cxn>
              <a:cxn ang="T8">
                <a:pos x="T4" y="T5"/>
              </a:cxn>
            </a:cxnLst>
            <a:rect l="0" t="0" r="r" b="b"/>
            <a:pathLst>
              <a:path w="264" h="168">
                <a:moveTo>
                  <a:pt x="0" y="0"/>
                </a:moveTo>
                <a:lnTo>
                  <a:pt x="264" y="0"/>
                </a:lnTo>
                <a:lnTo>
                  <a:pt x="264" y="168"/>
                </a:ln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74" name="任意多边形 175215"/>
          <p:cNvSpPr>
            <a:spLocks noChangeArrowheads="1"/>
          </p:cNvSpPr>
          <p:nvPr/>
        </p:nvSpPr>
        <p:spPr bwMode="auto">
          <a:xfrm>
            <a:off x="6248400" y="5942013"/>
            <a:ext cx="533400" cy="438150"/>
          </a:xfrm>
          <a:custGeom>
            <a:avLst/>
            <a:gdLst>
              <a:gd name="T0" fmla="*/ 400050 w 336"/>
              <a:gd name="T1" fmla="*/ 0 h 276"/>
              <a:gd name="T2" fmla="*/ 0 w 336"/>
              <a:gd name="T3" fmla="*/ 0 h 276"/>
              <a:gd name="T4" fmla="*/ 0 w 336"/>
              <a:gd name="T5" fmla="*/ 438150 h 276"/>
              <a:gd name="T6" fmla="*/ 533400 w 336"/>
              <a:gd name="T7" fmla="*/ 438150 h 27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6" h="276">
                <a:moveTo>
                  <a:pt x="252" y="0"/>
                </a:moveTo>
                <a:lnTo>
                  <a:pt x="0" y="0"/>
                </a:lnTo>
                <a:lnTo>
                  <a:pt x="0" y="276"/>
                </a:lnTo>
                <a:lnTo>
                  <a:pt x="336" y="276"/>
                </a:lnTo>
              </a:path>
            </a:pathLst>
          </a:custGeom>
          <a:noFill/>
          <a:ln w="9525">
            <a:solidFill>
              <a:schemeClr val="tx1"/>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75" name="矩形 175216"/>
          <p:cNvSpPr>
            <a:spLocks noChangeArrowheads="1"/>
          </p:cNvSpPr>
          <p:nvPr/>
        </p:nvSpPr>
        <p:spPr bwMode="auto">
          <a:xfrm>
            <a:off x="6781800" y="6094414"/>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000">
                <a:latin typeface="Arial" panose="020B0604020202020204" pitchFamily="34" charset="0"/>
              </a:rPr>
              <a:t>接收到信号</a:t>
            </a:r>
            <a:endParaRPr lang="zh-CN" altLang="en-US" sz="2000">
              <a:latin typeface="Arial" panose="020B0604020202020204" pitchFamily="34" charset="0"/>
            </a:endParaRPr>
          </a:p>
        </p:txBody>
      </p:sp>
      <p:sp>
        <p:nvSpPr>
          <p:cNvPr id="14340" name="矩形 14339"/>
          <p:cNvSpPr/>
          <p:nvPr/>
        </p:nvSpPr>
        <p:spPr>
          <a:xfrm>
            <a:off x="2912961" y="190501"/>
            <a:ext cx="8186738" cy="576263"/>
          </a:xfrm>
          <a:prstGeom prst="rect">
            <a:avLst/>
          </a:prstGeom>
          <a:noFill/>
          <a:ln w="9525">
            <a:noFill/>
          </a:ln>
        </p:spPr>
        <p:txBody>
          <a:bodyPr anchor="b"/>
          <a:lstStyle/>
          <a:p>
            <a:pPr eaLnBrk="1" hangingPunct="1">
              <a:buFont typeface="Arial" panose="020B0604020202020204" pitchFamily="34" charset="0"/>
              <a:buNone/>
              <a:defRPr/>
            </a:pPr>
            <a:r>
              <a:rPr lang="zh-CN" altLang="en-US" sz="2800" b="1" noProof="1">
                <a:solidFill>
                  <a:srgbClr val="FF0000"/>
                </a:solidFill>
                <a:latin typeface="Times New Roman" panose="02020603050405020304" pitchFamily="18" charset="0"/>
                <a:cs typeface="+mn-ea"/>
              </a:rPr>
              <a:t>工作原理</a:t>
            </a:r>
            <a:r>
              <a:rPr lang="en-US" altLang="zh-CN" sz="2800" b="1" noProof="1">
                <a:solidFill>
                  <a:srgbClr val="FF0000"/>
                </a:solidFill>
                <a:latin typeface="Times New Roman" panose="02020603050405020304" pitchFamily="18" charset="0"/>
                <a:cs typeface="+mn-ea"/>
              </a:rPr>
              <a:t>—</a:t>
            </a:r>
            <a:r>
              <a:rPr lang="zh-CN" altLang="en-US" sz="2800" b="1" noProof="1">
                <a:solidFill>
                  <a:srgbClr val="FF0000"/>
                </a:solidFill>
                <a:latin typeface="Times New Roman" panose="02020603050405020304" pitchFamily="18" charset="0"/>
                <a:cs typeface="+mn-ea"/>
              </a:rPr>
              <a:t>磁性天线（</a:t>
            </a:r>
            <a:r>
              <a:rPr lang="en-US" altLang="zh-CN" sz="2800" b="1" noProof="1">
                <a:solidFill>
                  <a:srgbClr val="FF0000"/>
                </a:solidFill>
                <a:latin typeface="Times New Roman" panose="02020603050405020304" pitchFamily="18" charset="0"/>
                <a:cs typeface="+mn-ea"/>
              </a:rPr>
              <a:t>T1</a:t>
            </a:r>
            <a:r>
              <a:rPr lang="zh-CN" altLang="en-US" sz="2800" b="1" noProof="1">
                <a:solidFill>
                  <a:srgbClr val="FF0000"/>
                </a:solidFill>
                <a:latin typeface="Times New Roman" panose="02020603050405020304" pitchFamily="18" charset="0"/>
                <a:cs typeface="+mn-ea"/>
              </a:rPr>
              <a:t>）与输入调谐（</a:t>
            </a:r>
            <a:r>
              <a:rPr lang="en-US" altLang="zh-CN" sz="2800" b="1" noProof="1">
                <a:solidFill>
                  <a:srgbClr val="FF0000"/>
                </a:solidFill>
                <a:latin typeface="Times New Roman" panose="02020603050405020304" pitchFamily="18" charset="0"/>
                <a:cs typeface="+mn-ea"/>
              </a:rPr>
              <a:t>C</a:t>
            </a:r>
            <a:r>
              <a:rPr lang="en-US" altLang="zh-CN" sz="2800" b="1" baseline="-25000" noProof="1">
                <a:solidFill>
                  <a:srgbClr val="FF0000"/>
                </a:solidFill>
                <a:latin typeface="Times New Roman" panose="02020603050405020304" pitchFamily="18" charset="0"/>
                <a:cs typeface="+mn-ea"/>
              </a:rPr>
              <a:t>A</a:t>
            </a:r>
            <a:r>
              <a:rPr lang="zh-CN" altLang="en-US" sz="2800" b="1" noProof="1">
                <a:solidFill>
                  <a:srgbClr val="FF0000"/>
                </a:solidFill>
                <a:latin typeface="Times New Roman" panose="02020603050405020304" pitchFamily="18" charset="0"/>
                <a:cs typeface="+mn-ea"/>
              </a:rPr>
              <a:t>）</a:t>
            </a:r>
            <a:endParaRPr lang="zh-CN" altLang="en-US" sz="2800" b="1" noProof="1">
              <a:solidFill>
                <a:srgbClr val="FF0000"/>
              </a:solidFill>
              <a:latin typeface="Times New Roman" panose="02020603050405020304" pitchFamily="18" charset="0"/>
            </a:endParaRPr>
          </a:p>
        </p:txBody>
      </p:sp>
      <p:pic>
        <p:nvPicPr>
          <p:cNvPr id="35877"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10600" y="1846264"/>
            <a:ext cx="161925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diamond(in)">
                                      <p:cBhvr>
                                        <p:cTn id="7" dur="2000"/>
                                        <p:tgtEl>
                                          <p:spTgt spid="14340"/>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184528"/>
          <p:cNvSpPr>
            <a:spLocks noChangeArrowheads="1"/>
          </p:cNvSpPr>
          <p:nvPr/>
        </p:nvSpPr>
        <p:spPr bwMode="auto">
          <a:xfrm>
            <a:off x="1600200" y="1066801"/>
            <a:ext cx="89931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400" b="1">
                <a:latin typeface="Arial" panose="020B0604020202020204" pitchFamily="34" charset="0"/>
                <a:sym typeface="Arial" panose="020B0604020202020204" pitchFamily="34" charset="0"/>
              </a:rPr>
              <a:t>在超外差收音机中，用一只晶体管同时产生本振信号和完成混频工作，这种电路称为变频。</a:t>
            </a:r>
            <a:endParaRPr lang="zh-CN" altLang="en-US" sz="2400" b="1">
              <a:latin typeface="Arial" panose="020B0604020202020204" pitchFamily="34" charset="0"/>
            </a:endParaRPr>
          </a:p>
          <a:p>
            <a:r>
              <a:rPr lang="zh-CN" altLang="en-US" sz="2400" b="1">
                <a:latin typeface="Arial" panose="020B0604020202020204" pitchFamily="34" charset="0"/>
              </a:rPr>
              <a:t>作用：将天线回路的高频调幅信号变成频率固定的中频调幅信号原理：利用晶体管的非线性特性，对输入信号的频率进行合成，</a:t>
            </a:r>
            <a:r>
              <a:rPr lang="zh-CN" altLang="en-US" sz="2400" b="1">
                <a:latin typeface="Arial" panose="020B0604020202020204" pitchFamily="34" charset="0"/>
                <a:sym typeface="Arial" panose="020B0604020202020204" pitchFamily="34" charset="0"/>
              </a:rPr>
              <a:t>得到多个频率不同的输出信号，并通过选频回路选择所需要的信号。</a:t>
            </a:r>
            <a:endParaRPr lang="zh-CN" altLang="en-US" sz="2400" b="1">
              <a:latin typeface="Arial" panose="020B0604020202020204" pitchFamily="34" charset="0"/>
            </a:endParaRPr>
          </a:p>
        </p:txBody>
      </p:sp>
      <p:sp>
        <p:nvSpPr>
          <p:cNvPr id="12292" name="矩形 12291"/>
          <p:cNvSpPr>
            <a:spLocks noChangeArrowheads="1"/>
          </p:cNvSpPr>
          <p:nvPr/>
        </p:nvSpPr>
        <p:spPr bwMode="auto">
          <a:xfrm>
            <a:off x="2777613" y="180183"/>
            <a:ext cx="799623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800" b="1">
                <a:solidFill>
                  <a:srgbClr val="FF0000"/>
                </a:solidFill>
                <a:latin typeface="Times New Roman" panose="02020603050405020304" pitchFamily="18" charset="0"/>
              </a:rPr>
              <a:t>工作原理</a:t>
            </a:r>
            <a:r>
              <a:rPr lang="en-US" altLang="zh-CN" sz="2800" b="1">
                <a:solidFill>
                  <a:srgbClr val="FF0000"/>
                </a:solidFill>
                <a:latin typeface="Times New Roman" panose="02020603050405020304" pitchFamily="18" charset="0"/>
              </a:rPr>
              <a:t>——</a:t>
            </a:r>
            <a:r>
              <a:rPr lang="zh-CN" altLang="en-US" sz="2800" b="1">
                <a:solidFill>
                  <a:srgbClr val="FF0000"/>
                </a:solidFill>
                <a:latin typeface="Times New Roman" panose="02020603050405020304" pitchFamily="18" charset="0"/>
              </a:rPr>
              <a:t>变频电路（BG1、CB、</a:t>
            </a:r>
            <a:r>
              <a:rPr lang="en-US" altLang="zh-CN" sz="2800" b="1">
                <a:solidFill>
                  <a:srgbClr val="FF0000"/>
                </a:solidFill>
                <a:latin typeface="Times New Roman" panose="02020603050405020304" pitchFamily="18" charset="0"/>
              </a:rPr>
              <a:t>T</a:t>
            </a:r>
            <a:r>
              <a:rPr lang="zh-CN" altLang="en-US" sz="2800" b="1">
                <a:solidFill>
                  <a:srgbClr val="FF0000"/>
                </a:solidFill>
                <a:latin typeface="Times New Roman" panose="02020603050405020304" pitchFamily="18" charset="0"/>
              </a:rPr>
              <a:t>2、</a:t>
            </a:r>
            <a:r>
              <a:rPr lang="en-US" altLang="zh-CN" sz="2800" b="1">
                <a:solidFill>
                  <a:srgbClr val="FF0000"/>
                </a:solidFill>
                <a:latin typeface="Times New Roman" panose="02020603050405020304" pitchFamily="18" charset="0"/>
              </a:rPr>
              <a:t>T</a:t>
            </a:r>
            <a:r>
              <a:rPr lang="zh-CN" altLang="en-US" sz="2800" b="1">
                <a:solidFill>
                  <a:srgbClr val="FF0000"/>
                </a:solidFill>
                <a:latin typeface="Times New Roman" panose="02020603050405020304" pitchFamily="18" charset="0"/>
              </a:rPr>
              <a:t>3）</a:t>
            </a:r>
            <a:endParaRPr lang="zh-CN" altLang="en-US" sz="2800" b="1">
              <a:solidFill>
                <a:srgbClr val="FF0000"/>
              </a:solidFill>
              <a:latin typeface="Times New Roman" panose="02020603050405020304" pitchFamily="18" charset="0"/>
            </a:endParaRPr>
          </a:p>
        </p:txBody>
      </p:sp>
      <p:pic>
        <p:nvPicPr>
          <p:cNvPr id="36868" name="图片 133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46626" y="3157538"/>
            <a:ext cx="3306763" cy="293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文本框 1"/>
          <p:cNvSpPr txBox="1">
            <a:spLocks noChangeArrowheads="1"/>
          </p:cNvSpPr>
          <p:nvPr/>
        </p:nvSpPr>
        <p:spPr bwMode="auto">
          <a:xfrm>
            <a:off x="7620001" y="4648200"/>
            <a:ext cx="3006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lgn="ctr"/>
            <a:r>
              <a:rPr lang="en-US" altLang="zh-CN" sz="2400" b="1" i="1">
                <a:solidFill>
                  <a:srgbClr val="FF3300"/>
                </a:solidFill>
                <a:latin typeface="Times New Roman" panose="02020603050405020304" pitchFamily="18" charset="0"/>
              </a:rPr>
              <a:t>f</a:t>
            </a:r>
            <a:r>
              <a:rPr lang="zh-CN" altLang="en-US" sz="2400" b="1" baseline="-25000">
                <a:solidFill>
                  <a:srgbClr val="FF3300"/>
                </a:solidFill>
                <a:latin typeface="Times New Roman" panose="02020603050405020304" pitchFamily="18" charset="0"/>
              </a:rPr>
              <a:t>中频</a:t>
            </a:r>
            <a:r>
              <a:rPr lang="en-US" altLang="zh-CN" sz="2400" b="1" i="1">
                <a:solidFill>
                  <a:srgbClr val="FF3300"/>
                </a:solidFill>
                <a:latin typeface="Times New Roman" panose="02020603050405020304" pitchFamily="18" charset="0"/>
              </a:rPr>
              <a:t>= </a:t>
            </a:r>
            <a:r>
              <a:rPr lang="en-US" altLang="zh-CN" sz="2400" i="1">
                <a:latin typeface="Times New Roman" panose="02020603050405020304" pitchFamily="18" charset="0"/>
              </a:rPr>
              <a:t>f</a:t>
            </a:r>
            <a:r>
              <a:rPr lang="en-US" altLang="zh-CN" sz="2400" baseline="-25000">
                <a:latin typeface="Times New Roman" panose="02020603050405020304" pitchFamily="18" charset="0"/>
              </a:rPr>
              <a:t>0 </a:t>
            </a:r>
            <a:r>
              <a:rPr lang="en-US" altLang="zh-CN" sz="2400">
                <a:latin typeface="Times New Roman" panose="02020603050405020304" pitchFamily="18" charset="0"/>
              </a:rPr>
              <a:t>- </a:t>
            </a:r>
            <a:r>
              <a:rPr lang="en-US" altLang="zh-CN" sz="2400" i="1">
                <a:latin typeface="Times New Roman" panose="02020603050405020304" pitchFamily="18" charset="0"/>
              </a:rPr>
              <a:t>f </a:t>
            </a:r>
            <a:r>
              <a:rPr lang="en-US" altLang="zh-CN" sz="2400" baseline="-25000">
                <a:latin typeface="Times New Roman" panose="02020603050405020304" pitchFamily="18" charset="0"/>
              </a:rPr>
              <a:t>s </a:t>
            </a:r>
            <a:r>
              <a:rPr lang="en-US" altLang="zh-CN" sz="2400">
                <a:latin typeface="Times New Roman" panose="02020603050405020304" pitchFamily="18" charset="0"/>
              </a:rPr>
              <a:t>=465kHz</a:t>
            </a:r>
            <a:endParaRPr lang="en-US" altLang="zh-CN" sz="2400">
              <a:latin typeface="Times New Roman" panose="02020603050405020304" pitchFamily="18" charset="0"/>
            </a:endParaRPr>
          </a:p>
        </p:txBody>
      </p:sp>
      <p:sp>
        <p:nvSpPr>
          <p:cNvPr id="36870" name="右箭头 2"/>
          <p:cNvSpPr>
            <a:spLocks noChangeArrowheads="1"/>
          </p:cNvSpPr>
          <p:nvPr/>
        </p:nvSpPr>
        <p:spPr bwMode="auto">
          <a:xfrm>
            <a:off x="7467601" y="4648200"/>
            <a:ext cx="428625" cy="114300"/>
          </a:xfrm>
          <a:prstGeom prst="rightArrow">
            <a:avLst>
              <a:gd name="adj1" fmla="val 50000"/>
              <a:gd name="adj2" fmla="val 93750"/>
            </a:avLst>
          </a:prstGeom>
          <a:solidFill>
            <a:srgbClr val="00FF00"/>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p>
        </p:txBody>
      </p:sp>
      <p:sp>
        <p:nvSpPr>
          <p:cNvPr id="36871" name="矩形 3"/>
          <p:cNvSpPr>
            <a:spLocks noChangeArrowheads="1"/>
          </p:cNvSpPr>
          <p:nvPr/>
        </p:nvSpPr>
        <p:spPr bwMode="auto">
          <a:xfrm>
            <a:off x="8382001" y="3657601"/>
            <a:ext cx="1400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i="1">
                <a:latin typeface="Times New Roman" panose="02020603050405020304" pitchFamily="18" charset="0"/>
              </a:rPr>
              <a:t>f</a:t>
            </a:r>
            <a:r>
              <a:rPr lang="en-US" altLang="zh-CN" baseline="-25000">
                <a:latin typeface="Times New Roman" panose="02020603050405020304" pitchFamily="18" charset="0"/>
              </a:rPr>
              <a:t>0</a:t>
            </a:r>
            <a:r>
              <a:rPr lang="en-US" altLang="zh-CN">
                <a:latin typeface="Times New Roman" panose="02020603050405020304" pitchFamily="18" charset="0"/>
                <a:cs typeface="Times New Roman" panose="02020603050405020304" pitchFamily="18" charset="0"/>
              </a:rPr>
              <a:t>'</a:t>
            </a:r>
            <a:r>
              <a:rPr lang="en-US" altLang="zh-CN">
                <a:latin typeface="Arial" panose="020B0604020202020204" pitchFamily="34" charset="0"/>
              </a:rPr>
              <a:t> = 465kHz</a:t>
            </a:r>
            <a:endParaRPr lang="zh-CN" altLang="en-US">
              <a:latin typeface="Arial" panose="020B0604020202020204" pitchFamily="34" charset="0"/>
            </a:endParaRPr>
          </a:p>
        </p:txBody>
      </p:sp>
      <p:sp>
        <p:nvSpPr>
          <p:cNvPr id="36872" name="直接连接符 4"/>
          <p:cNvSpPr>
            <a:spLocks noChangeShapeType="1"/>
          </p:cNvSpPr>
          <p:nvPr/>
        </p:nvSpPr>
        <p:spPr bwMode="auto">
          <a:xfrm flipH="1">
            <a:off x="7086600" y="3886200"/>
            <a:ext cx="1176338" cy="363538"/>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873" name="文本框 5"/>
          <p:cNvSpPr txBox="1">
            <a:spLocks noChangeArrowheads="1"/>
          </p:cNvSpPr>
          <p:nvPr/>
        </p:nvSpPr>
        <p:spPr bwMode="auto">
          <a:xfrm>
            <a:off x="3810000" y="4419600"/>
            <a:ext cx="5905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lgn="r"/>
            <a:r>
              <a:rPr lang="en-US" altLang="zh-CN" sz="2400" b="1" i="1">
                <a:solidFill>
                  <a:srgbClr val="FF00FF"/>
                </a:solidFill>
                <a:latin typeface="Times New Roman" panose="02020603050405020304" pitchFamily="18" charset="0"/>
              </a:rPr>
              <a:t>f</a:t>
            </a:r>
            <a:r>
              <a:rPr lang="en-US" altLang="zh-CN" sz="2400" b="1" baseline="-25000">
                <a:solidFill>
                  <a:srgbClr val="FF00FF"/>
                </a:solidFill>
                <a:latin typeface="Times New Roman" panose="02020603050405020304" pitchFamily="18" charset="0"/>
              </a:rPr>
              <a:t>s</a:t>
            </a:r>
            <a:endParaRPr lang="en-US" altLang="zh-CN" sz="2400" b="1" baseline="-25000">
              <a:solidFill>
                <a:srgbClr val="FF00FF"/>
              </a:solidFill>
              <a:latin typeface="Times New Roman" panose="02020603050405020304" pitchFamily="18" charset="0"/>
            </a:endParaRPr>
          </a:p>
        </p:txBody>
      </p:sp>
      <p:sp>
        <p:nvSpPr>
          <p:cNvPr id="36874" name="右箭头 6"/>
          <p:cNvSpPr>
            <a:spLocks noChangeArrowheads="1"/>
          </p:cNvSpPr>
          <p:nvPr/>
        </p:nvSpPr>
        <p:spPr bwMode="auto">
          <a:xfrm>
            <a:off x="4648201" y="4572000"/>
            <a:ext cx="428625" cy="114300"/>
          </a:xfrm>
          <a:prstGeom prst="rightArrow">
            <a:avLst>
              <a:gd name="adj1" fmla="val 50000"/>
              <a:gd name="adj2" fmla="val 93750"/>
            </a:avLst>
          </a:prstGeom>
          <a:solidFill>
            <a:srgbClr val="00FF00"/>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p>
        </p:txBody>
      </p:sp>
      <p:sp>
        <p:nvSpPr>
          <p:cNvPr id="36875" name="文本框 7"/>
          <p:cNvSpPr txBox="1">
            <a:spLocks noChangeArrowheads="1"/>
          </p:cNvSpPr>
          <p:nvPr/>
        </p:nvSpPr>
        <p:spPr bwMode="auto">
          <a:xfrm>
            <a:off x="6324601" y="6096000"/>
            <a:ext cx="5619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lgn="ctr"/>
            <a:r>
              <a:rPr lang="en-US" altLang="zh-CN" sz="2400" b="1" i="1">
                <a:solidFill>
                  <a:srgbClr val="FF3300"/>
                </a:solidFill>
                <a:latin typeface="Times New Roman" panose="02020603050405020304" pitchFamily="18" charset="0"/>
              </a:rPr>
              <a:t>f</a:t>
            </a:r>
            <a:r>
              <a:rPr lang="en-US" altLang="zh-CN" sz="2400" b="1" baseline="-25000">
                <a:solidFill>
                  <a:srgbClr val="FF3300"/>
                </a:solidFill>
                <a:latin typeface="Times New Roman" panose="02020603050405020304" pitchFamily="18" charset="0"/>
              </a:rPr>
              <a:t>0</a:t>
            </a:r>
            <a:endParaRPr lang="en-US" altLang="zh-CN" sz="2400" b="1" baseline="-25000">
              <a:solidFill>
                <a:srgbClr val="FF3300"/>
              </a:solidFill>
              <a:latin typeface="Times New Roman" panose="02020603050405020304" pitchFamily="18" charset="0"/>
            </a:endParaRPr>
          </a:p>
        </p:txBody>
      </p:sp>
      <p:sp>
        <p:nvSpPr>
          <p:cNvPr id="36876" name="上箭头 8"/>
          <p:cNvSpPr>
            <a:spLocks noChangeArrowheads="1"/>
          </p:cNvSpPr>
          <p:nvPr/>
        </p:nvSpPr>
        <p:spPr bwMode="auto">
          <a:xfrm>
            <a:off x="6553200" y="5638801"/>
            <a:ext cx="133350" cy="276225"/>
          </a:xfrm>
          <a:prstGeom prst="upArrow">
            <a:avLst>
              <a:gd name="adj1" fmla="val 50000"/>
              <a:gd name="adj2" fmla="val 51767"/>
            </a:avLst>
          </a:prstGeom>
          <a:solidFill>
            <a:srgbClr val="FF0000"/>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diamond(in)">
                                      <p:cBhvr>
                                        <p:cTn id="7" dur="2000"/>
                                        <p:tgtEl>
                                          <p:spTgt spid="12292"/>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矩形 15362"/>
          <p:cNvSpPr>
            <a:spLocks noChangeArrowheads="1"/>
          </p:cNvSpPr>
          <p:nvPr/>
        </p:nvSpPr>
        <p:spPr bwMode="auto">
          <a:xfrm>
            <a:off x="2735826" y="233517"/>
            <a:ext cx="79248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3200" b="1" dirty="0">
                <a:solidFill>
                  <a:srgbClr val="FF0000"/>
                </a:solidFill>
                <a:latin typeface="Times New Roman" panose="02020603050405020304" pitchFamily="18" charset="0"/>
              </a:rPr>
              <a:t>工作原理</a:t>
            </a:r>
            <a:r>
              <a:rPr lang="en-US" altLang="zh-CN" sz="3200" b="1" dirty="0">
                <a:solidFill>
                  <a:srgbClr val="FF0000"/>
                </a:solidFill>
                <a:latin typeface="Times New Roman" panose="02020603050405020304" pitchFamily="18" charset="0"/>
              </a:rPr>
              <a:t>——</a:t>
            </a:r>
            <a:r>
              <a:rPr lang="zh-CN" altLang="en-US" sz="3200" b="1" dirty="0">
                <a:solidFill>
                  <a:srgbClr val="FF0000"/>
                </a:solidFill>
                <a:latin typeface="Times New Roman" panose="02020603050405020304" pitchFamily="18" charset="0"/>
              </a:rPr>
              <a:t>中频放大电路（</a:t>
            </a:r>
            <a:r>
              <a:rPr lang="en-US" altLang="zh-CN" sz="3200" b="1" dirty="0">
                <a:solidFill>
                  <a:srgbClr val="FF0000"/>
                </a:solidFill>
                <a:latin typeface="Times New Roman" panose="02020603050405020304" pitchFamily="18" charset="0"/>
              </a:rPr>
              <a:t>VT2</a:t>
            </a:r>
            <a:r>
              <a:rPr lang="zh-CN" altLang="en-US" sz="3200" b="1" dirty="0">
                <a:solidFill>
                  <a:srgbClr val="FF0000"/>
                </a:solidFill>
                <a:latin typeface="Times New Roman" panose="02020603050405020304" pitchFamily="18" charset="0"/>
              </a:rPr>
              <a:t>、  </a:t>
            </a:r>
            <a:r>
              <a:rPr lang="en-US" altLang="zh-CN" sz="3200" b="1" dirty="0">
                <a:solidFill>
                  <a:srgbClr val="FF0000"/>
                </a:solidFill>
                <a:latin typeface="Times New Roman" panose="02020603050405020304" pitchFamily="18" charset="0"/>
              </a:rPr>
              <a:t>T4</a:t>
            </a:r>
            <a:r>
              <a:rPr lang="zh-CN" altLang="en-US" sz="3200" b="1" dirty="0">
                <a:solidFill>
                  <a:srgbClr val="FF0000"/>
                </a:solidFill>
                <a:latin typeface="Times New Roman" panose="02020603050405020304" pitchFamily="18" charset="0"/>
              </a:rPr>
              <a:t>） </a:t>
            </a:r>
            <a:endParaRPr lang="zh-CN" altLang="en-US" sz="3200" b="1" dirty="0">
              <a:solidFill>
                <a:srgbClr val="FF0000"/>
              </a:solidFill>
              <a:latin typeface="Times New Roman" panose="02020603050405020304" pitchFamily="18" charset="0"/>
            </a:endParaRPr>
          </a:p>
        </p:txBody>
      </p:sp>
      <p:sp>
        <p:nvSpPr>
          <p:cNvPr id="37891" name="矩形 184528"/>
          <p:cNvSpPr>
            <a:spLocks noChangeArrowheads="1"/>
          </p:cNvSpPr>
          <p:nvPr/>
        </p:nvSpPr>
        <p:spPr bwMode="auto">
          <a:xfrm>
            <a:off x="1600200" y="1066801"/>
            <a:ext cx="4343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400" b="1">
                <a:latin typeface="Arial" panose="020B0604020202020204" pitchFamily="34" charset="0"/>
                <a:sym typeface="Arial" panose="020B0604020202020204" pitchFamily="34" charset="0"/>
              </a:rPr>
              <a:t>在超外差收音机中，为了实现中放级的幅频特性，通常由</a:t>
            </a:r>
            <a:r>
              <a:rPr lang="en-US" altLang="zh-CN" sz="2400" b="1">
                <a:latin typeface="Arial" panose="020B0604020202020204" pitchFamily="34" charset="0"/>
                <a:sym typeface="Arial" panose="020B0604020202020204" pitchFamily="34" charset="0"/>
              </a:rPr>
              <a:t>LC</a:t>
            </a:r>
            <a:r>
              <a:rPr lang="zh-CN" altLang="en-US" sz="2400" b="1">
                <a:latin typeface="Arial" panose="020B0604020202020204" pitchFamily="34" charset="0"/>
                <a:sym typeface="Arial" panose="020B0604020202020204" pitchFamily="34" charset="0"/>
              </a:rPr>
              <a:t>并联谐振回路为负载的选频放大器组成，级间采用变压器耦合方式。</a:t>
            </a:r>
            <a:endParaRPr lang="zh-CN" altLang="en-US" sz="2400" b="1">
              <a:latin typeface="Arial" panose="020B0604020202020204" pitchFamily="34" charset="0"/>
            </a:endParaRPr>
          </a:p>
          <a:p>
            <a:r>
              <a:rPr lang="zh-CN" altLang="en-US" sz="2400" b="1">
                <a:latin typeface="Arial" panose="020B0604020202020204" pitchFamily="34" charset="0"/>
              </a:rPr>
              <a:t>作用：将中频信号进行放大。</a:t>
            </a:r>
            <a:endParaRPr lang="en-US" altLang="zh-CN" sz="2400" b="1">
              <a:latin typeface="Arial" panose="020B0604020202020204" pitchFamily="34" charset="0"/>
            </a:endParaRPr>
          </a:p>
          <a:p>
            <a:r>
              <a:rPr lang="zh-CN" altLang="en-US" sz="2400" b="1">
                <a:latin typeface="Arial" panose="020B0604020202020204" pitchFamily="34" charset="0"/>
              </a:rPr>
              <a:t>要求：有足够的中放增益；有合适的通频带（</a:t>
            </a:r>
            <a:r>
              <a:rPr lang="en-US" altLang="zh-CN" sz="2400" b="1">
                <a:latin typeface="Arial" panose="020B0604020202020204" pitchFamily="34" charset="0"/>
              </a:rPr>
              <a:t>10kHz</a:t>
            </a:r>
            <a:r>
              <a:rPr lang="zh-CN" altLang="en-US" sz="2400" b="1">
                <a:latin typeface="Arial" panose="020B0604020202020204" pitchFamily="34" charset="0"/>
              </a:rPr>
              <a:t>）；</a:t>
            </a:r>
            <a:endParaRPr lang="zh-CN" altLang="en-US" sz="2400" b="1">
              <a:latin typeface="Arial" panose="020B0604020202020204" pitchFamily="34" charset="0"/>
            </a:endParaRPr>
          </a:p>
        </p:txBody>
      </p:sp>
      <p:pic>
        <p:nvPicPr>
          <p:cNvPr id="37892"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10400" y="1219200"/>
            <a:ext cx="2971800" cy="510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diamond(in)">
                                      <p:cBhvr>
                                        <p:cTn id="7" dur="2000"/>
                                        <p:tgtEl>
                                          <p:spTgt spid="15363"/>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任意多边形 16385"/>
          <p:cNvSpPr>
            <a:spLocks noChangeArrowheads="1"/>
          </p:cNvSpPr>
          <p:nvPr/>
        </p:nvSpPr>
        <p:spPr bwMode="auto">
          <a:xfrm>
            <a:off x="7529513" y="2411413"/>
            <a:ext cx="2343150" cy="677862"/>
          </a:xfrm>
          <a:custGeom>
            <a:avLst/>
            <a:gdLst>
              <a:gd name="T0" fmla="*/ 0 w 1476"/>
              <a:gd name="T1" fmla="*/ 447675 h 427"/>
              <a:gd name="T2" fmla="*/ 292100 w 1476"/>
              <a:gd name="T3" fmla="*/ 193675 h 427"/>
              <a:gd name="T4" fmla="*/ 736600 w 1476"/>
              <a:gd name="T5" fmla="*/ 3175 h 427"/>
              <a:gd name="T6" fmla="*/ 1231900 w 1476"/>
              <a:gd name="T7" fmla="*/ 212725 h 427"/>
              <a:gd name="T8" fmla="*/ 1593850 w 1476"/>
              <a:gd name="T9" fmla="*/ 479425 h 427"/>
              <a:gd name="T10" fmla="*/ 1797050 w 1476"/>
              <a:gd name="T11" fmla="*/ 619125 h 427"/>
              <a:gd name="T12" fmla="*/ 2019300 w 1476"/>
              <a:gd name="T13" fmla="*/ 638175 h 427"/>
              <a:gd name="T14" fmla="*/ 2343150 w 1476"/>
              <a:gd name="T15" fmla="*/ 377825 h 4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6" h="427">
                <a:moveTo>
                  <a:pt x="0" y="282"/>
                </a:moveTo>
                <a:cubicBezTo>
                  <a:pt x="53" y="225"/>
                  <a:pt x="107" y="169"/>
                  <a:pt x="184" y="122"/>
                </a:cubicBezTo>
                <a:cubicBezTo>
                  <a:pt x="261" y="75"/>
                  <a:pt x="365" y="0"/>
                  <a:pt x="464" y="2"/>
                </a:cubicBezTo>
                <a:cubicBezTo>
                  <a:pt x="563" y="4"/>
                  <a:pt x="686" y="84"/>
                  <a:pt x="776" y="134"/>
                </a:cubicBezTo>
                <a:cubicBezTo>
                  <a:pt x="866" y="184"/>
                  <a:pt x="945" y="259"/>
                  <a:pt x="1004" y="302"/>
                </a:cubicBezTo>
                <a:cubicBezTo>
                  <a:pt x="1063" y="345"/>
                  <a:pt x="1087" y="373"/>
                  <a:pt x="1132" y="390"/>
                </a:cubicBezTo>
                <a:cubicBezTo>
                  <a:pt x="1177" y="407"/>
                  <a:pt x="1215" y="427"/>
                  <a:pt x="1272" y="402"/>
                </a:cubicBezTo>
                <a:cubicBezTo>
                  <a:pt x="1329" y="377"/>
                  <a:pt x="1402" y="307"/>
                  <a:pt x="1476" y="238"/>
                </a:cubicBezTo>
              </a:path>
            </a:pathLst>
          </a:custGeom>
          <a:noFill/>
          <a:ln w="9525" cap="rnd">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15" name="任意多边形 16386"/>
          <p:cNvSpPr>
            <a:spLocks noChangeArrowheads="1"/>
          </p:cNvSpPr>
          <p:nvPr/>
        </p:nvSpPr>
        <p:spPr bwMode="auto">
          <a:xfrm flipV="1">
            <a:off x="7529513" y="3587751"/>
            <a:ext cx="2343150" cy="677863"/>
          </a:xfrm>
          <a:custGeom>
            <a:avLst/>
            <a:gdLst>
              <a:gd name="T0" fmla="*/ 0 w 1476"/>
              <a:gd name="T1" fmla="*/ 447675 h 427"/>
              <a:gd name="T2" fmla="*/ 292100 w 1476"/>
              <a:gd name="T3" fmla="*/ 193675 h 427"/>
              <a:gd name="T4" fmla="*/ 736600 w 1476"/>
              <a:gd name="T5" fmla="*/ 3175 h 427"/>
              <a:gd name="T6" fmla="*/ 1231900 w 1476"/>
              <a:gd name="T7" fmla="*/ 212725 h 427"/>
              <a:gd name="T8" fmla="*/ 1593850 w 1476"/>
              <a:gd name="T9" fmla="*/ 479425 h 427"/>
              <a:gd name="T10" fmla="*/ 1797050 w 1476"/>
              <a:gd name="T11" fmla="*/ 619125 h 427"/>
              <a:gd name="T12" fmla="*/ 2019300 w 1476"/>
              <a:gd name="T13" fmla="*/ 638175 h 427"/>
              <a:gd name="T14" fmla="*/ 2343150 w 1476"/>
              <a:gd name="T15" fmla="*/ 377825 h 42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476" h="427">
                <a:moveTo>
                  <a:pt x="0" y="282"/>
                </a:moveTo>
                <a:cubicBezTo>
                  <a:pt x="53" y="225"/>
                  <a:pt x="107" y="169"/>
                  <a:pt x="184" y="122"/>
                </a:cubicBezTo>
                <a:cubicBezTo>
                  <a:pt x="261" y="75"/>
                  <a:pt x="365" y="0"/>
                  <a:pt x="464" y="2"/>
                </a:cubicBezTo>
                <a:cubicBezTo>
                  <a:pt x="563" y="4"/>
                  <a:pt x="686" y="84"/>
                  <a:pt x="776" y="134"/>
                </a:cubicBezTo>
                <a:cubicBezTo>
                  <a:pt x="866" y="184"/>
                  <a:pt x="945" y="259"/>
                  <a:pt x="1004" y="302"/>
                </a:cubicBezTo>
                <a:cubicBezTo>
                  <a:pt x="1063" y="345"/>
                  <a:pt x="1087" y="373"/>
                  <a:pt x="1132" y="390"/>
                </a:cubicBezTo>
                <a:cubicBezTo>
                  <a:pt x="1177" y="407"/>
                  <a:pt x="1215" y="427"/>
                  <a:pt x="1272" y="402"/>
                </a:cubicBezTo>
                <a:cubicBezTo>
                  <a:pt x="1329" y="377"/>
                  <a:pt x="1402" y="307"/>
                  <a:pt x="1476" y="238"/>
                </a:cubicBezTo>
              </a:path>
            </a:pathLst>
          </a:custGeom>
          <a:noFill/>
          <a:ln w="9525" cap="rnd">
            <a:solidFill>
              <a:schemeClr val="tx1"/>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16" name="任意多边形 16387"/>
          <p:cNvSpPr>
            <a:spLocks noChangeArrowheads="1"/>
          </p:cNvSpPr>
          <p:nvPr/>
        </p:nvSpPr>
        <p:spPr bwMode="auto">
          <a:xfrm>
            <a:off x="7535863" y="2420938"/>
            <a:ext cx="2362200" cy="1835150"/>
          </a:xfrm>
          <a:custGeom>
            <a:avLst/>
            <a:gdLst>
              <a:gd name="T0" fmla="*/ 0 w 1488"/>
              <a:gd name="T1" fmla="*/ 876300 h 1156"/>
              <a:gd name="T2" fmla="*/ 88900 w 1488"/>
              <a:gd name="T3" fmla="*/ 330200 h 1156"/>
              <a:gd name="T4" fmla="*/ 190500 w 1488"/>
              <a:gd name="T5" fmla="*/ 1593850 h 1156"/>
              <a:gd name="T6" fmla="*/ 234950 w 1488"/>
              <a:gd name="T7" fmla="*/ 215900 h 1156"/>
              <a:gd name="T8" fmla="*/ 355600 w 1488"/>
              <a:gd name="T9" fmla="*/ 1695450 h 1156"/>
              <a:gd name="T10" fmla="*/ 412750 w 1488"/>
              <a:gd name="T11" fmla="*/ 101600 h 1156"/>
              <a:gd name="T12" fmla="*/ 546100 w 1488"/>
              <a:gd name="T13" fmla="*/ 1797050 h 1156"/>
              <a:gd name="T14" fmla="*/ 609600 w 1488"/>
              <a:gd name="T15" fmla="*/ 0 h 1156"/>
              <a:gd name="T16" fmla="*/ 730250 w 1488"/>
              <a:gd name="T17" fmla="*/ 1835150 h 1156"/>
              <a:gd name="T18" fmla="*/ 806450 w 1488"/>
              <a:gd name="T19" fmla="*/ 6350 h 1156"/>
              <a:gd name="T20" fmla="*/ 939800 w 1488"/>
              <a:gd name="T21" fmla="*/ 1771650 h 1156"/>
              <a:gd name="T22" fmla="*/ 1003300 w 1488"/>
              <a:gd name="T23" fmla="*/ 88900 h 1156"/>
              <a:gd name="T24" fmla="*/ 1162050 w 1488"/>
              <a:gd name="T25" fmla="*/ 1657350 h 1156"/>
              <a:gd name="T26" fmla="*/ 1200150 w 1488"/>
              <a:gd name="T27" fmla="*/ 209550 h 1156"/>
              <a:gd name="T28" fmla="*/ 1346200 w 1488"/>
              <a:gd name="T29" fmla="*/ 1543050 h 1156"/>
              <a:gd name="T30" fmla="*/ 1422400 w 1488"/>
              <a:gd name="T31" fmla="*/ 349250 h 1156"/>
              <a:gd name="T32" fmla="*/ 1517650 w 1488"/>
              <a:gd name="T33" fmla="*/ 1409700 h 1156"/>
              <a:gd name="T34" fmla="*/ 1606550 w 1488"/>
              <a:gd name="T35" fmla="*/ 495300 h 1156"/>
              <a:gd name="T36" fmla="*/ 1689100 w 1488"/>
              <a:gd name="T37" fmla="*/ 1282700 h 1156"/>
              <a:gd name="T38" fmla="*/ 1765300 w 1488"/>
              <a:gd name="T39" fmla="*/ 609600 h 1156"/>
              <a:gd name="T40" fmla="*/ 1854200 w 1488"/>
              <a:gd name="T41" fmla="*/ 1193800 h 1156"/>
              <a:gd name="T42" fmla="*/ 1917700 w 1488"/>
              <a:gd name="T43" fmla="*/ 647700 h 1156"/>
              <a:gd name="T44" fmla="*/ 2006600 w 1488"/>
              <a:gd name="T45" fmla="*/ 1200150 h 1156"/>
              <a:gd name="T46" fmla="*/ 2076450 w 1488"/>
              <a:gd name="T47" fmla="*/ 590550 h 1156"/>
              <a:gd name="T48" fmla="*/ 2159000 w 1488"/>
              <a:gd name="T49" fmla="*/ 1295400 h 1156"/>
              <a:gd name="T50" fmla="*/ 2209800 w 1488"/>
              <a:gd name="T51" fmla="*/ 482600 h 1156"/>
              <a:gd name="T52" fmla="*/ 2292350 w 1488"/>
              <a:gd name="T53" fmla="*/ 1416050 h 1156"/>
              <a:gd name="T54" fmla="*/ 2362200 w 1488"/>
              <a:gd name="T55" fmla="*/ 355600 h 115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488" h="1156">
                <a:moveTo>
                  <a:pt x="0" y="552"/>
                </a:moveTo>
                <a:lnTo>
                  <a:pt x="56" y="208"/>
                </a:lnTo>
                <a:lnTo>
                  <a:pt x="120" y="1004"/>
                </a:lnTo>
                <a:lnTo>
                  <a:pt x="148" y="136"/>
                </a:lnTo>
                <a:lnTo>
                  <a:pt x="224" y="1068"/>
                </a:lnTo>
                <a:lnTo>
                  <a:pt x="260" y="64"/>
                </a:lnTo>
                <a:lnTo>
                  <a:pt x="344" y="1132"/>
                </a:lnTo>
                <a:lnTo>
                  <a:pt x="384" y="0"/>
                </a:lnTo>
                <a:lnTo>
                  <a:pt x="460" y="1156"/>
                </a:lnTo>
                <a:lnTo>
                  <a:pt x="508" y="4"/>
                </a:lnTo>
                <a:lnTo>
                  <a:pt x="592" y="1116"/>
                </a:lnTo>
                <a:lnTo>
                  <a:pt x="632" y="56"/>
                </a:lnTo>
                <a:lnTo>
                  <a:pt x="732" y="1044"/>
                </a:lnTo>
                <a:lnTo>
                  <a:pt x="756" y="132"/>
                </a:lnTo>
                <a:lnTo>
                  <a:pt x="848" y="972"/>
                </a:lnTo>
                <a:lnTo>
                  <a:pt x="896" y="220"/>
                </a:lnTo>
                <a:lnTo>
                  <a:pt x="956" y="888"/>
                </a:lnTo>
                <a:lnTo>
                  <a:pt x="1012" y="312"/>
                </a:lnTo>
                <a:lnTo>
                  <a:pt x="1064" y="808"/>
                </a:lnTo>
                <a:lnTo>
                  <a:pt x="1112" y="384"/>
                </a:lnTo>
                <a:lnTo>
                  <a:pt x="1168" y="752"/>
                </a:lnTo>
                <a:lnTo>
                  <a:pt x="1208" y="408"/>
                </a:lnTo>
                <a:lnTo>
                  <a:pt x="1264" y="756"/>
                </a:lnTo>
                <a:lnTo>
                  <a:pt x="1308" y="372"/>
                </a:lnTo>
                <a:lnTo>
                  <a:pt x="1360" y="816"/>
                </a:lnTo>
                <a:lnTo>
                  <a:pt x="1392" y="304"/>
                </a:lnTo>
                <a:lnTo>
                  <a:pt x="1444" y="892"/>
                </a:lnTo>
                <a:lnTo>
                  <a:pt x="1488" y="224"/>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8917" name="组合 16388"/>
          <p:cNvGrpSpPr/>
          <p:nvPr/>
        </p:nvGrpSpPr>
        <p:grpSpPr bwMode="auto">
          <a:xfrm>
            <a:off x="7523164" y="2270125"/>
            <a:ext cx="2655887" cy="2078038"/>
            <a:chOff x="0" y="0"/>
            <a:chExt cx="1673" cy="1309"/>
          </a:xfrm>
        </p:grpSpPr>
        <p:sp>
          <p:nvSpPr>
            <p:cNvPr id="38930" name="直接连接符 16389"/>
            <p:cNvSpPr>
              <a:spLocks noChangeShapeType="1"/>
            </p:cNvSpPr>
            <p:nvPr/>
          </p:nvSpPr>
          <p:spPr bwMode="auto">
            <a:xfrm>
              <a:off x="10" y="662"/>
              <a:ext cx="1663" cy="0"/>
            </a:xfrm>
            <a:prstGeom prst="line">
              <a:avLst/>
            </a:prstGeom>
            <a:noFill/>
            <a:ln w="9525">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8931" name="直接连接符 16390"/>
            <p:cNvSpPr>
              <a:spLocks noChangeShapeType="1"/>
            </p:cNvSpPr>
            <p:nvPr/>
          </p:nvSpPr>
          <p:spPr bwMode="auto">
            <a:xfrm rot="-5400000">
              <a:off x="-649" y="655"/>
              <a:ext cx="1309" cy="0"/>
            </a:xfrm>
            <a:prstGeom prst="line">
              <a:avLst/>
            </a:prstGeom>
            <a:noFill/>
            <a:ln w="1270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8932" name="任意多边形 16391"/>
            <p:cNvSpPr>
              <a:spLocks noChangeArrowheads="1"/>
            </p:cNvSpPr>
            <p:nvPr/>
          </p:nvSpPr>
          <p:spPr bwMode="auto">
            <a:xfrm>
              <a:off x="0" y="127"/>
              <a:ext cx="1480" cy="464"/>
            </a:xfrm>
            <a:custGeom>
              <a:avLst/>
              <a:gdLst>
                <a:gd name="T0" fmla="*/ 0 w 1480"/>
                <a:gd name="T1" fmla="*/ 280 h 464"/>
                <a:gd name="T2" fmla="*/ 60 w 1480"/>
                <a:gd name="T3" fmla="*/ 188 h 464"/>
                <a:gd name="T4" fmla="*/ 144 w 1480"/>
                <a:gd name="T5" fmla="*/ 224 h 464"/>
                <a:gd name="T6" fmla="*/ 164 w 1480"/>
                <a:gd name="T7" fmla="*/ 136 h 464"/>
                <a:gd name="T8" fmla="*/ 260 w 1480"/>
                <a:gd name="T9" fmla="*/ 160 h 464"/>
                <a:gd name="T10" fmla="*/ 280 w 1480"/>
                <a:gd name="T11" fmla="*/ 64 h 464"/>
                <a:gd name="T12" fmla="*/ 388 w 1480"/>
                <a:gd name="T13" fmla="*/ 80 h 464"/>
                <a:gd name="T14" fmla="*/ 400 w 1480"/>
                <a:gd name="T15" fmla="*/ 0 h 464"/>
                <a:gd name="T16" fmla="*/ 512 w 1480"/>
                <a:gd name="T17" fmla="*/ 72 h 464"/>
                <a:gd name="T18" fmla="*/ 524 w 1480"/>
                <a:gd name="T19" fmla="*/ 0 h 464"/>
                <a:gd name="T20" fmla="*/ 636 w 1480"/>
                <a:gd name="T21" fmla="*/ 116 h 464"/>
                <a:gd name="T22" fmla="*/ 648 w 1480"/>
                <a:gd name="T23" fmla="*/ 60 h 464"/>
                <a:gd name="T24" fmla="*/ 760 w 1480"/>
                <a:gd name="T25" fmla="*/ 216 h 464"/>
                <a:gd name="T26" fmla="*/ 768 w 1480"/>
                <a:gd name="T27" fmla="*/ 148 h 464"/>
                <a:gd name="T28" fmla="*/ 896 w 1480"/>
                <a:gd name="T29" fmla="*/ 320 h 464"/>
                <a:gd name="T30" fmla="*/ 912 w 1480"/>
                <a:gd name="T31" fmla="*/ 240 h 464"/>
                <a:gd name="T32" fmla="*/ 1008 w 1480"/>
                <a:gd name="T33" fmla="*/ 400 h 464"/>
                <a:gd name="T34" fmla="*/ 1024 w 1480"/>
                <a:gd name="T35" fmla="*/ 332 h 464"/>
                <a:gd name="T36" fmla="*/ 1108 w 1480"/>
                <a:gd name="T37" fmla="*/ 452 h 464"/>
                <a:gd name="T38" fmla="*/ 1124 w 1480"/>
                <a:gd name="T39" fmla="*/ 392 h 464"/>
                <a:gd name="T40" fmla="*/ 1200 w 1480"/>
                <a:gd name="T41" fmla="*/ 464 h 464"/>
                <a:gd name="T42" fmla="*/ 1220 w 1480"/>
                <a:gd name="T43" fmla="*/ 412 h 464"/>
                <a:gd name="T44" fmla="*/ 1300 w 1480"/>
                <a:gd name="T45" fmla="*/ 456 h 464"/>
                <a:gd name="T46" fmla="*/ 1324 w 1480"/>
                <a:gd name="T47" fmla="*/ 384 h 464"/>
                <a:gd name="T48" fmla="*/ 1388 w 1480"/>
                <a:gd name="T49" fmla="*/ 420 h 464"/>
                <a:gd name="T50" fmla="*/ 1412 w 1480"/>
                <a:gd name="T51" fmla="*/ 316 h 464"/>
                <a:gd name="T52" fmla="*/ 1480 w 1480"/>
                <a:gd name="T53" fmla="*/ 324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480" h="464">
                  <a:moveTo>
                    <a:pt x="0" y="280"/>
                  </a:moveTo>
                  <a:lnTo>
                    <a:pt x="60" y="188"/>
                  </a:lnTo>
                  <a:lnTo>
                    <a:pt x="144" y="224"/>
                  </a:lnTo>
                  <a:lnTo>
                    <a:pt x="164" y="136"/>
                  </a:lnTo>
                  <a:lnTo>
                    <a:pt x="260" y="160"/>
                  </a:lnTo>
                  <a:lnTo>
                    <a:pt x="280" y="64"/>
                  </a:lnTo>
                  <a:lnTo>
                    <a:pt x="388" y="80"/>
                  </a:lnTo>
                  <a:lnTo>
                    <a:pt x="400" y="0"/>
                  </a:lnTo>
                  <a:lnTo>
                    <a:pt x="512" y="72"/>
                  </a:lnTo>
                  <a:lnTo>
                    <a:pt x="524" y="0"/>
                  </a:lnTo>
                  <a:lnTo>
                    <a:pt x="636" y="116"/>
                  </a:lnTo>
                  <a:lnTo>
                    <a:pt x="648" y="60"/>
                  </a:lnTo>
                  <a:lnTo>
                    <a:pt x="760" y="216"/>
                  </a:lnTo>
                  <a:lnTo>
                    <a:pt x="768" y="148"/>
                  </a:lnTo>
                  <a:lnTo>
                    <a:pt x="896" y="320"/>
                  </a:lnTo>
                  <a:lnTo>
                    <a:pt x="912" y="240"/>
                  </a:lnTo>
                  <a:lnTo>
                    <a:pt x="1008" y="400"/>
                  </a:lnTo>
                  <a:lnTo>
                    <a:pt x="1024" y="332"/>
                  </a:lnTo>
                  <a:lnTo>
                    <a:pt x="1108" y="452"/>
                  </a:lnTo>
                  <a:lnTo>
                    <a:pt x="1124" y="392"/>
                  </a:lnTo>
                  <a:lnTo>
                    <a:pt x="1200" y="464"/>
                  </a:lnTo>
                  <a:lnTo>
                    <a:pt x="1220" y="412"/>
                  </a:lnTo>
                  <a:lnTo>
                    <a:pt x="1300" y="456"/>
                  </a:lnTo>
                  <a:lnTo>
                    <a:pt x="1324" y="384"/>
                  </a:lnTo>
                  <a:lnTo>
                    <a:pt x="1388" y="420"/>
                  </a:lnTo>
                  <a:lnTo>
                    <a:pt x="1412" y="316"/>
                  </a:lnTo>
                  <a:lnTo>
                    <a:pt x="1480" y="324"/>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8918" name="组合 16392"/>
          <p:cNvGrpSpPr/>
          <p:nvPr/>
        </p:nvGrpSpPr>
        <p:grpSpPr bwMode="auto">
          <a:xfrm>
            <a:off x="7391400" y="4868864"/>
            <a:ext cx="2655888" cy="1316037"/>
            <a:chOff x="0" y="0"/>
            <a:chExt cx="1673" cy="829"/>
          </a:xfrm>
        </p:grpSpPr>
        <p:sp>
          <p:nvSpPr>
            <p:cNvPr id="38927" name="直接连接符 16393"/>
            <p:cNvSpPr>
              <a:spLocks noChangeShapeType="1"/>
            </p:cNvSpPr>
            <p:nvPr/>
          </p:nvSpPr>
          <p:spPr bwMode="auto">
            <a:xfrm>
              <a:off x="10" y="662"/>
              <a:ext cx="1663" cy="0"/>
            </a:xfrm>
            <a:prstGeom prst="line">
              <a:avLst/>
            </a:prstGeom>
            <a:noFill/>
            <a:ln w="9525">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8928" name="直接连接符 16394"/>
            <p:cNvSpPr>
              <a:spLocks noChangeShapeType="1"/>
            </p:cNvSpPr>
            <p:nvPr/>
          </p:nvSpPr>
          <p:spPr bwMode="auto">
            <a:xfrm rot="-5400000">
              <a:off x="-409" y="415"/>
              <a:ext cx="829" cy="0"/>
            </a:xfrm>
            <a:prstGeom prst="line">
              <a:avLst/>
            </a:prstGeom>
            <a:noFill/>
            <a:ln w="12700">
              <a:solidFill>
                <a:schemeClr val="tx1"/>
              </a:solidFill>
              <a:rou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8929" name="任意多边形 16395"/>
            <p:cNvSpPr>
              <a:spLocks noChangeArrowheads="1"/>
            </p:cNvSpPr>
            <p:nvPr/>
          </p:nvSpPr>
          <p:spPr bwMode="auto">
            <a:xfrm>
              <a:off x="0" y="127"/>
              <a:ext cx="1480" cy="464"/>
            </a:xfrm>
            <a:custGeom>
              <a:avLst/>
              <a:gdLst>
                <a:gd name="T0" fmla="*/ 0 w 1480"/>
                <a:gd name="T1" fmla="*/ 280 h 464"/>
                <a:gd name="T2" fmla="*/ 60 w 1480"/>
                <a:gd name="T3" fmla="*/ 188 h 464"/>
                <a:gd name="T4" fmla="*/ 144 w 1480"/>
                <a:gd name="T5" fmla="*/ 224 h 464"/>
                <a:gd name="T6" fmla="*/ 164 w 1480"/>
                <a:gd name="T7" fmla="*/ 136 h 464"/>
                <a:gd name="T8" fmla="*/ 260 w 1480"/>
                <a:gd name="T9" fmla="*/ 160 h 464"/>
                <a:gd name="T10" fmla="*/ 280 w 1480"/>
                <a:gd name="T11" fmla="*/ 64 h 464"/>
                <a:gd name="T12" fmla="*/ 388 w 1480"/>
                <a:gd name="T13" fmla="*/ 80 h 464"/>
                <a:gd name="T14" fmla="*/ 400 w 1480"/>
                <a:gd name="T15" fmla="*/ 0 h 464"/>
                <a:gd name="T16" fmla="*/ 512 w 1480"/>
                <a:gd name="T17" fmla="*/ 72 h 464"/>
                <a:gd name="T18" fmla="*/ 524 w 1480"/>
                <a:gd name="T19" fmla="*/ 0 h 464"/>
                <a:gd name="T20" fmla="*/ 636 w 1480"/>
                <a:gd name="T21" fmla="*/ 116 h 464"/>
                <a:gd name="T22" fmla="*/ 648 w 1480"/>
                <a:gd name="T23" fmla="*/ 60 h 464"/>
                <a:gd name="T24" fmla="*/ 760 w 1480"/>
                <a:gd name="T25" fmla="*/ 216 h 464"/>
                <a:gd name="T26" fmla="*/ 768 w 1480"/>
                <a:gd name="T27" fmla="*/ 148 h 464"/>
                <a:gd name="T28" fmla="*/ 896 w 1480"/>
                <a:gd name="T29" fmla="*/ 320 h 464"/>
                <a:gd name="T30" fmla="*/ 912 w 1480"/>
                <a:gd name="T31" fmla="*/ 240 h 464"/>
                <a:gd name="T32" fmla="*/ 1008 w 1480"/>
                <a:gd name="T33" fmla="*/ 400 h 464"/>
                <a:gd name="T34" fmla="*/ 1024 w 1480"/>
                <a:gd name="T35" fmla="*/ 332 h 464"/>
                <a:gd name="T36" fmla="*/ 1108 w 1480"/>
                <a:gd name="T37" fmla="*/ 452 h 464"/>
                <a:gd name="T38" fmla="*/ 1124 w 1480"/>
                <a:gd name="T39" fmla="*/ 392 h 464"/>
                <a:gd name="T40" fmla="*/ 1200 w 1480"/>
                <a:gd name="T41" fmla="*/ 464 h 464"/>
                <a:gd name="T42" fmla="*/ 1220 w 1480"/>
                <a:gd name="T43" fmla="*/ 412 h 464"/>
                <a:gd name="T44" fmla="*/ 1300 w 1480"/>
                <a:gd name="T45" fmla="*/ 456 h 464"/>
                <a:gd name="T46" fmla="*/ 1324 w 1480"/>
                <a:gd name="T47" fmla="*/ 384 h 464"/>
                <a:gd name="T48" fmla="*/ 1388 w 1480"/>
                <a:gd name="T49" fmla="*/ 420 h 464"/>
                <a:gd name="T50" fmla="*/ 1412 w 1480"/>
                <a:gd name="T51" fmla="*/ 316 h 464"/>
                <a:gd name="T52" fmla="*/ 1480 w 1480"/>
                <a:gd name="T53" fmla="*/ 324 h 46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480" h="464">
                  <a:moveTo>
                    <a:pt x="0" y="280"/>
                  </a:moveTo>
                  <a:lnTo>
                    <a:pt x="60" y="188"/>
                  </a:lnTo>
                  <a:lnTo>
                    <a:pt x="144" y="224"/>
                  </a:lnTo>
                  <a:lnTo>
                    <a:pt x="164" y="136"/>
                  </a:lnTo>
                  <a:lnTo>
                    <a:pt x="260" y="160"/>
                  </a:lnTo>
                  <a:lnTo>
                    <a:pt x="280" y="64"/>
                  </a:lnTo>
                  <a:lnTo>
                    <a:pt x="388" y="80"/>
                  </a:lnTo>
                  <a:lnTo>
                    <a:pt x="400" y="0"/>
                  </a:lnTo>
                  <a:lnTo>
                    <a:pt x="512" y="72"/>
                  </a:lnTo>
                  <a:lnTo>
                    <a:pt x="524" y="0"/>
                  </a:lnTo>
                  <a:lnTo>
                    <a:pt x="636" y="116"/>
                  </a:lnTo>
                  <a:lnTo>
                    <a:pt x="648" y="60"/>
                  </a:lnTo>
                  <a:lnTo>
                    <a:pt x="760" y="216"/>
                  </a:lnTo>
                  <a:lnTo>
                    <a:pt x="768" y="148"/>
                  </a:lnTo>
                  <a:lnTo>
                    <a:pt x="896" y="320"/>
                  </a:lnTo>
                  <a:lnTo>
                    <a:pt x="912" y="240"/>
                  </a:lnTo>
                  <a:lnTo>
                    <a:pt x="1008" y="400"/>
                  </a:lnTo>
                  <a:lnTo>
                    <a:pt x="1024" y="332"/>
                  </a:lnTo>
                  <a:lnTo>
                    <a:pt x="1108" y="452"/>
                  </a:lnTo>
                  <a:lnTo>
                    <a:pt x="1124" y="392"/>
                  </a:lnTo>
                  <a:lnTo>
                    <a:pt x="1200" y="464"/>
                  </a:lnTo>
                  <a:lnTo>
                    <a:pt x="1220" y="412"/>
                  </a:lnTo>
                  <a:lnTo>
                    <a:pt x="1300" y="456"/>
                  </a:lnTo>
                  <a:lnTo>
                    <a:pt x="1324" y="384"/>
                  </a:lnTo>
                  <a:lnTo>
                    <a:pt x="1388" y="420"/>
                  </a:lnTo>
                  <a:lnTo>
                    <a:pt x="1412" y="316"/>
                  </a:lnTo>
                  <a:lnTo>
                    <a:pt x="1480" y="324"/>
                  </a:lnTo>
                </a:path>
              </a:pathLst>
            </a:cu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8919" name="文本框 16396"/>
          <p:cNvSpPr txBox="1">
            <a:spLocks noChangeArrowheads="1"/>
          </p:cNvSpPr>
          <p:nvPr/>
        </p:nvSpPr>
        <p:spPr bwMode="auto">
          <a:xfrm>
            <a:off x="10091738" y="336550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a:latin typeface="Arial" panose="020B0604020202020204" pitchFamily="34" charset="0"/>
              </a:rPr>
              <a:t>T</a:t>
            </a:r>
            <a:endParaRPr lang="en-US" altLang="zh-CN">
              <a:latin typeface="Arial" panose="020B0604020202020204" pitchFamily="34" charset="0"/>
            </a:endParaRPr>
          </a:p>
        </p:txBody>
      </p:sp>
      <p:sp>
        <p:nvSpPr>
          <p:cNvPr id="38920" name="文本框 16397"/>
          <p:cNvSpPr txBox="1">
            <a:spLocks noChangeArrowheads="1"/>
          </p:cNvSpPr>
          <p:nvPr/>
        </p:nvSpPr>
        <p:spPr bwMode="auto">
          <a:xfrm>
            <a:off x="10056813" y="5734051"/>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a:latin typeface="Arial" panose="020B0604020202020204" pitchFamily="34" charset="0"/>
              </a:rPr>
              <a:t>T</a:t>
            </a:r>
            <a:endParaRPr lang="en-US" altLang="zh-CN">
              <a:latin typeface="Arial" panose="020B0604020202020204" pitchFamily="34" charset="0"/>
            </a:endParaRPr>
          </a:p>
        </p:txBody>
      </p:sp>
      <p:sp>
        <p:nvSpPr>
          <p:cNvPr id="38921" name="文本框 16398"/>
          <p:cNvSpPr txBox="1">
            <a:spLocks noChangeArrowheads="1"/>
          </p:cNvSpPr>
          <p:nvPr/>
        </p:nvSpPr>
        <p:spPr bwMode="auto">
          <a:xfrm>
            <a:off x="7058025" y="2127250"/>
            <a:ext cx="4381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i="1">
                <a:latin typeface="Times New Roman" panose="02020603050405020304" pitchFamily="18" charset="0"/>
              </a:rPr>
              <a:t>u</a:t>
            </a:r>
            <a:r>
              <a:rPr lang="en-US" altLang="zh-CN" baseline="-25000">
                <a:latin typeface="Times New Roman" panose="02020603050405020304" pitchFamily="18" charset="0"/>
              </a:rPr>
              <a:t>i</a:t>
            </a:r>
            <a:endParaRPr lang="en-US" altLang="zh-CN" baseline="-25000">
              <a:latin typeface="Times New Roman" panose="02020603050405020304" pitchFamily="18" charset="0"/>
            </a:endParaRPr>
          </a:p>
        </p:txBody>
      </p:sp>
      <p:sp>
        <p:nvSpPr>
          <p:cNvPr id="38922" name="文本框 16399"/>
          <p:cNvSpPr txBox="1">
            <a:spLocks noChangeArrowheads="1"/>
          </p:cNvSpPr>
          <p:nvPr/>
        </p:nvSpPr>
        <p:spPr bwMode="auto">
          <a:xfrm>
            <a:off x="7021513" y="4389438"/>
            <a:ext cx="377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i="1">
                <a:latin typeface="Times New Roman" panose="02020603050405020304" pitchFamily="18" charset="0"/>
              </a:rPr>
              <a:t>u</a:t>
            </a:r>
            <a:r>
              <a:rPr lang="en-US" altLang="zh-CN" baseline="-25000">
                <a:latin typeface="Times New Roman" panose="02020603050405020304" pitchFamily="18" charset="0"/>
              </a:rPr>
              <a:t>0</a:t>
            </a:r>
            <a:endParaRPr lang="en-US" altLang="zh-CN" baseline="-25000">
              <a:latin typeface="Times New Roman" panose="02020603050405020304" pitchFamily="18" charset="0"/>
            </a:endParaRPr>
          </a:p>
        </p:txBody>
      </p:sp>
      <p:sp>
        <p:nvSpPr>
          <p:cNvPr id="16401" name="矩形 16400"/>
          <p:cNvSpPr>
            <a:spLocks noChangeArrowheads="1"/>
          </p:cNvSpPr>
          <p:nvPr/>
        </p:nvSpPr>
        <p:spPr bwMode="auto">
          <a:xfrm>
            <a:off x="2676885" y="277813"/>
            <a:ext cx="8104187"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2800" b="1" dirty="0">
                <a:solidFill>
                  <a:srgbClr val="FF0000"/>
                </a:solidFill>
                <a:latin typeface="Times New Roman" panose="02020603050405020304" pitchFamily="18" charset="0"/>
              </a:rPr>
              <a:t>工作原理</a:t>
            </a:r>
            <a:r>
              <a:rPr lang="en-US" altLang="zh-CN" sz="2800" b="1" dirty="0">
                <a:solidFill>
                  <a:srgbClr val="FF0000"/>
                </a:solidFill>
                <a:latin typeface="Times New Roman" panose="02020603050405020304" pitchFamily="18" charset="0"/>
              </a:rPr>
              <a:t>——</a:t>
            </a:r>
            <a:r>
              <a:rPr lang="zh-CN" altLang="en-US" sz="2800" b="1" dirty="0">
                <a:solidFill>
                  <a:srgbClr val="FF0000"/>
                </a:solidFill>
                <a:latin typeface="Times New Roman" panose="02020603050405020304" pitchFamily="18" charset="0"/>
              </a:rPr>
              <a:t>检波电路与</a:t>
            </a:r>
            <a:r>
              <a:rPr lang="en-US" altLang="zh-CN" sz="2800" b="1" dirty="0">
                <a:solidFill>
                  <a:srgbClr val="FF0000"/>
                </a:solidFill>
                <a:latin typeface="Times New Roman" panose="02020603050405020304" pitchFamily="18" charset="0"/>
              </a:rPr>
              <a:t>AGC</a:t>
            </a:r>
            <a:r>
              <a:rPr lang="zh-CN" altLang="en-US" sz="2800" b="1" dirty="0">
                <a:solidFill>
                  <a:srgbClr val="FF0000"/>
                </a:solidFill>
                <a:latin typeface="Times New Roman" panose="02020603050405020304" pitchFamily="18" charset="0"/>
              </a:rPr>
              <a:t>（</a:t>
            </a:r>
            <a:r>
              <a:rPr lang="en-US" altLang="zh-CN" sz="2800" b="1" dirty="0">
                <a:solidFill>
                  <a:srgbClr val="FF0000"/>
                </a:solidFill>
                <a:latin typeface="Times New Roman" panose="02020603050405020304" pitchFamily="18" charset="0"/>
              </a:rPr>
              <a:t>VT3</a:t>
            </a:r>
            <a:r>
              <a:rPr lang="zh-CN" altLang="en-US" sz="2800" b="1" dirty="0">
                <a:solidFill>
                  <a:srgbClr val="FF0000"/>
                </a:solidFill>
                <a:latin typeface="Times New Roman" panose="02020603050405020304" pitchFamily="18" charset="0"/>
              </a:rPr>
              <a:t>、</a:t>
            </a:r>
            <a:r>
              <a:rPr lang="en-US" altLang="zh-CN" sz="2800" b="1" dirty="0">
                <a:solidFill>
                  <a:srgbClr val="FF0000"/>
                </a:solidFill>
                <a:latin typeface="Times New Roman" panose="02020603050405020304" pitchFamily="18" charset="0"/>
              </a:rPr>
              <a:t>C5</a:t>
            </a:r>
            <a:r>
              <a:rPr lang="zh-CN" altLang="en-US" sz="2800" b="1" dirty="0">
                <a:solidFill>
                  <a:srgbClr val="FF0000"/>
                </a:solidFill>
                <a:latin typeface="Times New Roman" panose="02020603050405020304" pitchFamily="18" charset="0"/>
              </a:rPr>
              <a:t>、</a:t>
            </a:r>
            <a:r>
              <a:rPr lang="en-US" altLang="zh-CN" sz="2800" b="1" dirty="0">
                <a:solidFill>
                  <a:srgbClr val="FF0000"/>
                </a:solidFill>
                <a:latin typeface="Times New Roman" panose="02020603050405020304" pitchFamily="18" charset="0"/>
              </a:rPr>
              <a:t>R3</a:t>
            </a:r>
            <a:r>
              <a:rPr lang="zh-CN" altLang="en-US" sz="2800" b="1" dirty="0">
                <a:solidFill>
                  <a:srgbClr val="FF0000"/>
                </a:solidFill>
                <a:latin typeface="Times New Roman" panose="02020603050405020304" pitchFamily="18" charset="0"/>
              </a:rPr>
              <a:t>）</a:t>
            </a:r>
            <a:endParaRPr lang="en-US" altLang="zh-CN" sz="2800" b="1" dirty="0">
              <a:solidFill>
                <a:srgbClr val="FF0000"/>
              </a:solidFill>
              <a:latin typeface="Times New Roman" panose="02020603050405020304" pitchFamily="18" charset="0"/>
            </a:endParaRPr>
          </a:p>
        </p:txBody>
      </p:sp>
      <p:sp>
        <p:nvSpPr>
          <p:cNvPr id="38924" name="矩形 16401"/>
          <p:cNvSpPr>
            <a:spLocks noChangeArrowheads="1"/>
          </p:cNvSpPr>
          <p:nvPr/>
        </p:nvSpPr>
        <p:spPr bwMode="auto">
          <a:xfrm>
            <a:off x="1524001" y="1122363"/>
            <a:ext cx="90027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buClr>
                <a:srgbClr val="A50021"/>
              </a:buClr>
              <a:buSzPct val="75000"/>
              <a:buFont typeface="Wingdings" panose="05000000000000000000" pitchFamily="2" charset="2"/>
              <a:buChar char="l"/>
            </a:pPr>
            <a:r>
              <a:rPr lang="zh-CN" altLang="en-US" sz="2000" b="0">
                <a:latin typeface="Times New Roman" panose="02020603050405020304" pitchFamily="18" charset="0"/>
                <a:ea typeface="华文中宋" panose="02010600040101010101" pitchFamily="2" charset="-122"/>
              </a:rPr>
              <a:t>中频信号经</a:t>
            </a:r>
            <a:r>
              <a:rPr lang="en-US" altLang="zh-CN" sz="2000" b="0">
                <a:latin typeface="Times New Roman" panose="02020603050405020304" pitchFamily="18" charset="0"/>
                <a:ea typeface="华文中宋" panose="02010600040101010101" pitchFamily="2" charset="-122"/>
              </a:rPr>
              <a:t>VT2</a:t>
            </a:r>
            <a:r>
              <a:rPr lang="zh-CN" altLang="en-US" sz="2000" b="0">
                <a:latin typeface="Times New Roman" panose="02020603050405020304" pitchFamily="18" charset="0"/>
                <a:ea typeface="华文中宋" panose="02010600040101010101" pitchFamily="2" charset="-122"/>
              </a:rPr>
              <a:t>中频放大器充分放大后由</a:t>
            </a:r>
            <a:r>
              <a:rPr lang="en-US" altLang="zh-CN" sz="2000" b="0">
                <a:latin typeface="Times New Roman" panose="02020603050405020304" pitchFamily="18" charset="0"/>
                <a:ea typeface="华文中宋" panose="02010600040101010101" pitchFamily="2" charset="-122"/>
              </a:rPr>
              <a:t>T4</a:t>
            </a:r>
            <a:r>
              <a:rPr lang="zh-CN" altLang="en-US" sz="2000" b="0">
                <a:latin typeface="Times New Roman" panose="02020603050405020304" pitchFamily="18" charset="0"/>
                <a:ea typeface="华文中宋" panose="02010600040101010101" pitchFamily="2" charset="-122"/>
              </a:rPr>
              <a:t>耦合到检波管</a:t>
            </a:r>
            <a:r>
              <a:rPr lang="en-US" altLang="zh-CN" sz="2000" b="0">
                <a:latin typeface="Times New Roman" panose="02020603050405020304" pitchFamily="18" charset="0"/>
                <a:ea typeface="华文中宋" panose="02010600040101010101" pitchFamily="2" charset="-122"/>
              </a:rPr>
              <a:t>VT3</a:t>
            </a:r>
            <a:r>
              <a:rPr lang="zh-CN" altLang="en-US" sz="2000" b="0">
                <a:latin typeface="Times New Roman" panose="02020603050405020304" pitchFamily="18" charset="0"/>
                <a:ea typeface="华文中宋" panose="02010600040101010101" pitchFamily="2" charset="-122"/>
              </a:rPr>
              <a:t>，</a:t>
            </a:r>
            <a:r>
              <a:rPr lang="en-US" altLang="zh-CN" sz="2000" b="0">
                <a:latin typeface="Times New Roman" panose="02020603050405020304" pitchFamily="18" charset="0"/>
                <a:ea typeface="华文中宋" panose="02010600040101010101" pitchFamily="2" charset="-122"/>
              </a:rPr>
              <a:t>VT3</a:t>
            </a:r>
            <a:r>
              <a:rPr lang="zh-CN" altLang="en-US" sz="2000" b="0">
                <a:latin typeface="Times New Roman" panose="02020603050405020304" pitchFamily="18" charset="0"/>
                <a:ea typeface="华文中宋" panose="02010600040101010101" pitchFamily="2" charset="-122"/>
              </a:rPr>
              <a:t>构成的三极管检波电路，既起放大作用，又起检波作用，</a:t>
            </a:r>
            <a:r>
              <a:rPr lang="zh-CN" altLang="en-US" sz="2000" b="0">
                <a:solidFill>
                  <a:srgbClr val="FF0000"/>
                </a:solidFill>
                <a:latin typeface="Times New Roman" panose="02020603050405020304" pitchFamily="18" charset="0"/>
                <a:ea typeface="华文中宋" panose="02010600040101010101" pitchFamily="2" charset="-122"/>
              </a:rPr>
              <a:t>“快充慢放”。</a:t>
            </a:r>
            <a:r>
              <a:rPr lang="zh-CN" altLang="en-US" sz="2000" b="0">
                <a:latin typeface="Times New Roman" panose="02020603050405020304" pitchFamily="18" charset="0"/>
                <a:ea typeface="华文中宋" panose="02010600040101010101" pitchFamily="2" charset="-122"/>
              </a:rPr>
              <a:t>还有较强的自动增益控制</a:t>
            </a:r>
            <a:r>
              <a:rPr lang="en-US" altLang="zh-CN" sz="2000" b="0">
                <a:latin typeface="Times New Roman" panose="02020603050405020304" pitchFamily="18" charset="0"/>
                <a:ea typeface="华文中宋" panose="02010600040101010101" pitchFamily="2" charset="-122"/>
              </a:rPr>
              <a:t>(AGC)</a:t>
            </a:r>
            <a:r>
              <a:rPr lang="zh-CN" altLang="en-US" sz="2000" b="0">
                <a:latin typeface="Times New Roman" panose="02020603050405020304" pitchFamily="18" charset="0"/>
                <a:ea typeface="华文中宋" panose="02010600040101010101" pitchFamily="2" charset="-122"/>
              </a:rPr>
              <a:t>作用。</a:t>
            </a:r>
            <a:endParaRPr lang="zh-CN" altLang="en-US" sz="2000" b="0">
              <a:solidFill>
                <a:srgbClr val="FF0000"/>
              </a:solidFill>
              <a:latin typeface="Times New Roman" panose="02020603050405020304" pitchFamily="18" charset="0"/>
              <a:ea typeface="华文中宋" panose="02010600040101010101" pitchFamily="2" charset="-122"/>
            </a:endParaRPr>
          </a:p>
        </p:txBody>
      </p:sp>
      <p:pic>
        <p:nvPicPr>
          <p:cNvPr id="38925"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05301" y="2455864"/>
            <a:ext cx="2773363" cy="3817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6" name="矩形 3"/>
          <p:cNvSpPr>
            <a:spLocks noChangeArrowheads="1"/>
          </p:cNvSpPr>
          <p:nvPr/>
        </p:nvSpPr>
        <p:spPr bwMode="auto">
          <a:xfrm>
            <a:off x="1638301" y="2081213"/>
            <a:ext cx="2386013" cy="389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lnSpc>
                <a:spcPct val="80000"/>
              </a:lnSpc>
              <a:buClr>
                <a:srgbClr val="A50021"/>
              </a:buClr>
              <a:buSzPct val="75000"/>
              <a:buFont typeface="Wingdings" panose="05000000000000000000" pitchFamily="2" charset="2"/>
              <a:buChar char="l"/>
            </a:pPr>
            <a:r>
              <a:rPr lang="en-US" altLang="zh-CN" sz="2000" b="0">
                <a:latin typeface="Times New Roman" panose="02020603050405020304" pitchFamily="18" charset="0"/>
                <a:ea typeface="华文中宋" panose="02010600040101010101" pitchFamily="2" charset="-122"/>
              </a:rPr>
              <a:t>AGC</a:t>
            </a:r>
            <a:r>
              <a:rPr lang="zh-CN" altLang="en-US" sz="2000" b="0">
                <a:latin typeface="Times New Roman" panose="02020603050405020304" pitchFamily="18" charset="0"/>
                <a:ea typeface="华文中宋" panose="02010600040101010101" pitchFamily="2" charset="-122"/>
              </a:rPr>
              <a:t>控制电压通过</a:t>
            </a:r>
            <a:r>
              <a:rPr lang="en-US" altLang="zh-CN" sz="2000" b="0">
                <a:latin typeface="Times New Roman" panose="02020603050405020304" pitchFamily="18" charset="0"/>
                <a:ea typeface="华文中宋" panose="02010600040101010101" pitchFamily="2" charset="-122"/>
              </a:rPr>
              <a:t>R3</a:t>
            </a:r>
            <a:r>
              <a:rPr lang="zh-CN" altLang="en-US" sz="2000" b="0">
                <a:latin typeface="Times New Roman" panose="02020603050405020304" pitchFamily="18" charset="0"/>
                <a:ea typeface="华文中宋" panose="02010600040101010101" pitchFamily="2" charset="-122"/>
              </a:rPr>
              <a:t>加到</a:t>
            </a:r>
            <a:r>
              <a:rPr lang="en-US" altLang="zh-CN" sz="2000" b="0">
                <a:latin typeface="Times New Roman" panose="02020603050405020304" pitchFamily="18" charset="0"/>
                <a:ea typeface="华文中宋" panose="02010600040101010101" pitchFamily="2" charset="-122"/>
              </a:rPr>
              <a:t>VT2</a:t>
            </a:r>
            <a:r>
              <a:rPr lang="zh-CN" altLang="en-US" sz="2000" b="0">
                <a:latin typeface="Times New Roman" panose="02020603050405020304" pitchFamily="18" charset="0"/>
                <a:ea typeface="华文中宋" panose="02010600040101010101" pitchFamily="2" charset="-122"/>
              </a:rPr>
              <a:t>的基极，其控制过程是：</a:t>
            </a:r>
            <a:br>
              <a:rPr lang="zh-CN" altLang="en-US" sz="2000" b="0">
                <a:latin typeface="Times New Roman" panose="02020603050405020304" pitchFamily="18" charset="0"/>
                <a:ea typeface="华文中宋" panose="02010600040101010101" pitchFamily="2" charset="-122"/>
              </a:rPr>
            </a:br>
            <a:r>
              <a:rPr lang="zh-CN" altLang="en-US" sz="2000" b="0">
                <a:latin typeface="Times New Roman" panose="02020603050405020304" pitchFamily="18" charset="0"/>
                <a:ea typeface="华文中宋" panose="02010600040101010101" pitchFamily="2" charset="-122"/>
              </a:rPr>
              <a:t>外信号电压</a:t>
            </a:r>
            <a:r>
              <a:rPr lang="en-US" altLang="zh-CN" sz="2000" b="0">
                <a:latin typeface="Times New Roman" panose="02020603050405020304" pitchFamily="18" charset="0"/>
                <a:ea typeface="华文中宋" panose="02010600040101010101" pitchFamily="2" charset="-122"/>
              </a:rPr>
              <a:t>↑-Vb3↑-Ib3↑-Ic3↑-Vc3↓-</a:t>
            </a:r>
            <a:r>
              <a:rPr lang="zh-CN" altLang="en-US" sz="2000" b="0">
                <a:latin typeface="Times New Roman" panose="02020603050405020304" pitchFamily="18" charset="0"/>
                <a:ea typeface="华文中宋" panose="02010600040101010101" pitchFamily="2" charset="-122"/>
              </a:rPr>
              <a:t>通过</a:t>
            </a:r>
            <a:r>
              <a:rPr lang="en-US" altLang="zh-CN" sz="2000" b="0">
                <a:latin typeface="Times New Roman" panose="02020603050405020304" pitchFamily="18" charset="0"/>
                <a:ea typeface="华文中宋" panose="02010600040101010101" pitchFamily="2" charset="-122"/>
              </a:rPr>
              <a:t>R3-Vb2↓-Ib2↓-Ic2↓-</a:t>
            </a:r>
            <a:r>
              <a:rPr lang="zh-CN" altLang="en-US" sz="2000" b="0">
                <a:latin typeface="Times New Roman" panose="02020603050405020304" pitchFamily="18" charset="0"/>
                <a:ea typeface="华文中宋" panose="02010600040101010101" pitchFamily="2" charset="-122"/>
              </a:rPr>
              <a:t>外信号电压</a:t>
            </a:r>
            <a:r>
              <a:rPr lang="en-US" altLang="zh-CN" sz="2000" b="0">
                <a:latin typeface="Times New Roman" panose="02020603050405020304" pitchFamily="18" charset="0"/>
                <a:ea typeface="华文中宋" panose="02010600040101010101" pitchFamily="2" charset="-122"/>
              </a:rPr>
              <a:t>↓</a:t>
            </a:r>
            <a:endParaRPr lang="en-US" altLang="zh-CN" sz="2000" b="0">
              <a:latin typeface="Times New Roman" panose="02020603050405020304" pitchFamily="18" charset="0"/>
              <a:ea typeface="华文中宋" panose="02010600040101010101" pitchFamily="2" charset="-122"/>
            </a:endParaRPr>
          </a:p>
          <a:p>
            <a:pPr>
              <a:lnSpc>
                <a:spcPct val="80000"/>
              </a:lnSpc>
              <a:buClr>
                <a:srgbClr val="A50021"/>
              </a:buClr>
              <a:buSzPct val="75000"/>
              <a:buFont typeface="Wingdings" panose="05000000000000000000" pitchFamily="2" charset="2"/>
              <a:buChar char="l"/>
            </a:pPr>
            <a:r>
              <a:rPr lang="zh-CN" altLang="en-US" sz="2000" b="0">
                <a:latin typeface="Times New Roman" panose="02020603050405020304" pitchFamily="18" charset="0"/>
                <a:ea typeface="华文中宋" panose="02010600040101010101" pitchFamily="2" charset="-122"/>
              </a:rPr>
              <a:t>检波级的主要任务是把中频调幅信号还原成音频信号，</a:t>
            </a:r>
            <a:r>
              <a:rPr lang="en-US" altLang="zh-CN" sz="2000" b="0">
                <a:latin typeface="Times New Roman" panose="02020603050405020304" pitchFamily="18" charset="0"/>
                <a:ea typeface="华文中宋" panose="02010600040101010101" pitchFamily="2" charset="-122"/>
              </a:rPr>
              <a:t>C4</a:t>
            </a:r>
            <a:r>
              <a:rPr lang="zh-CN" altLang="en-US" sz="2000" b="0">
                <a:latin typeface="Times New Roman" panose="02020603050405020304" pitchFamily="18" charset="0"/>
                <a:ea typeface="华文中宋" panose="02010600040101010101" pitchFamily="2" charset="-122"/>
              </a:rPr>
              <a:t>、</a:t>
            </a:r>
            <a:r>
              <a:rPr lang="en-US" altLang="zh-CN" sz="2000" b="0">
                <a:latin typeface="Times New Roman" panose="02020603050405020304" pitchFamily="18" charset="0"/>
                <a:ea typeface="华文中宋" panose="02010600040101010101" pitchFamily="2" charset="-122"/>
              </a:rPr>
              <a:t>C5</a:t>
            </a:r>
            <a:r>
              <a:rPr lang="zh-CN" altLang="en-US" sz="2000" b="0">
                <a:latin typeface="Times New Roman" panose="02020603050405020304" pitchFamily="18" charset="0"/>
                <a:ea typeface="华文中宋" panose="02010600040101010101" pitchFamily="2" charset="-122"/>
              </a:rPr>
              <a:t>起滤去残余的中频成分的作用。</a:t>
            </a:r>
            <a:r>
              <a:rPr lang="zh-CN" altLang="en-US" sz="2400" b="0">
                <a:latin typeface="Times New Roman" panose="02020603050405020304" pitchFamily="18" charset="0"/>
                <a:ea typeface="华文中宋" panose="02010600040101010101" pitchFamily="2" charset="-122"/>
              </a:rPr>
              <a:t> </a:t>
            </a:r>
            <a:endParaRPr lang="zh-CN" altLang="en-US" sz="2400" b="0">
              <a:latin typeface="Times New Roman" panose="02020603050405020304" pitchFamily="18" charset="0"/>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6401"/>
                                        </p:tgtEl>
                                        <p:attrNameLst>
                                          <p:attrName>style.visibility</p:attrName>
                                        </p:attrNameLst>
                                      </p:cBhvr>
                                      <p:to>
                                        <p:strVal val="visible"/>
                                      </p:to>
                                    </p:set>
                                    <p:animEffect transition="in" filter="diamond(in)">
                                      <p:cBhvr>
                                        <p:cTn id="7" dur="2000"/>
                                        <p:tgtEl>
                                          <p:spTgt spid="16401"/>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文本占位符 17409"/>
          <p:cNvSpPr>
            <a:spLocks noGrp="1" noChangeArrowheads="1"/>
          </p:cNvSpPr>
          <p:nvPr>
            <p:ph idx="4294967295"/>
          </p:nvPr>
        </p:nvSpPr>
        <p:spPr>
          <a:xfrm>
            <a:off x="0" y="2205038"/>
            <a:ext cx="4286250" cy="4092575"/>
          </a:xfrm>
        </p:spPr>
        <p:txBody>
          <a:bodyPr/>
          <a:lstStyle/>
          <a:p>
            <a:pPr>
              <a:buClrTx/>
              <a:buFont typeface="Wingdings" panose="05000000000000000000" pitchFamily="2" charset="2"/>
              <a:buChar char="l"/>
            </a:pPr>
            <a:r>
              <a:rPr lang="zh-CN" altLang="en-US" sz="2000"/>
              <a:t>功率放大器的任务是能够输出较大的电流。本电路采用无输出变压器功率放大器，可以消除输出变压器引起的失真和损耗，频率特性好，</a:t>
            </a:r>
            <a:endParaRPr lang="en-US" altLang="zh-CN" sz="2000"/>
          </a:p>
          <a:p>
            <a:pPr>
              <a:buClrTx/>
              <a:buFont typeface="Wingdings" panose="05000000000000000000" pitchFamily="2" charset="2"/>
              <a:buChar char="l"/>
            </a:pPr>
            <a:r>
              <a:rPr lang="en-US" altLang="zh-CN" sz="2000"/>
              <a:t>VT5</a:t>
            </a:r>
            <a:r>
              <a:rPr lang="zh-CN" altLang="en-US" sz="2000"/>
              <a:t>、</a:t>
            </a:r>
            <a:r>
              <a:rPr lang="en-US" altLang="zh-CN" sz="2000"/>
              <a:t>VT6</a:t>
            </a:r>
            <a:r>
              <a:rPr lang="zh-CN" altLang="en-US" sz="2000"/>
              <a:t>组成同类型晶体管的推挽电路，</a:t>
            </a:r>
            <a:r>
              <a:rPr lang="en-US" altLang="zh-CN" sz="2000"/>
              <a:t>R7</a:t>
            </a:r>
            <a:r>
              <a:rPr lang="zh-CN" altLang="en-US" sz="2000"/>
              <a:t>、</a:t>
            </a:r>
            <a:r>
              <a:rPr lang="en-US" altLang="zh-CN" sz="2000"/>
              <a:t>R8</a:t>
            </a:r>
            <a:r>
              <a:rPr lang="zh-CN" altLang="en-US" sz="2000"/>
              <a:t>和</a:t>
            </a:r>
            <a:r>
              <a:rPr lang="en-US" altLang="zh-CN" sz="2000"/>
              <a:t>R9</a:t>
            </a:r>
            <a:r>
              <a:rPr lang="zh-CN" altLang="en-US" sz="2000"/>
              <a:t>、</a:t>
            </a:r>
            <a:r>
              <a:rPr lang="en-US" altLang="zh-CN" sz="2000"/>
              <a:t>R10</a:t>
            </a:r>
            <a:r>
              <a:rPr lang="zh-CN" altLang="en-US" sz="2000"/>
              <a:t>分别是</a:t>
            </a:r>
            <a:r>
              <a:rPr lang="en-US" altLang="zh-CN" sz="2000"/>
              <a:t>VT5</a:t>
            </a:r>
            <a:r>
              <a:rPr lang="zh-CN" altLang="en-US" sz="2000"/>
              <a:t>、</a:t>
            </a:r>
            <a:r>
              <a:rPr lang="en-US" altLang="zh-CN" sz="2000"/>
              <a:t>VT6</a:t>
            </a:r>
            <a:r>
              <a:rPr lang="zh-CN" altLang="en-US" sz="2000"/>
              <a:t>的偏量电阻。变压器</a:t>
            </a:r>
            <a:r>
              <a:rPr lang="en-US" altLang="zh-CN" sz="2000"/>
              <a:t>T5</a:t>
            </a:r>
            <a:r>
              <a:rPr lang="zh-CN" altLang="en-US" sz="2000"/>
              <a:t>做倒相耦合，</a:t>
            </a:r>
            <a:r>
              <a:rPr lang="en-US" altLang="zh-CN" sz="2000"/>
              <a:t>C9</a:t>
            </a:r>
            <a:r>
              <a:rPr lang="zh-CN" altLang="en-US" sz="2000"/>
              <a:t>是隔直电容，也是耦合电容。为了减少低频失真，电容</a:t>
            </a:r>
            <a:r>
              <a:rPr lang="en-US" altLang="zh-CN" sz="2000"/>
              <a:t>C9</a:t>
            </a:r>
            <a:r>
              <a:rPr lang="zh-CN" altLang="en-US" sz="2000"/>
              <a:t>选得越大越好。无输出变压器的功率放大器的输出阻抗低，可以直接推动扬声器工作。 </a:t>
            </a:r>
            <a:endParaRPr lang="zh-CN" altLang="en-US" sz="2000"/>
          </a:p>
        </p:txBody>
      </p:sp>
      <p:sp>
        <p:nvSpPr>
          <p:cNvPr id="17411" name="矩形 17410"/>
          <p:cNvSpPr>
            <a:spLocks noChangeArrowheads="1"/>
          </p:cNvSpPr>
          <p:nvPr/>
        </p:nvSpPr>
        <p:spPr bwMode="auto">
          <a:xfrm>
            <a:off x="2829232" y="253182"/>
            <a:ext cx="78486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3200" b="1" dirty="0">
                <a:solidFill>
                  <a:srgbClr val="FF0000"/>
                </a:solidFill>
                <a:latin typeface="Times New Roman" panose="02020603050405020304" pitchFamily="18" charset="0"/>
              </a:rPr>
              <a:t>工作原理——前置低放与功率放大电路</a:t>
            </a:r>
            <a:endParaRPr lang="zh-CN" altLang="en-US" sz="3200" b="1" dirty="0">
              <a:solidFill>
                <a:srgbClr val="FF0000"/>
              </a:solidFill>
              <a:latin typeface="Times New Roman" panose="02020603050405020304" pitchFamily="18" charset="0"/>
            </a:endParaRPr>
          </a:p>
        </p:txBody>
      </p:sp>
      <p:pic>
        <p:nvPicPr>
          <p:cNvPr id="39940"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943601" y="2205038"/>
            <a:ext cx="4532313" cy="411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矩形 3"/>
          <p:cNvSpPr>
            <a:spLocks noChangeArrowheads="1"/>
          </p:cNvSpPr>
          <p:nvPr/>
        </p:nvSpPr>
        <p:spPr bwMode="auto">
          <a:xfrm>
            <a:off x="0" y="1009241"/>
            <a:ext cx="9067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eaLnBrk="1" hangingPunct="1">
              <a:spcBef>
                <a:spcPct val="0"/>
              </a:spcBef>
              <a:buClrTx/>
              <a:buFont typeface="Wingdings" panose="05000000000000000000" pitchFamily="2" charset="2"/>
              <a:buChar char="l"/>
            </a:pPr>
            <a:r>
              <a:rPr lang="zh-CN" altLang="en-US" sz="2000" dirty="0"/>
              <a:t>检波滤波后的音频信号由电位器</a:t>
            </a:r>
            <a:r>
              <a:rPr lang="en-US" altLang="zh-CN" sz="2000" dirty="0"/>
              <a:t>R</a:t>
            </a:r>
            <a:r>
              <a:rPr lang="en-US" altLang="zh-CN" sz="2000" baseline="-25000" dirty="0"/>
              <a:t>P</a:t>
            </a:r>
            <a:r>
              <a:rPr lang="zh-CN" altLang="en-US" sz="2000" dirty="0"/>
              <a:t>送到前置低放管</a:t>
            </a:r>
            <a:r>
              <a:rPr lang="en-US" altLang="zh-CN" sz="2000" dirty="0"/>
              <a:t>VT4</a:t>
            </a:r>
            <a:r>
              <a:rPr lang="zh-CN" altLang="en-US" sz="2000" dirty="0"/>
              <a:t>，经过低放可将音频信号电压放大几百倍，但是音频信号经过放大后带负载能力还很差，不能直接推动扬声器工作，还需进行功率放大。</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7411"/>
                                        </p:tgtEl>
                                        <p:attrNameLst>
                                          <p:attrName>style.visibility</p:attrName>
                                        </p:attrNameLst>
                                      </p:cBhvr>
                                      <p:to>
                                        <p:strVal val="visible"/>
                                      </p:to>
                                    </p:set>
                                    <p:animEffect transition="in" filter="diamond(in)">
                                      <p:cBhvr>
                                        <p:cTn id="7" dur="2000"/>
                                        <p:tgtEl>
                                          <p:spTgt spid="17411"/>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文本框 19457"/>
          <p:cNvSpPr txBox="1">
            <a:spLocks noChangeArrowheads="1"/>
          </p:cNvSpPr>
          <p:nvPr/>
        </p:nvSpPr>
        <p:spPr bwMode="auto">
          <a:xfrm>
            <a:off x="1695450" y="1047751"/>
            <a:ext cx="88963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50000"/>
              </a:spcBef>
              <a:buClrTx/>
              <a:buFont typeface="Arial" panose="020B0604020202020204" pitchFamily="34" charset="0"/>
              <a:buAutoNum type="arabicPeriod"/>
            </a:pPr>
            <a:r>
              <a:rPr lang="zh-CN" altLang="en-US" sz="2400">
                <a:latin typeface="Arial" panose="020B0604020202020204" pitchFamily="34" charset="0"/>
              </a:rPr>
              <a:t>参照元器件清单清点元器件的种类和数目并用万用表检查各元器件的参数是否正确及是否损坏。</a:t>
            </a:r>
            <a:endParaRPr lang="zh-CN" altLang="en-US" sz="2400">
              <a:latin typeface="Arial" panose="020B0604020202020204" pitchFamily="34" charset="0"/>
            </a:endParaRPr>
          </a:p>
        </p:txBody>
      </p:sp>
      <p:sp>
        <p:nvSpPr>
          <p:cNvPr id="40963" name="文本框 19458"/>
          <p:cNvSpPr txBox="1">
            <a:spLocks noChangeArrowheads="1"/>
          </p:cNvSpPr>
          <p:nvPr/>
        </p:nvSpPr>
        <p:spPr bwMode="auto">
          <a:xfrm>
            <a:off x="2192339" y="2122489"/>
            <a:ext cx="217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a:pPr>
            <a:r>
              <a:rPr lang="zh-CN" altLang="en-US" sz="2000">
                <a:latin typeface="Arial" panose="020B0604020202020204" pitchFamily="34" charset="0"/>
              </a:rPr>
              <a:t>电阻的检查：</a:t>
            </a:r>
            <a:endParaRPr lang="zh-CN" altLang="en-US" sz="2000">
              <a:latin typeface="Arial" panose="020B0604020202020204" pitchFamily="34" charset="0"/>
            </a:endParaRPr>
          </a:p>
        </p:txBody>
      </p:sp>
      <p:sp>
        <p:nvSpPr>
          <p:cNvPr id="40964" name="文本框 19459"/>
          <p:cNvSpPr txBox="1">
            <a:spLocks noChangeArrowheads="1"/>
          </p:cNvSpPr>
          <p:nvPr/>
        </p:nvSpPr>
        <p:spPr bwMode="auto">
          <a:xfrm>
            <a:off x="2192338" y="2528888"/>
            <a:ext cx="829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a:latin typeface="Arial" panose="020B0604020202020204" pitchFamily="34" charset="0"/>
              </a:rPr>
              <a:t>通过电阻的色环读出各电阻的电阻值并用万用表进行验证，检查其数量与参数是否与清单一致。</a:t>
            </a:r>
            <a:endParaRPr lang="zh-CN" altLang="en-US">
              <a:latin typeface="Arial" panose="020B0604020202020204" pitchFamily="34" charset="0"/>
            </a:endParaRPr>
          </a:p>
        </p:txBody>
      </p:sp>
      <p:sp>
        <p:nvSpPr>
          <p:cNvPr id="40965" name="文本框 19460"/>
          <p:cNvSpPr txBox="1">
            <a:spLocks noChangeArrowheads="1"/>
          </p:cNvSpPr>
          <p:nvPr/>
        </p:nvSpPr>
        <p:spPr bwMode="auto">
          <a:xfrm>
            <a:off x="2192339" y="3406776"/>
            <a:ext cx="29416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startAt="2"/>
            </a:pPr>
            <a:r>
              <a:rPr lang="zh-CN" altLang="en-US" sz="2000">
                <a:latin typeface="Arial" panose="020B0604020202020204" pitchFamily="34" charset="0"/>
              </a:rPr>
              <a:t>电容及双连的检查：</a:t>
            </a:r>
            <a:endParaRPr lang="zh-CN" altLang="en-US" sz="2000">
              <a:latin typeface="Arial" panose="020B0604020202020204" pitchFamily="34" charset="0"/>
            </a:endParaRPr>
          </a:p>
        </p:txBody>
      </p:sp>
      <p:sp>
        <p:nvSpPr>
          <p:cNvPr id="40966" name="文本框 19461"/>
          <p:cNvSpPr txBox="1">
            <a:spLocks noChangeArrowheads="1"/>
          </p:cNvSpPr>
          <p:nvPr/>
        </p:nvSpPr>
        <p:spPr bwMode="auto">
          <a:xfrm>
            <a:off x="2192339" y="3902075"/>
            <a:ext cx="81486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a:latin typeface="Arial" panose="020B0604020202020204" pitchFamily="34" charset="0"/>
              </a:rPr>
              <a:t>用万用表的欧姆档检查电容有无短路、断路。好的电容在用万用表检查时有明显的充电过程。</a:t>
            </a:r>
            <a:endParaRPr lang="zh-CN" altLang="en-US">
              <a:latin typeface="Arial" panose="020B0604020202020204" pitchFamily="34" charset="0"/>
            </a:endParaRPr>
          </a:p>
        </p:txBody>
      </p:sp>
      <p:sp>
        <p:nvSpPr>
          <p:cNvPr id="40967" name="文本框 19462"/>
          <p:cNvSpPr txBox="1">
            <a:spLocks noChangeArrowheads="1"/>
          </p:cNvSpPr>
          <p:nvPr/>
        </p:nvSpPr>
        <p:spPr bwMode="auto">
          <a:xfrm>
            <a:off x="2179638" y="4832351"/>
            <a:ext cx="75041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startAt="3"/>
            </a:pPr>
            <a:r>
              <a:rPr lang="zh-CN" altLang="en-US" sz="2000">
                <a:latin typeface="Times New Roman" panose="02020603050405020304" pitchFamily="18" charset="0"/>
                <a:ea typeface="华文中宋" panose="02010600040101010101" pitchFamily="2" charset="-122"/>
              </a:rPr>
              <a:t>天线线圈、中周、输入及输出变压器的检查：</a:t>
            </a:r>
            <a:endParaRPr lang="zh-CN" altLang="en-US" sz="2000">
              <a:latin typeface="Times New Roman" panose="02020603050405020304" pitchFamily="18" charset="0"/>
              <a:ea typeface="华文中宋" panose="02010600040101010101" pitchFamily="2" charset="-122"/>
            </a:endParaRPr>
          </a:p>
        </p:txBody>
      </p:sp>
      <p:sp>
        <p:nvSpPr>
          <p:cNvPr id="40968" name="矩形 19463"/>
          <p:cNvSpPr>
            <a:spLocks noChangeArrowheads="1"/>
          </p:cNvSpPr>
          <p:nvPr/>
        </p:nvSpPr>
        <p:spPr bwMode="auto">
          <a:xfrm>
            <a:off x="2839244" y="200026"/>
            <a:ext cx="699928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3200" b="1" dirty="0">
                <a:solidFill>
                  <a:srgbClr val="FF0000"/>
                </a:solidFill>
                <a:latin typeface="Times New Roman" panose="02020603050405020304" pitchFamily="18" charset="0"/>
              </a:rPr>
              <a:t>超外差式调幅收音组装前的准备工作</a:t>
            </a:r>
            <a:endParaRPr lang="zh-CN" altLang="en-US" sz="3200" b="1" dirty="0">
              <a:solidFill>
                <a:srgbClr val="FF0000"/>
              </a:solidFill>
              <a:latin typeface="Times New Roman" panose="02020603050405020304" pitchFamily="18" charset="0"/>
            </a:endParaRPr>
          </a:p>
        </p:txBody>
      </p:sp>
      <p:sp>
        <p:nvSpPr>
          <p:cNvPr id="40969" name="文本框 19464"/>
          <p:cNvSpPr txBox="1">
            <a:spLocks noChangeArrowheads="1"/>
          </p:cNvSpPr>
          <p:nvPr/>
        </p:nvSpPr>
        <p:spPr bwMode="auto">
          <a:xfrm>
            <a:off x="2179638" y="5229226"/>
            <a:ext cx="795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None/>
            </a:pPr>
            <a:r>
              <a:rPr lang="zh-CN" altLang="en-US" sz="1800" b="0">
                <a:latin typeface="Arial" panose="020B0604020202020204" pitchFamily="34" charset="0"/>
              </a:rPr>
              <a:t>检查天线线圈、中周、输入变压器各电感线圈是否存在开路？</a:t>
            </a:r>
            <a:endParaRPr lang="zh-CN" altLang="en-US" sz="1800" b="0">
              <a:latin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框 20481"/>
          <p:cNvSpPr txBox="1">
            <a:spLocks noChangeArrowheads="1"/>
          </p:cNvSpPr>
          <p:nvPr/>
        </p:nvSpPr>
        <p:spPr bwMode="auto">
          <a:xfrm>
            <a:off x="2119314" y="1562101"/>
            <a:ext cx="3654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startAt="4"/>
            </a:pPr>
            <a:r>
              <a:rPr lang="zh-CN" altLang="en-US" sz="2000">
                <a:latin typeface="Arial" panose="020B0604020202020204" pitchFamily="34" charset="0"/>
              </a:rPr>
              <a:t>三极管的检查：</a:t>
            </a:r>
            <a:endParaRPr lang="zh-CN" altLang="en-US" sz="2000">
              <a:latin typeface="Arial" panose="020B0604020202020204" pitchFamily="34" charset="0"/>
            </a:endParaRPr>
          </a:p>
        </p:txBody>
      </p:sp>
      <p:sp>
        <p:nvSpPr>
          <p:cNvPr id="41987" name="文本框 20482"/>
          <p:cNvSpPr txBox="1">
            <a:spLocks noChangeArrowheads="1"/>
          </p:cNvSpPr>
          <p:nvPr/>
        </p:nvSpPr>
        <p:spPr bwMode="auto">
          <a:xfrm>
            <a:off x="4367214" y="1557338"/>
            <a:ext cx="28082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a:latin typeface="Arial" panose="020B0604020202020204" pitchFamily="34" charset="0"/>
              </a:rPr>
              <a:t>各三极管的放大倍数</a:t>
            </a:r>
            <a:r>
              <a:rPr lang="en-US" altLang="zh-CN">
                <a:latin typeface="Arial" panose="020B0604020202020204" pitchFamily="34" charset="0"/>
              </a:rPr>
              <a:t>hfe</a:t>
            </a:r>
            <a:r>
              <a:rPr lang="zh-CN" altLang="en-US">
                <a:latin typeface="Arial" panose="020B0604020202020204" pitchFamily="34" charset="0"/>
              </a:rPr>
              <a:t>：</a:t>
            </a:r>
            <a:endParaRPr lang="zh-CN" altLang="en-US">
              <a:latin typeface="Arial" panose="020B0604020202020204" pitchFamily="34" charset="0"/>
            </a:endParaRPr>
          </a:p>
        </p:txBody>
      </p:sp>
      <p:grpSp>
        <p:nvGrpSpPr>
          <p:cNvPr id="41988" name="组合 20483"/>
          <p:cNvGrpSpPr/>
          <p:nvPr/>
        </p:nvGrpSpPr>
        <p:grpSpPr bwMode="auto">
          <a:xfrm>
            <a:off x="8401051" y="1700214"/>
            <a:ext cx="1616075" cy="1425575"/>
            <a:chOff x="0" y="0"/>
            <a:chExt cx="1018" cy="898"/>
          </a:xfrm>
        </p:grpSpPr>
        <p:grpSp>
          <p:nvGrpSpPr>
            <p:cNvPr id="41994" name="组合 20484"/>
            <p:cNvGrpSpPr/>
            <p:nvPr/>
          </p:nvGrpSpPr>
          <p:grpSpPr bwMode="auto">
            <a:xfrm>
              <a:off x="32" y="50"/>
              <a:ext cx="309" cy="649"/>
              <a:chOff x="0" y="0"/>
              <a:chExt cx="309" cy="649"/>
            </a:xfrm>
          </p:grpSpPr>
          <p:sp>
            <p:nvSpPr>
              <p:cNvPr id="42000" name="直接连接符 20485"/>
              <p:cNvSpPr>
                <a:spLocks noChangeShapeType="1"/>
              </p:cNvSpPr>
              <p:nvPr/>
            </p:nvSpPr>
            <p:spPr bwMode="auto">
              <a:xfrm>
                <a:off x="32" y="313"/>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1" name="直接连接符 20486"/>
              <p:cNvSpPr>
                <a:spLocks noChangeShapeType="1"/>
              </p:cNvSpPr>
              <p:nvPr/>
            </p:nvSpPr>
            <p:spPr bwMode="auto">
              <a:xfrm>
                <a:off x="153" y="313"/>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02" name="直接连接符 20487"/>
              <p:cNvSpPr>
                <a:spLocks noChangeShapeType="1"/>
              </p:cNvSpPr>
              <p:nvPr/>
            </p:nvSpPr>
            <p:spPr bwMode="auto">
              <a:xfrm>
                <a:off x="274" y="313"/>
                <a:ext cx="0" cy="33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42003" name="组合 20488"/>
              <p:cNvGrpSpPr/>
              <p:nvPr/>
            </p:nvGrpSpPr>
            <p:grpSpPr bwMode="auto">
              <a:xfrm>
                <a:off x="0" y="0"/>
                <a:ext cx="309" cy="448"/>
                <a:chOff x="0" y="0"/>
                <a:chExt cx="453" cy="576"/>
              </a:xfrm>
            </p:grpSpPr>
            <p:sp>
              <p:nvSpPr>
                <p:cNvPr id="42004" name="椭圆 20489"/>
                <p:cNvSpPr>
                  <a:spLocks noChangeArrowheads="1"/>
                </p:cNvSpPr>
                <p:nvPr/>
              </p:nvSpPr>
              <p:spPr bwMode="auto">
                <a:xfrm>
                  <a:off x="0" y="0"/>
                  <a:ext cx="453" cy="360"/>
                </a:xfrm>
                <a:prstGeom prst="ellipse">
                  <a:avLst/>
                </a:prstGeom>
                <a:solidFill>
                  <a:schemeClr val="accent1"/>
                </a:solidFill>
                <a:ln w="9525">
                  <a:solidFill>
                    <a:schemeClr val="tx1"/>
                  </a:solidFill>
                  <a:round/>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2005" name="矩形 20490"/>
                <p:cNvSpPr>
                  <a:spLocks noChangeArrowheads="1"/>
                </p:cNvSpPr>
                <p:nvPr/>
              </p:nvSpPr>
              <p:spPr bwMode="auto">
                <a:xfrm>
                  <a:off x="0" y="168"/>
                  <a:ext cx="453" cy="408"/>
                </a:xfrm>
                <a:prstGeom prst="rect">
                  <a:avLst/>
                </a:prstGeom>
                <a:solidFill>
                  <a:schemeClr val="accent1"/>
                </a:solidFill>
                <a:ln w="9525">
                  <a:solidFill>
                    <a:schemeClr val="tx1"/>
                  </a:solidFill>
                  <a:miter lim="800000"/>
                </a:ln>
              </p:spPr>
              <p:txBody>
                <a:bodyPr wrap="none" anchor="ct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lgn="ctr"/>
                  <a:r>
                    <a:rPr lang="en-US" altLang="zh-CN" sz="1200">
                      <a:latin typeface="Arial" panose="020B0604020202020204" pitchFamily="34" charset="0"/>
                    </a:rPr>
                    <a:t>3DG</a:t>
                  </a:r>
                  <a:endParaRPr lang="en-US" altLang="zh-CN" sz="1200">
                    <a:latin typeface="Arial" panose="020B0604020202020204" pitchFamily="34" charset="0"/>
                  </a:endParaRPr>
                </a:p>
                <a:p>
                  <a:pPr algn="ctr"/>
                  <a:r>
                    <a:rPr lang="en-US" altLang="zh-CN" sz="1200">
                      <a:latin typeface="Arial" panose="020B0604020202020204" pitchFamily="34" charset="0"/>
                    </a:rPr>
                    <a:t>201</a:t>
                  </a:r>
                  <a:endParaRPr lang="en-US" altLang="zh-CN" sz="1200">
                    <a:latin typeface="Arial" panose="020B0604020202020204" pitchFamily="34" charset="0"/>
                  </a:endParaRPr>
                </a:p>
              </p:txBody>
            </p:sp>
          </p:grpSp>
        </p:grpSp>
        <p:sp>
          <p:nvSpPr>
            <p:cNvPr id="41995" name="椭圆 20491"/>
            <p:cNvSpPr>
              <a:spLocks noChangeAspect="1" noChangeArrowheads="1"/>
            </p:cNvSpPr>
            <p:nvPr/>
          </p:nvSpPr>
          <p:spPr bwMode="auto">
            <a:xfrm>
              <a:off x="152" y="98"/>
              <a:ext cx="34" cy="34"/>
            </a:xfrm>
            <a:prstGeom prst="ellipse">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1996" name="文本框 20492"/>
            <p:cNvSpPr txBox="1">
              <a:spLocks noChangeArrowheads="1"/>
            </p:cNvSpPr>
            <p:nvPr/>
          </p:nvSpPr>
          <p:spPr bwMode="auto">
            <a:xfrm>
              <a:off x="614" y="0"/>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a:latin typeface="Arial" panose="020B0604020202020204" pitchFamily="34" charset="0"/>
                </a:rPr>
                <a:t>色点</a:t>
              </a:r>
              <a:endParaRPr lang="zh-CN" altLang="en-US">
                <a:latin typeface="Arial" panose="020B0604020202020204" pitchFamily="34" charset="0"/>
              </a:endParaRPr>
            </a:p>
            <a:p>
              <a:endParaRPr lang="zh-CN" altLang="en-US">
                <a:latin typeface="Arial" panose="020B0604020202020204" pitchFamily="34" charset="0"/>
              </a:endParaRPr>
            </a:p>
            <a:p>
              <a:r>
                <a:rPr lang="zh-CN" altLang="en-US">
                  <a:latin typeface="Arial" panose="020B0604020202020204" pitchFamily="34" charset="0"/>
                </a:rPr>
                <a:t>型号</a:t>
              </a:r>
              <a:endParaRPr lang="zh-CN" altLang="en-US">
                <a:latin typeface="Arial" panose="020B0604020202020204" pitchFamily="34" charset="0"/>
              </a:endParaRPr>
            </a:p>
          </p:txBody>
        </p:sp>
        <p:sp>
          <p:nvSpPr>
            <p:cNvPr id="41997" name="直接连接符 20493"/>
            <p:cNvSpPr>
              <a:spLocks noChangeShapeType="1"/>
            </p:cNvSpPr>
            <p:nvPr/>
          </p:nvSpPr>
          <p:spPr bwMode="auto">
            <a:xfrm flipH="1">
              <a:off x="248" y="114"/>
              <a:ext cx="35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8" name="直接连接符 20494"/>
            <p:cNvSpPr>
              <a:spLocks noChangeShapeType="1"/>
            </p:cNvSpPr>
            <p:nvPr/>
          </p:nvSpPr>
          <p:spPr bwMode="auto">
            <a:xfrm flipH="1">
              <a:off x="281" y="419"/>
              <a:ext cx="352"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999" name="文本框 20495"/>
            <p:cNvSpPr txBox="1">
              <a:spLocks noChangeArrowheads="1"/>
            </p:cNvSpPr>
            <p:nvPr/>
          </p:nvSpPr>
          <p:spPr bwMode="auto">
            <a:xfrm>
              <a:off x="0" y="667"/>
              <a:ext cx="5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spcBef>
                  <a:spcPct val="50000"/>
                </a:spcBef>
              </a:pPr>
              <a:r>
                <a:rPr lang="en-US" altLang="zh-CN">
                  <a:latin typeface="Arial" panose="020B0604020202020204" pitchFamily="34" charset="0"/>
                </a:rPr>
                <a:t>e b c</a:t>
              </a:r>
              <a:endParaRPr lang="en-US" altLang="zh-CN">
                <a:latin typeface="Arial" panose="020B0604020202020204" pitchFamily="34" charset="0"/>
              </a:endParaRPr>
            </a:p>
          </p:txBody>
        </p:sp>
      </p:grpSp>
      <p:sp>
        <p:nvSpPr>
          <p:cNvPr id="41989" name="文本框 20496"/>
          <p:cNvSpPr txBox="1">
            <a:spLocks noChangeArrowheads="1"/>
          </p:cNvSpPr>
          <p:nvPr/>
        </p:nvSpPr>
        <p:spPr bwMode="auto">
          <a:xfrm>
            <a:off x="2135189" y="2060576"/>
            <a:ext cx="619283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a:latin typeface="Arial" panose="020B0604020202020204" pitchFamily="34" charset="0"/>
              </a:rPr>
              <a:t>VT1</a:t>
            </a:r>
            <a:r>
              <a:rPr lang="zh-CN" altLang="en-US">
                <a:latin typeface="Arial" panose="020B0604020202020204" pitchFamily="34" charset="0"/>
              </a:rPr>
              <a:t>：</a:t>
            </a:r>
            <a:r>
              <a:rPr lang="en-US" altLang="zh-CN">
                <a:latin typeface="Arial" panose="020B0604020202020204" pitchFamily="34" charset="0"/>
              </a:rPr>
              <a:t>3DG201</a:t>
            </a:r>
            <a:r>
              <a:rPr lang="zh-CN" altLang="en-US">
                <a:latin typeface="Arial" panose="020B0604020202020204" pitchFamily="34" charset="0"/>
              </a:rPr>
              <a:t>（</a:t>
            </a:r>
            <a:r>
              <a:rPr lang="en-US" altLang="zh-CN">
                <a:latin typeface="Arial" panose="020B0604020202020204" pitchFamily="34" charset="0"/>
              </a:rPr>
              <a:t>9018</a:t>
            </a:r>
            <a:r>
              <a:rPr lang="zh-CN" altLang="en-US">
                <a:latin typeface="Arial" panose="020B0604020202020204" pitchFamily="34" charset="0"/>
              </a:rPr>
              <a:t>），绿点，</a:t>
            </a:r>
            <a:r>
              <a:rPr lang="en-US" altLang="zh-CN">
                <a:latin typeface="Arial" panose="020B0604020202020204" pitchFamily="34" charset="0"/>
              </a:rPr>
              <a:t>hfe=100</a:t>
            </a:r>
            <a:r>
              <a:rPr lang="zh-CN" altLang="en-US">
                <a:latin typeface="Arial" panose="020B0604020202020204" pitchFamily="34" charset="0"/>
              </a:rPr>
              <a:t>以下；</a:t>
            </a:r>
            <a:endParaRPr lang="zh-CN" altLang="en-US">
              <a:latin typeface="Arial" panose="020B0604020202020204" pitchFamily="34" charset="0"/>
            </a:endParaRPr>
          </a:p>
          <a:p>
            <a:r>
              <a:rPr lang="en-US" altLang="zh-CN">
                <a:latin typeface="Arial" panose="020B0604020202020204" pitchFamily="34" charset="0"/>
              </a:rPr>
              <a:t>VT2</a:t>
            </a:r>
            <a:r>
              <a:rPr lang="zh-CN" altLang="en-US">
                <a:latin typeface="Arial" panose="020B0604020202020204" pitchFamily="34" charset="0"/>
              </a:rPr>
              <a:t>、</a:t>
            </a:r>
            <a:r>
              <a:rPr lang="en-US" altLang="zh-CN">
                <a:latin typeface="Arial" panose="020B0604020202020204" pitchFamily="34" charset="0"/>
              </a:rPr>
              <a:t>VT3: 3DG201</a:t>
            </a:r>
            <a:r>
              <a:rPr lang="zh-CN" altLang="en-US">
                <a:latin typeface="Arial" panose="020B0604020202020204" pitchFamily="34" charset="0"/>
              </a:rPr>
              <a:t>（</a:t>
            </a:r>
            <a:r>
              <a:rPr lang="en-US" altLang="zh-CN">
                <a:latin typeface="Arial" panose="020B0604020202020204" pitchFamily="34" charset="0"/>
              </a:rPr>
              <a:t>9018</a:t>
            </a:r>
            <a:r>
              <a:rPr lang="zh-CN" altLang="en-US">
                <a:latin typeface="Arial" panose="020B0604020202020204" pitchFamily="34" charset="0"/>
              </a:rPr>
              <a:t>），蓝点， </a:t>
            </a:r>
            <a:r>
              <a:rPr lang="en-US" altLang="zh-CN">
                <a:latin typeface="Arial" panose="020B0604020202020204" pitchFamily="34" charset="0"/>
              </a:rPr>
              <a:t>hfe=100</a:t>
            </a:r>
            <a:r>
              <a:rPr lang="zh-CN" altLang="en-US">
                <a:latin typeface="Arial" panose="020B0604020202020204" pitchFamily="34" charset="0"/>
              </a:rPr>
              <a:t>左右均可；</a:t>
            </a:r>
            <a:endParaRPr lang="zh-CN" altLang="en-US">
              <a:latin typeface="Arial" panose="020B0604020202020204" pitchFamily="34" charset="0"/>
            </a:endParaRPr>
          </a:p>
          <a:p>
            <a:r>
              <a:rPr lang="en-US" altLang="zh-CN">
                <a:latin typeface="Arial" panose="020B0604020202020204" pitchFamily="34" charset="0"/>
              </a:rPr>
              <a:t>VT4</a:t>
            </a:r>
            <a:r>
              <a:rPr lang="zh-CN" altLang="en-US">
                <a:latin typeface="Arial" panose="020B0604020202020204" pitchFamily="34" charset="0"/>
              </a:rPr>
              <a:t>：</a:t>
            </a:r>
            <a:r>
              <a:rPr lang="en-US" altLang="zh-CN">
                <a:latin typeface="Arial" panose="020B0604020202020204" pitchFamily="34" charset="0"/>
              </a:rPr>
              <a:t>3DG201</a:t>
            </a:r>
            <a:r>
              <a:rPr lang="zh-CN" altLang="en-US">
                <a:latin typeface="Arial" panose="020B0604020202020204" pitchFamily="34" charset="0"/>
              </a:rPr>
              <a:t>（</a:t>
            </a:r>
            <a:r>
              <a:rPr lang="en-US" altLang="zh-CN">
                <a:latin typeface="Arial" panose="020B0604020202020204" pitchFamily="34" charset="0"/>
              </a:rPr>
              <a:t>9014</a:t>
            </a:r>
            <a:r>
              <a:rPr lang="zh-CN" altLang="en-US">
                <a:latin typeface="Arial" panose="020B0604020202020204" pitchFamily="34" charset="0"/>
              </a:rPr>
              <a:t>），紫点，</a:t>
            </a:r>
            <a:r>
              <a:rPr lang="en-US" altLang="zh-CN">
                <a:latin typeface="Arial" panose="020B0604020202020204" pitchFamily="34" charset="0"/>
              </a:rPr>
              <a:t>hfe=200</a:t>
            </a:r>
            <a:r>
              <a:rPr lang="zh-CN" altLang="en-US">
                <a:latin typeface="Arial" panose="020B0604020202020204" pitchFamily="34" charset="0"/>
              </a:rPr>
              <a:t>以上；</a:t>
            </a:r>
            <a:endParaRPr lang="zh-CN" altLang="en-US">
              <a:latin typeface="Arial" panose="020B0604020202020204" pitchFamily="34" charset="0"/>
            </a:endParaRPr>
          </a:p>
          <a:p>
            <a:r>
              <a:rPr lang="en-US" altLang="zh-CN">
                <a:latin typeface="Arial" panose="020B0604020202020204" pitchFamily="34" charset="0"/>
              </a:rPr>
              <a:t>VT5</a:t>
            </a:r>
            <a:r>
              <a:rPr lang="zh-CN" altLang="en-US">
                <a:latin typeface="Arial" panose="020B0604020202020204" pitchFamily="34" charset="0"/>
              </a:rPr>
              <a:t>、</a:t>
            </a:r>
            <a:r>
              <a:rPr lang="en-US" altLang="zh-CN">
                <a:latin typeface="Arial" panose="020B0604020202020204" pitchFamily="34" charset="0"/>
              </a:rPr>
              <a:t>VT6: 9013</a:t>
            </a:r>
            <a:r>
              <a:rPr lang="zh-CN" altLang="en-US">
                <a:latin typeface="Arial" panose="020B0604020202020204" pitchFamily="34" charset="0"/>
              </a:rPr>
              <a:t>，</a:t>
            </a:r>
            <a:r>
              <a:rPr lang="en-US" altLang="zh-CN">
                <a:latin typeface="Arial" panose="020B0604020202020204" pitchFamily="34" charset="0"/>
              </a:rPr>
              <a:t>hfe=150</a:t>
            </a:r>
            <a:r>
              <a:rPr lang="zh-CN" altLang="en-US">
                <a:latin typeface="Arial" panose="020B0604020202020204" pitchFamily="34" charset="0"/>
              </a:rPr>
              <a:t>左右均可，最好相近。</a:t>
            </a:r>
            <a:endParaRPr lang="zh-CN" altLang="en-US">
              <a:latin typeface="Arial" panose="020B0604020202020204" pitchFamily="34" charset="0"/>
            </a:endParaRPr>
          </a:p>
        </p:txBody>
      </p:sp>
      <p:sp>
        <p:nvSpPr>
          <p:cNvPr id="41990" name="文本框 20497"/>
          <p:cNvSpPr txBox="1">
            <a:spLocks noChangeArrowheads="1"/>
          </p:cNvSpPr>
          <p:nvPr/>
        </p:nvSpPr>
        <p:spPr bwMode="auto">
          <a:xfrm>
            <a:off x="2171701" y="3519489"/>
            <a:ext cx="6753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startAt="5"/>
            </a:pPr>
            <a:endParaRPr lang="zh-CN" altLang="en-US" sz="2000">
              <a:latin typeface="Arial" panose="020B0604020202020204" pitchFamily="34" charset="0"/>
            </a:endParaRPr>
          </a:p>
        </p:txBody>
      </p:sp>
      <p:sp>
        <p:nvSpPr>
          <p:cNvPr id="41991" name="文本框 20498"/>
          <p:cNvSpPr txBox="1">
            <a:spLocks noChangeArrowheads="1"/>
          </p:cNvSpPr>
          <p:nvPr/>
        </p:nvSpPr>
        <p:spPr bwMode="auto">
          <a:xfrm>
            <a:off x="1666876" y="3397250"/>
            <a:ext cx="89249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startAt="2"/>
            </a:pPr>
            <a:r>
              <a:rPr lang="zh-CN" altLang="en-US" sz="2400">
                <a:latin typeface="Arial" panose="020B0604020202020204" pitchFamily="34" charset="0"/>
              </a:rPr>
              <a:t>对照原理图检查印刷电路板布线及各元器件位置是否正确。要求能清楚地将原理图和印刷电路的元器件和连线对应起来。</a:t>
            </a:r>
            <a:endParaRPr lang="zh-CN" altLang="en-US" sz="2400">
              <a:latin typeface="Arial" panose="020B0604020202020204" pitchFamily="34" charset="0"/>
            </a:endParaRPr>
          </a:p>
        </p:txBody>
      </p:sp>
      <p:sp>
        <p:nvSpPr>
          <p:cNvPr id="41992" name="文本框 20499"/>
          <p:cNvSpPr txBox="1">
            <a:spLocks noChangeArrowheads="1"/>
          </p:cNvSpPr>
          <p:nvPr/>
        </p:nvSpPr>
        <p:spPr bwMode="auto">
          <a:xfrm>
            <a:off x="1670050" y="4375151"/>
            <a:ext cx="876935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startAt="3"/>
            </a:pPr>
            <a:r>
              <a:rPr lang="zh-CN" altLang="en-US" sz="2400">
                <a:latin typeface="Arial" panose="020B0604020202020204" pitchFamily="34" charset="0"/>
              </a:rPr>
              <a:t>处理元器件各管脚（去氧化层）并镀锡。在处理过程中可用小刀刮掉各管脚氧化物到管脚发亮。（处理管脚也可在焊接过程中进行）</a:t>
            </a:r>
            <a:endParaRPr lang="zh-CN" altLang="en-US" sz="2400">
              <a:latin typeface="Arial" panose="020B0604020202020204" pitchFamily="34" charset="0"/>
            </a:endParaRPr>
          </a:p>
          <a:p>
            <a:pPr>
              <a:spcBef>
                <a:spcPct val="0"/>
              </a:spcBef>
              <a:buClrTx/>
              <a:buFont typeface="Arial" panose="020B0604020202020204" pitchFamily="34" charset="0"/>
              <a:buNone/>
            </a:pPr>
            <a:r>
              <a:rPr lang="zh-CN" altLang="en-US" sz="2400">
                <a:solidFill>
                  <a:srgbClr val="FF0000"/>
                </a:solidFill>
                <a:latin typeface="Arial" panose="020B0604020202020204" pitchFamily="34" charset="0"/>
              </a:rPr>
              <a:t>特别注意：天线线圈、中周、输入及输出变压器需要处理时应小心，一般情况下，它们的引线均已镀锡，可不处理。</a:t>
            </a:r>
            <a:endParaRPr lang="zh-CN" altLang="en-US" sz="2400">
              <a:solidFill>
                <a:srgbClr val="FF0000"/>
              </a:solidFill>
              <a:latin typeface="Arial" panose="020B0604020202020204" pitchFamily="34" charset="0"/>
            </a:endParaRPr>
          </a:p>
        </p:txBody>
      </p:sp>
      <p:sp>
        <p:nvSpPr>
          <p:cNvPr id="41993" name="矩形 20500"/>
          <p:cNvSpPr>
            <a:spLocks noChangeArrowheads="1"/>
          </p:cNvSpPr>
          <p:nvPr/>
        </p:nvSpPr>
        <p:spPr bwMode="auto">
          <a:xfrm>
            <a:off x="2899340" y="188120"/>
            <a:ext cx="7197725"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3200" b="1" dirty="0">
                <a:solidFill>
                  <a:srgbClr val="FF0000"/>
                </a:solidFill>
                <a:latin typeface="Times New Roman" panose="02020603050405020304" pitchFamily="18" charset="0"/>
              </a:rPr>
              <a:t>超外差式调幅收音组装前的准备工作</a:t>
            </a:r>
            <a:endParaRPr lang="zh-CN" altLang="en-US" sz="3200" b="1" dirty="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框 21505"/>
          <p:cNvSpPr txBox="1">
            <a:spLocks noChangeArrowheads="1"/>
          </p:cNvSpPr>
          <p:nvPr/>
        </p:nvSpPr>
        <p:spPr bwMode="auto">
          <a:xfrm>
            <a:off x="1635126" y="1081089"/>
            <a:ext cx="827087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a:pPr>
            <a:r>
              <a:rPr lang="zh-CN" altLang="en-US" sz="2000">
                <a:latin typeface="Arial" panose="020B0604020202020204" pitchFamily="34" charset="0"/>
              </a:rPr>
              <a:t>工具及消耗品：烙铁、镊子、楔口钳、尖嘴钳，螺丝刀、焊锡等。</a:t>
            </a:r>
            <a:endParaRPr lang="en-US" altLang="zh-CN" sz="2000">
              <a:latin typeface="Arial" panose="020B0604020202020204" pitchFamily="34" charset="0"/>
            </a:endParaRPr>
          </a:p>
          <a:p>
            <a:pPr>
              <a:spcBef>
                <a:spcPct val="0"/>
              </a:spcBef>
              <a:buClrTx/>
              <a:buFont typeface="Arial" panose="020B0604020202020204" pitchFamily="34" charset="0"/>
              <a:buAutoNum type="arabicPeriod"/>
            </a:pPr>
            <a:r>
              <a:rPr lang="zh-CN" altLang="en-US" sz="2000">
                <a:latin typeface="Arial" panose="020B0604020202020204" pitchFamily="34" charset="0"/>
              </a:rPr>
              <a:t>组装焊接注意事项：</a:t>
            </a:r>
            <a:endParaRPr lang="zh-CN" altLang="en-US" sz="2000">
              <a:latin typeface="Arial" panose="020B0604020202020204" pitchFamily="34" charset="0"/>
            </a:endParaRPr>
          </a:p>
          <a:p>
            <a:pPr>
              <a:spcBef>
                <a:spcPct val="0"/>
              </a:spcBef>
              <a:buClrTx/>
              <a:buFont typeface="Arial" panose="020B0604020202020204" pitchFamily="34" charset="0"/>
              <a:buAutoNum type="arabicPeriod"/>
            </a:pPr>
            <a:endParaRPr lang="zh-CN" altLang="en-US" sz="2000">
              <a:latin typeface="Arial" panose="020B0604020202020204" pitchFamily="34" charset="0"/>
            </a:endParaRPr>
          </a:p>
          <a:p>
            <a:pPr>
              <a:spcBef>
                <a:spcPct val="0"/>
              </a:spcBef>
              <a:buClrTx/>
              <a:buFont typeface="Arial" panose="020B0604020202020204" pitchFamily="34" charset="0"/>
              <a:buAutoNum type="arabicPeriod"/>
            </a:pPr>
            <a:endParaRPr lang="zh-CN" altLang="en-US" sz="1800">
              <a:latin typeface="Arial" panose="020B0604020202020204" pitchFamily="34" charset="0"/>
            </a:endParaRPr>
          </a:p>
        </p:txBody>
      </p:sp>
      <p:sp>
        <p:nvSpPr>
          <p:cNvPr id="43011" name="文本框 21508"/>
          <p:cNvSpPr txBox="1">
            <a:spLocks noChangeArrowheads="1"/>
          </p:cNvSpPr>
          <p:nvPr/>
        </p:nvSpPr>
        <p:spPr bwMode="auto">
          <a:xfrm>
            <a:off x="1978025" y="1954214"/>
            <a:ext cx="1797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circleNumDbPlain"/>
            </a:pPr>
            <a:r>
              <a:rPr lang="zh-CN" altLang="en-US" sz="2000" b="0">
                <a:latin typeface="Arial" panose="020B0604020202020204" pitchFamily="34" charset="0"/>
              </a:rPr>
              <a:t>注意安全：</a:t>
            </a:r>
            <a:endParaRPr lang="zh-CN" altLang="en-US" sz="2000" b="0">
              <a:latin typeface="Arial" panose="020B0604020202020204" pitchFamily="34" charset="0"/>
            </a:endParaRPr>
          </a:p>
        </p:txBody>
      </p:sp>
      <p:sp>
        <p:nvSpPr>
          <p:cNvPr id="43012" name="左大括号 21509"/>
          <p:cNvSpPr/>
          <p:nvPr/>
        </p:nvSpPr>
        <p:spPr bwMode="auto">
          <a:xfrm>
            <a:off x="3657600" y="1825625"/>
            <a:ext cx="101600" cy="990600"/>
          </a:xfrm>
          <a:prstGeom prst="leftBrace">
            <a:avLst>
              <a:gd name="adj1" fmla="val 8125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3013" name="文本框 21510"/>
          <p:cNvSpPr txBox="1">
            <a:spLocks noChangeArrowheads="1"/>
          </p:cNvSpPr>
          <p:nvPr/>
        </p:nvSpPr>
        <p:spPr bwMode="auto">
          <a:xfrm>
            <a:off x="3794126" y="1724026"/>
            <a:ext cx="67976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lphaLcParenR"/>
            </a:pPr>
            <a:r>
              <a:rPr lang="zh-CN" altLang="en-US" sz="1800" b="0">
                <a:latin typeface="Arial" panose="020B0604020202020204" pitchFamily="34" charset="0"/>
              </a:rPr>
              <a:t>烙铁电源线是否存在漏电隐患！</a:t>
            </a:r>
            <a:endParaRPr lang="zh-CN" altLang="en-US" sz="1800" b="0">
              <a:latin typeface="Arial" panose="020B0604020202020204" pitchFamily="34" charset="0"/>
            </a:endParaRPr>
          </a:p>
          <a:p>
            <a:pPr>
              <a:spcBef>
                <a:spcPct val="0"/>
              </a:spcBef>
              <a:buClrTx/>
              <a:buFont typeface="Arial" panose="020B0604020202020204" pitchFamily="34" charset="0"/>
              <a:buAutoNum type="alphaLcParenR"/>
            </a:pPr>
            <a:r>
              <a:rPr lang="zh-CN" altLang="en-US" sz="1800" b="0">
                <a:latin typeface="Arial" panose="020B0604020202020204" pitchFamily="34" charset="0"/>
              </a:rPr>
              <a:t>烙铁在焊接中温度较高，严禁烫伤他人和自己。也不要碰到其他任何可燃物，特别是导线！</a:t>
            </a:r>
            <a:endParaRPr lang="zh-CN" altLang="en-US" sz="1800" b="0">
              <a:latin typeface="Arial" panose="020B0604020202020204" pitchFamily="34" charset="0"/>
            </a:endParaRPr>
          </a:p>
          <a:p>
            <a:pPr>
              <a:spcBef>
                <a:spcPct val="0"/>
              </a:spcBef>
              <a:buClrTx/>
              <a:buFont typeface="Arial" panose="020B0604020202020204" pitchFamily="34" charset="0"/>
              <a:buAutoNum type="alphaLcParenR"/>
            </a:pPr>
            <a:r>
              <a:rPr lang="zh-CN" altLang="en-US" sz="1800" b="0">
                <a:latin typeface="Arial" panose="020B0604020202020204" pitchFamily="34" charset="0"/>
              </a:rPr>
              <a:t>烙铁放置：烙铁头向外，导线向自己。</a:t>
            </a:r>
            <a:endParaRPr lang="zh-CN" altLang="en-US" sz="1800" b="0">
              <a:latin typeface="Arial" panose="020B0604020202020204" pitchFamily="34" charset="0"/>
            </a:endParaRPr>
          </a:p>
        </p:txBody>
      </p:sp>
      <p:sp>
        <p:nvSpPr>
          <p:cNvPr id="43014" name="文本框 21511"/>
          <p:cNvSpPr txBox="1">
            <a:spLocks noChangeArrowheads="1"/>
          </p:cNvSpPr>
          <p:nvPr/>
        </p:nvSpPr>
        <p:spPr bwMode="auto">
          <a:xfrm>
            <a:off x="1951038" y="2962276"/>
            <a:ext cx="8564562"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circleNumDbPlain" startAt="2"/>
            </a:pPr>
            <a:r>
              <a:rPr lang="zh-CN" altLang="en-US" sz="2000" b="0">
                <a:latin typeface="Arial" panose="020B0604020202020204" pitchFamily="34" charset="0"/>
              </a:rPr>
              <a:t>注意各中周及振荡线圈的位置不能互换！</a:t>
            </a:r>
            <a:endParaRPr lang="zh-CN" altLang="en-US" sz="2000" b="0">
              <a:latin typeface="Arial" panose="020B0604020202020204" pitchFamily="34" charset="0"/>
            </a:endParaRPr>
          </a:p>
          <a:p>
            <a:pPr>
              <a:spcBef>
                <a:spcPct val="0"/>
              </a:spcBef>
              <a:buClrTx/>
              <a:buFont typeface="Arial" panose="020B0604020202020204" pitchFamily="34" charset="0"/>
              <a:buAutoNum type="circleNumDbPlain" startAt="2"/>
            </a:pPr>
            <a:r>
              <a:rPr lang="zh-CN" altLang="en-US" sz="2000" b="0">
                <a:latin typeface="Arial" panose="020B0604020202020204" pitchFamily="34" charset="0"/>
              </a:rPr>
              <a:t>电解电容、二极管极性以及三极管</a:t>
            </a:r>
            <a:r>
              <a:rPr lang="en-US" altLang="zh-CN" sz="2000" b="0">
                <a:latin typeface="Arial" panose="020B0604020202020204" pitchFamily="34" charset="0"/>
              </a:rPr>
              <a:t>e</a:t>
            </a:r>
            <a:r>
              <a:rPr lang="zh-CN" altLang="en-US" sz="2000" b="0">
                <a:latin typeface="Arial" panose="020B0604020202020204" pitchFamily="34" charset="0"/>
              </a:rPr>
              <a:t>、</a:t>
            </a:r>
            <a:r>
              <a:rPr lang="en-US" altLang="zh-CN" sz="2000" b="0">
                <a:latin typeface="Arial" panose="020B0604020202020204" pitchFamily="34" charset="0"/>
              </a:rPr>
              <a:t>b</a:t>
            </a:r>
            <a:r>
              <a:rPr lang="zh-CN" altLang="en-US" sz="2000" b="0">
                <a:latin typeface="Arial" panose="020B0604020202020204" pitchFamily="34" charset="0"/>
              </a:rPr>
              <a:t>、</a:t>
            </a:r>
            <a:r>
              <a:rPr lang="en-US" altLang="zh-CN" sz="2000" b="0">
                <a:latin typeface="Arial" panose="020B0604020202020204" pitchFamily="34" charset="0"/>
              </a:rPr>
              <a:t>c</a:t>
            </a:r>
            <a:r>
              <a:rPr lang="zh-CN" altLang="en-US" sz="2000" b="0">
                <a:latin typeface="Arial" panose="020B0604020202020204" pitchFamily="34" charset="0"/>
              </a:rPr>
              <a:t>不能出错！</a:t>
            </a:r>
            <a:endParaRPr lang="zh-CN" altLang="en-US" sz="2000" b="0">
              <a:latin typeface="Arial" panose="020B0604020202020204" pitchFamily="34" charset="0"/>
            </a:endParaRPr>
          </a:p>
          <a:p>
            <a:pPr>
              <a:spcBef>
                <a:spcPct val="0"/>
              </a:spcBef>
              <a:buClrTx/>
              <a:buFont typeface="Arial" panose="020B0604020202020204" pitchFamily="34" charset="0"/>
              <a:buAutoNum type="circleNumDbPlain" startAt="2"/>
            </a:pPr>
            <a:r>
              <a:rPr lang="zh-CN" altLang="en-US" sz="2000" b="0">
                <a:latin typeface="Arial" panose="020B0604020202020204" pitchFamily="34" charset="0"/>
              </a:rPr>
              <a:t>各元器件高度应适当，所有元器件高度均不能超过中周的高度。否则收音机外壳将无法合拢</a:t>
            </a:r>
            <a:r>
              <a:rPr lang="zh-CN" altLang="en-US" sz="1800" b="0">
                <a:latin typeface="Arial" panose="020B0604020202020204" pitchFamily="34" charset="0"/>
              </a:rPr>
              <a:t>。</a:t>
            </a:r>
            <a:endParaRPr lang="zh-CN" altLang="en-US" sz="1800" b="0">
              <a:latin typeface="Arial" panose="020B0604020202020204" pitchFamily="34" charset="0"/>
            </a:endParaRPr>
          </a:p>
        </p:txBody>
      </p:sp>
      <p:sp>
        <p:nvSpPr>
          <p:cNvPr id="43015" name="矩形 21512"/>
          <p:cNvSpPr>
            <a:spLocks noChangeArrowheads="1"/>
          </p:cNvSpPr>
          <p:nvPr/>
        </p:nvSpPr>
        <p:spPr bwMode="auto">
          <a:xfrm>
            <a:off x="2876550" y="200026"/>
            <a:ext cx="7199313"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3200" b="1" dirty="0">
                <a:solidFill>
                  <a:srgbClr val="FF0000"/>
                </a:solidFill>
                <a:latin typeface="Times New Roman" panose="02020603050405020304" pitchFamily="18" charset="0"/>
              </a:rPr>
              <a:t>超外差式调幅收音组装、焊接</a:t>
            </a:r>
            <a:endParaRPr lang="zh-CN" altLang="en-US" sz="3200" b="1" dirty="0">
              <a:solidFill>
                <a:srgbClr val="FF0000"/>
              </a:solidFill>
              <a:latin typeface="Times New Roman" panose="02020603050405020304" pitchFamily="18" charset="0"/>
            </a:endParaRPr>
          </a:p>
        </p:txBody>
      </p:sp>
      <p:sp>
        <p:nvSpPr>
          <p:cNvPr id="43016" name="文本框 21513"/>
          <p:cNvSpPr txBox="1">
            <a:spLocks noChangeArrowheads="1"/>
          </p:cNvSpPr>
          <p:nvPr/>
        </p:nvSpPr>
        <p:spPr bwMode="auto">
          <a:xfrm>
            <a:off x="1709738" y="4321176"/>
            <a:ext cx="86534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startAt="3"/>
            </a:pPr>
            <a:r>
              <a:rPr lang="zh-CN" altLang="en-US" sz="2000">
                <a:latin typeface="Arial" panose="020B0604020202020204" pitchFamily="34" charset="0"/>
              </a:rPr>
              <a:t>组装顺序：原则：方便焊接。实际组装顺序自己可根据实际情况进行。</a:t>
            </a:r>
            <a:endParaRPr lang="zh-CN" altLang="en-US" sz="2000">
              <a:latin typeface="Arial" panose="020B0604020202020204" pitchFamily="34" charset="0"/>
            </a:endParaRPr>
          </a:p>
          <a:p>
            <a:pPr>
              <a:spcBef>
                <a:spcPct val="0"/>
              </a:spcBef>
              <a:buClrTx/>
              <a:buFont typeface="Arial" panose="020B0604020202020204" pitchFamily="34" charset="0"/>
              <a:buAutoNum type="arabicPeriod" startAt="3"/>
            </a:pPr>
            <a:endParaRPr lang="zh-CN" altLang="en-US" sz="2000">
              <a:latin typeface="Arial" panose="020B0604020202020204" pitchFamily="34" charset="0"/>
            </a:endParaRPr>
          </a:p>
        </p:txBody>
      </p:sp>
      <p:sp>
        <p:nvSpPr>
          <p:cNvPr id="43017" name="文本框 21514"/>
          <p:cNvSpPr txBox="1">
            <a:spLocks noChangeArrowheads="1"/>
          </p:cNvSpPr>
          <p:nvPr/>
        </p:nvSpPr>
        <p:spPr bwMode="auto">
          <a:xfrm>
            <a:off x="1963738" y="4675189"/>
            <a:ext cx="624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a:pPr>
            <a:r>
              <a:rPr lang="zh-CN" altLang="en-US" sz="2000">
                <a:latin typeface="Arial" panose="020B0604020202020204" pitchFamily="34" charset="0"/>
              </a:rPr>
              <a:t>从左 </a:t>
            </a:r>
            <a:r>
              <a:rPr lang="en-US" altLang="zh-CN" sz="2000">
                <a:latin typeface="Arial" panose="020B0604020202020204" pitchFamily="34" charset="0"/>
              </a:rPr>
              <a:t>——</a:t>
            </a:r>
            <a:r>
              <a:rPr lang="zh-CN" altLang="en-US" sz="2000">
                <a:latin typeface="Arial" panose="020B0604020202020204" pitchFamily="34" charset="0"/>
              </a:rPr>
              <a:t>右，从上 </a:t>
            </a:r>
            <a:r>
              <a:rPr lang="en-US" altLang="zh-CN" sz="2000">
                <a:latin typeface="Arial" panose="020B0604020202020204" pitchFamily="34" charset="0"/>
              </a:rPr>
              <a:t>——</a:t>
            </a:r>
            <a:r>
              <a:rPr lang="zh-CN" altLang="en-US" sz="2000">
                <a:latin typeface="Arial" panose="020B0604020202020204" pitchFamily="34" charset="0"/>
              </a:rPr>
              <a:t>下，从中央 </a:t>
            </a:r>
            <a:r>
              <a:rPr lang="en-US" altLang="zh-CN" sz="2000">
                <a:latin typeface="Arial" panose="020B0604020202020204" pitchFamily="34" charset="0"/>
              </a:rPr>
              <a:t>——</a:t>
            </a:r>
            <a:r>
              <a:rPr lang="zh-CN" altLang="en-US" sz="2000">
                <a:latin typeface="Arial" panose="020B0604020202020204" pitchFamily="34" charset="0"/>
              </a:rPr>
              <a:t>四周。</a:t>
            </a:r>
            <a:endParaRPr lang="zh-CN" altLang="en-US" sz="2000">
              <a:latin typeface="Arial" panose="020B0604020202020204" pitchFamily="34" charset="0"/>
            </a:endParaRPr>
          </a:p>
        </p:txBody>
      </p:sp>
      <p:sp>
        <p:nvSpPr>
          <p:cNvPr id="43018" name="文本框 22529"/>
          <p:cNvSpPr txBox="1">
            <a:spLocks noChangeArrowheads="1"/>
          </p:cNvSpPr>
          <p:nvPr/>
        </p:nvSpPr>
        <p:spPr bwMode="auto">
          <a:xfrm>
            <a:off x="7989888" y="4675188"/>
            <a:ext cx="25193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startAt="2"/>
            </a:pPr>
            <a:r>
              <a:rPr lang="zh-CN" altLang="en-US" sz="1800">
                <a:latin typeface="Arial" panose="020B0604020202020204" pitchFamily="34" charset="0"/>
              </a:rPr>
              <a:t>从大到小</a:t>
            </a:r>
            <a:endParaRPr lang="zh-CN" altLang="en-US" sz="1800">
              <a:latin typeface="Arial" panose="020B0604020202020204" pitchFamily="34" charset="0"/>
            </a:endParaRPr>
          </a:p>
        </p:txBody>
      </p:sp>
      <p:sp>
        <p:nvSpPr>
          <p:cNvPr id="43019" name="文本框 22530"/>
          <p:cNvSpPr txBox="1">
            <a:spLocks noChangeArrowheads="1"/>
          </p:cNvSpPr>
          <p:nvPr/>
        </p:nvSpPr>
        <p:spPr bwMode="auto">
          <a:xfrm>
            <a:off x="1957388" y="4986339"/>
            <a:ext cx="882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romanUcPeriod" startAt="3"/>
            </a:pPr>
            <a:r>
              <a:rPr lang="zh-CN" altLang="en-US" sz="2000">
                <a:latin typeface="Arial" panose="020B0604020202020204" pitchFamily="34" charset="0"/>
              </a:rPr>
              <a:t>本次实验由于所有元器件高度均不应该超过中周，组装顺序可按下执行：</a:t>
            </a:r>
            <a:endParaRPr lang="zh-CN" altLang="en-US" sz="2000">
              <a:latin typeface="Arial" panose="020B0604020202020204" pitchFamily="34" charset="0"/>
            </a:endParaRPr>
          </a:p>
        </p:txBody>
      </p:sp>
      <p:sp>
        <p:nvSpPr>
          <p:cNvPr id="43020" name="文本框 22531"/>
          <p:cNvSpPr txBox="1">
            <a:spLocks noChangeArrowheads="1"/>
          </p:cNvSpPr>
          <p:nvPr/>
        </p:nvSpPr>
        <p:spPr bwMode="auto">
          <a:xfrm>
            <a:off x="1635126" y="5353051"/>
            <a:ext cx="89566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000" b="1"/>
              <a:t>①</a:t>
            </a:r>
            <a:r>
              <a:rPr lang="zh-CN" altLang="en-US" sz="2000" b="1"/>
              <a:t>双连；</a:t>
            </a:r>
            <a:r>
              <a:rPr lang="en-US" altLang="zh-CN" sz="2000" b="1"/>
              <a:t>②</a:t>
            </a:r>
            <a:r>
              <a:rPr lang="zh-CN" altLang="en-US" sz="2000" b="1"/>
              <a:t>振荡线圈、中周；</a:t>
            </a:r>
            <a:r>
              <a:rPr lang="en-US" altLang="zh-CN" sz="2000" b="1"/>
              <a:t>③</a:t>
            </a:r>
            <a:r>
              <a:rPr lang="zh-CN" altLang="en-US" sz="2000" b="1"/>
              <a:t>输入变压器、输出变压器；</a:t>
            </a:r>
            <a:r>
              <a:rPr lang="en-US" altLang="zh-CN" sz="2000" b="1"/>
              <a:t>④</a:t>
            </a:r>
            <a:r>
              <a:rPr lang="zh-CN" altLang="en-US" sz="2000" b="1"/>
              <a:t>电位器；</a:t>
            </a:r>
            <a:r>
              <a:rPr lang="en-US" altLang="zh-CN" sz="2000" b="1"/>
              <a:t>⑤</a:t>
            </a:r>
            <a:r>
              <a:rPr lang="zh-CN" altLang="en-US" sz="2000" b="1"/>
              <a:t>电阻、电容、二极管、三极管；</a:t>
            </a:r>
            <a:r>
              <a:rPr lang="en-US" altLang="zh-CN" sz="2000" b="1"/>
              <a:t>⑥</a:t>
            </a:r>
            <a:r>
              <a:rPr lang="zh-CN" altLang="en-US" sz="2000" b="1"/>
              <a:t>天线线圈；</a:t>
            </a:r>
            <a:r>
              <a:rPr lang="en-US" altLang="zh-CN" sz="2000" b="1"/>
              <a:t>⑦</a:t>
            </a:r>
            <a:r>
              <a:rPr lang="zh-CN" altLang="en-US" sz="2000" b="1"/>
              <a:t>耳机；</a:t>
            </a:r>
            <a:r>
              <a:rPr lang="en-US" altLang="zh-CN" sz="2000" b="1"/>
              <a:t>⑧</a:t>
            </a:r>
            <a:r>
              <a:rPr lang="zh-CN" altLang="en-US" sz="2000" b="1"/>
              <a:t>喇叭导线、电源线及其他导线。</a:t>
            </a:r>
            <a:endParaRPr lang="zh-CN" altLang="en-US" sz="2000" b="1"/>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椭圆 23553"/>
          <p:cNvSpPr>
            <a:spLocks noChangeArrowheads="1"/>
          </p:cNvSpPr>
          <p:nvPr/>
        </p:nvSpPr>
        <p:spPr bwMode="auto">
          <a:xfrm>
            <a:off x="3943350" y="4494213"/>
            <a:ext cx="393700" cy="266700"/>
          </a:xfrm>
          <a:prstGeom prst="ellipse">
            <a:avLst/>
          </a:prstGeom>
          <a:solidFill>
            <a:srgbClr val="FF00FF"/>
          </a:solidFill>
          <a:ln w="9525">
            <a:solidFill>
              <a:schemeClr val="tx1"/>
            </a:solidFill>
            <a:round/>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23556" name="矩形 23555"/>
          <p:cNvSpPr>
            <a:spLocks noChangeArrowheads="1"/>
          </p:cNvSpPr>
          <p:nvPr/>
        </p:nvSpPr>
        <p:spPr bwMode="auto">
          <a:xfrm>
            <a:off x="1676400" y="5535614"/>
            <a:ext cx="8915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pPr>
              <a:spcBef>
                <a:spcPct val="50000"/>
              </a:spcBef>
            </a:pPr>
            <a:r>
              <a:rPr lang="zh-CN" altLang="en-US" sz="2000" b="1">
                <a:solidFill>
                  <a:srgbClr val="FF0000"/>
                </a:solidFill>
                <a:latin typeface="Arial" panose="020B0604020202020204" pitchFamily="34" charset="0"/>
              </a:rPr>
              <a:t>特别注意：每次焊接时间在保证焊接质量的基础上应尽量短（</a:t>
            </a:r>
            <a:r>
              <a:rPr lang="en-US" altLang="zh-CN" sz="2000" b="1">
                <a:solidFill>
                  <a:srgbClr val="FF0000"/>
                </a:solidFill>
                <a:latin typeface="Arial" panose="020B0604020202020204" pitchFamily="34" charset="0"/>
              </a:rPr>
              <a:t>5</a:t>
            </a:r>
            <a:r>
              <a:rPr lang="zh-CN" altLang="en-US" sz="2000" b="1">
                <a:solidFill>
                  <a:srgbClr val="FF0000"/>
                </a:solidFill>
                <a:latin typeface="Arial" panose="020B0604020202020204" pitchFamily="34" charset="0"/>
              </a:rPr>
              <a:t>秒左右）。时间太长，容易使焊盘铜箔脱落，时间太短，容易造成虚焊。</a:t>
            </a:r>
            <a:endParaRPr lang="zh-CN" altLang="en-US" sz="2000" b="1">
              <a:solidFill>
                <a:srgbClr val="FF0000"/>
              </a:solidFill>
              <a:latin typeface="Arial" panose="020B0604020202020204" pitchFamily="34" charset="0"/>
            </a:endParaRPr>
          </a:p>
        </p:txBody>
      </p:sp>
      <p:sp>
        <p:nvSpPr>
          <p:cNvPr id="23557" name="直接连接符 23556"/>
          <p:cNvSpPr>
            <a:spLocks noChangeShapeType="1"/>
          </p:cNvSpPr>
          <p:nvPr/>
        </p:nvSpPr>
        <p:spPr bwMode="auto">
          <a:xfrm>
            <a:off x="3205163" y="3641725"/>
            <a:ext cx="533400" cy="533400"/>
          </a:xfrm>
          <a:prstGeom prst="line">
            <a:avLst/>
          </a:prstGeom>
          <a:noFill/>
          <a:ln w="50800" cmpd="tri">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58" name="任意多边形 23557"/>
          <p:cNvSpPr>
            <a:spLocks noChangeArrowheads="1"/>
          </p:cNvSpPr>
          <p:nvPr/>
        </p:nvSpPr>
        <p:spPr bwMode="auto">
          <a:xfrm>
            <a:off x="4551363" y="3235325"/>
            <a:ext cx="812800" cy="990600"/>
          </a:xfrm>
          <a:custGeom>
            <a:avLst/>
            <a:gdLst>
              <a:gd name="T0" fmla="*/ 723900 w 512"/>
              <a:gd name="T1" fmla="*/ 0 h 624"/>
              <a:gd name="T2" fmla="*/ 292100 w 512"/>
              <a:gd name="T3" fmla="*/ 431800 h 624"/>
              <a:gd name="T4" fmla="*/ 292100 w 512"/>
              <a:gd name="T5" fmla="*/ 546100 h 624"/>
              <a:gd name="T6" fmla="*/ 0 w 512"/>
              <a:gd name="T7" fmla="*/ 838200 h 624"/>
              <a:gd name="T8" fmla="*/ 0 w 512"/>
              <a:gd name="T9" fmla="*/ 990600 h 624"/>
              <a:gd name="T10" fmla="*/ 342900 w 512"/>
              <a:gd name="T11" fmla="*/ 647700 h 624"/>
              <a:gd name="T12" fmla="*/ 469900 w 512"/>
              <a:gd name="T13" fmla="*/ 647700 h 624"/>
              <a:gd name="T14" fmla="*/ 812800 w 512"/>
              <a:gd name="T15" fmla="*/ 304800 h 6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2" h="624">
                <a:moveTo>
                  <a:pt x="456" y="0"/>
                </a:moveTo>
                <a:lnTo>
                  <a:pt x="184" y="272"/>
                </a:lnTo>
                <a:lnTo>
                  <a:pt x="184" y="344"/>
                </a:lnTo>
                <a:lnTo>
                  <a:pt x="0" y="528"/>
                </a:lnTo>
                <a:lnTo>
                  <a:pt x="0" y="624"/>
                </a:lnTo>
                <a:lnTo>
                  <a:pt x="216" y="408"/>
                </a:lnTo>
                <a:lnTo>
                  <a:pt x="296" y="408"/>
                </a:lnTo>
                <a:lnTo>
                  <a:pt x="512" y="192"/>
                </a:lnTo>
              </a:path>
            </a:pathLst>
          </a:custGeom>
          <a:solidFill>
            <a:schemeClr val="tx1"/>
          </a:solidFill>
          <a:ln w="9525">
            <a:solidFill>
              <a:schemeClr val="tx1"/>
            </a:solidFill>
            <a:round/>
          </a:ln>
        </p:spPr>
        <p:txBody>
          <a:bodyPr/>
          <a:lstStyle/>
          <a:p>
            <a:endParaRPr lang="zh-CN" altLang="en-US"/>
          </a:p>
        </p:txBody>
      </p:sp>
      <p:grpSp>
        <p:nvGrpSpPr>
          <p:cNvPr id="23559" name="组合 23558"/>
          <p:cNvGrpSpPr/>
          <p:nvPr/>
        </p:nvGrpSpPr>
        <p:grpSpPr bwMode="auto">
          <a:xfrm>
            <a:off x="3700463" y="4276725"/>
            <a:ext cx="2070100" cy="825500"/>
            <a:chOff x="0" y="0"/>
            <a:chExt cx="1304" cy="520"/>
          </a:xfrm>
        </p:grpSpPr>
        <p:sp>
          <p:nvSpPr>
            <p:cNvPr id="44074" name="矩形 23559"/>
            <p:cNvSpPr>
              <a:spLocks noChangeArrowheads="1"/>
            </p:cNvSpPr>
            <p:nvPr/>
          </p:nvSpPr>
          <p:spPr bwMode="auto">
            <a:xfrm>
              <a:off x="0" y="232"/>
              <a:ext cx="1304" cy="72"/>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75" name="矩形 23560"/>
            <p:cNvSpPr>
              <a:spLocks noChangeArrowheads="1"/>
            </p:cNvSpPr>
            <p:nvPr/>
          </p:nvSpPr>
          <p:spPr bwMode="auto">
            <a:xfrm>
              <a:off x="240" y="240"/>
              <a:ext cx="72" cy="6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76" name="矩形 23561"/>
            <p:cNvSpPr>
              <a:spLocks noChangeArrowheads="1"/>
            </p:cNvSpPr>
            <p:nvPr/>
          </p:nvSpPr>
          <p:spPr bwMode="auto">
            <a:xfrm>
              <a:off x="152" y="200"/>
              <a:ext cx="256" cy="27"/>
            </a:xfrm>
            <a:prstGeom prst="rect">
              <a:avLst/>
            </a:prstGeom>
            <a:solidFill>
              <a:srgbClr val="00FF00"/>
            </a:solidFill>
            <a:ln w="9525">
              <a:solidFill>
                <a:srgbClr val="00FF00"/>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77" name="任意多边形 23562"/>
            <p:cNvSpPr>
              <a:spLocks noChangeArrowheads="1"/>
            </p:cNvSpPr>
            <p:nvPr/>
          </p:nvSpPr>
          <p:spPr bwMode="auto">
            <a:xfrm>
              <a:off x="280" y="0"/>
              <a:ext cx="736" cy="464"/>
            </a:xfrm>
            <a:custGeom>
              <a:avLst/>
              <a:gdLst>
                <a:gd name="T0" fmla="*/ 0 w 736"/>
                <a:gd name="T1" fmla="*/ 0 h 464"/>
                <a:gd name="T2" fmla="*/ 0 w 736"/>
                <a:gd name="T3" fmla="*/ 464 h 464"/>
                <a:gd name="T4" fmla="*/ 736 w 736"/>
                <a:gd name="T5" fmla="*/ 464 h 464"/>
                <a:gd name="T6" fmla="*/ 736 w 736"/>
                <a:gd name="T7" fmla="*/ 384 h 4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464">
                  <a:moveTo>
                    <a:pt x="0" y="0"/>
                  </a:moveTo>
                  <a:lnTo>
                    <a:pt x="0" y="464"/>
                  </a:lnTo>
                  <a:lnTo>
                    <a:pt x="736" y="464"/>
                  </a:lnTo>
                  <a:lnTo>
                    <a:pt x="736" y="384"/>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78" name="矩形 23563"/>
            <p:cNvSpPr>
              <a:spLocks noChangeArrowheads="1"/>
            </p:cNvSpPr>
            <p:nvPr/>
          </p:nvSpPr>
          <p:spPr bwMode="auto">
            <a:xfrm>
              <a:off x="432" y="416"/>
              <a:ext cx="392" cy="10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grpSp>
      <p:grpSp>
        <p:nvGrpSpPr>
          <p:cNvPr id="23565" name="组合 23564"/>
          <p:cNvGrpSpPr/>
          <p:nvPr/>
        </p:nvGrpSpPr>
        <p:grpSpPr bwMode="auto">
          <a:xfrm>
            <a:off x="3689350" y="4278313"/>
            <a:ext cx="2070100" cy="825500"/>
            <a:chOff x="0" y="0"/>
            <a:chExt cx="1304" cy="520"/>
          </a:xfrm>
        </p:grpSpPr>
        <p:sp>
          <p:nvSpPr>
            <p:cNvPr id="44068" name="任意多边形 23565"/>
            <p:cNvSpPr>
              <a:spLocks noChangeArrowheads="1"/>
            </p:cNvSpPr>
            <p:nvPr/>
          </p:nvSpPr>
          <p:spPr bwMode="auto">
            <a:xfrm>
              <a:off x="280" y="0"/>
              <a:ext cx="736" cy="464"/>
            </a:xfrm>
            <a:custGeom>
              <a:avLst/>
              <a:gdLst>
                <a:gd name="T0" fmla="*/ 0 w 736"/>
                <a:gd name="T1" fmla="*/ 0 h 464"/>
                <a:gd name="T2" fmla="*/ 0 w 736"/>
                <a:gd name="T3" fmla="*/ 464 h 464"/>
                <a:gd name="T4" fmla="*/ 736 w 736"/>
                <a:gd name="T5" fmla="*/ 464 h 464"/>
                <a:gd name="T6" fmla="*/ 736 w 736"/>
                <a:gd name="T7" fmla="*/ 384 h 4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464">
                  <a:moveTo>
                    <a:pt x="0" y="0"/>
                  </a:moveTo>
                  <a:lnTo>
                    <a:pt x="0" y="464"/>
                  </a:lnTo>
                  <a:lnTo>
                    <a:pt x="736" y="464"/>
                  </a:lnTo>
                  <a:lnTo>
                    <a:pt x="736" y="384"/>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4069" name="组合 23566"/>
            <p:cNvGrpSpPr/>
            <p:nvPr/>
          </p:nvGrpSpPr>
          <p:grpSpPr bwMode="auto">
            <a:xfrm>
              <a:off x="0" y="200"/>
              <a:ext cx="1304" cy="320"/>
              <a:chOff x="0" y="0"/>
              <a:chExt cx="1304" cy="320"/>
            </a:xfrm>
          </p:grpSpPr>
          <p:sp>
            <p:nvSpPr>
              <p:cNvPr id="44070" name="矩形 23567"/>
              <p:cNvSpPr>
                <a:spLocks noChangeArrowheads="1"/>
              </p:cNvSpPr>
              <p:nvPr/>
            </p:nvSpPr>
            <p:spPr bwMode="auto">
              <a:xfrm>
                <a:off x="0" y="32"/>
                <a:ext cx="1304" cy="72"/>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71" name="矩形 23568"/>
              <p:cNvSpPr>
                <a:spLocks noChangeArrowheads="1"/>
              </p:cNvSpPr>
              <p:nvPr/>
            </p:nvSpPr>
            <p:spPr bwMode="auto">
              <a:xfrm>
                <a:off x="240" y="40"/>
                <a:ext cx="72" cy="6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72" name="矩形 23569"/>
              <p:cNvSpPr>
                <a:spLocks noChangeArrowheads="1"/>
              </p:cNvSpPr>
              <p:nvPr/>
            </p:nvSpPr>
            <p:spPr bwMode="auto">
              <a:xfrm>
                <a:off x="152" y="0"/>
                <a:ext cx="256" cy="27"/>
              </a:xfrm>
              <a:prstGeom prst="rect">
                <a:avLst/>
              </a:prstGeom>
              <a:solidFill>
                <a:srgbClr val="00FF00"/>
              </a:solidFill>
              <a:ln w="9525">
                <a:solidFill>
                  <a:srgbClr val="00FF00"/>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73" name="矩形 23570"/>
              <p:cNvSpPr>
                <a:spLocks noChangeArrowheads="1"/>
              </p:cNvSpPr>
              <p:nvPr/>
            </p:nvSpPr>
            <p:spPr bwMode="auto">
              <a:xfrm>
                <a:off x="432" y="216"/>
                <a:ext cx="392" cy="10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grpSp>
      </p:grpSp>
      <p:sp>
        <p:nvSpPr>
          <p:cNvPr id="23572" name="直接连接符 23571"/>
          <p:cNvSpPr>
            <a:spLocks noChangeShapeType="1"/>
          </p:cNvSpPr>
          <p:nvPr/>
        </p:nvSpPr>
        <p:spPr bwMode="auto">
          <a:xfrm>
            <a:off x="3575050" y="4037013"/>
            <a:ext cx="533400" cy="533400"/>
          </a:xfrm>
          <a:prstGeom prst="line">
            <a:avLst/>
          </a:prstGeom>
          <a:noFill/>
          <a:ln w="50800" cmpd="tri">
            <a:solidFill>
              <a:srgbClr val="FF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573" name="矩形 23572"/>
          <p:cNvSpPr>
            <a:spLocks noChangeArrowheads="1"/>
          </p:cNvSpPr>
          <p:nvPr/>
        </p:nvSpPr>
        <p:spPr bwMode="auto">
          <a:xfrm>
            <a:off x="3992563" y="4251325"/>
            <a:ext cx="342900" cy="1905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23574" name="任意多边形 23573"/>
          <p:cNvSpPr>
            <a:spLocks noChangeArrowheads="1"/>
          </p:cNvSpPr>
          <p:nvPr/>
        </p:nvSpPr>
        <p:spPr bwMode="auto">
          <a:xfrm>
            <a:off x="4171950" y="3567113"/>
            <a:ext cx="812800" cy="990600"/>
          </a:xfrm>
          <a:custGeom>
            <a:avLst/>
            <a:gdLst>
              <a:gd name="T0" fmla="*/ 723900 w 512"/>
              <a:gd name="T1" fmla="*/ 0 h 624"/>
              <a:gd name="T2" fmla="*/ 292100 w 512"/>
              <a:gd name="T3" fmla="*/ 431800 h 624"/>
              <a:gd name="T4" fmla="*/ 292100 w 512"/>
              <a:gd name="T5" fmla="*/ 546100 h 624"/>
              <a:gd name="T6" fmla="*/ 0 w 512"/>
              <a:gd name="T7" fmla="*/ 838200 h 624"/>
              <a:gd name="T8" fmla="*/ 0 w 512"/>
              <a:gd name="T9" fmla="*/ 990600 h 624"/>
              <a:gd name="T10" fmla="*/ 342900 w 512"/>
              <a:gd name="T11" fmla="*/ 647700 h 624"/>
              <a:gd name="T12" fmla="*/ 469900 w 512"/>
              <a:gd name="T13" fmla="*/ 647700 h 624"/>
              <a:gd name="T14" fmla="*/ 812800 w 512"/>
              <a:gd name="T15" fmla="*/ 304800 h 6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2" h="624">
                <a:moveTo>
                  <a:pt x="456" y="0"/>
                </a:moveTo>
                <a:lnTo>
                  <a:pt x="184" y="272"/>
                </a:lnTo>
                <a:lnTo>
                  <a:pt x="184" y="344"/>
                </a:lnTo>
                <a:lnTo>
                  <a:pt x="0" y="528"/>
                </a:lnTo>
                <a:lnTo>
                  <a:pt x="0" y="624"/>
                </a:lnTo>
                <a:lnTo>
                  <a:pt x="216" y="408"/>
                </a:lnTo>
                <a:lnTo>
                  <a:pt x="296" y="408"/>
                </a:lnTo>
                <a:lnTo>
                  <a:pt x="512" y="192"/>
                </a:lnTo>
              </a:path>
            </a:pathLst>
          </a:custGeom>
          <a:solidFill>
            <a:schemeClr val="tx1"/>
          </a:solidFill>
          <a:ln w="9525">
            <a:solidFill>
              <a:schemeClr val="tx1"/>
            </a:solidFill>
            <a:round/>
          </a:ln>
        </p:spPr>
        <p:txBody>
          <a:bodyPr/>
          <a:lstStyle/>
          <a:p>
            <a:endParaRPr lang="zh-CN" altLang="en-US"/>
          </a:p>
        </p:txBody>
      </p:sp>
      <p:grpSp>
        <p:nvGrpSpPr>
          <p:cNvPr id="23575" name="组合 23574"/>
          <p:cNvGrpSpPr/>
          <p:nvPr/>
        </p:nvGrpSpPr>
        <p:grpSpPr bwMode="auto">
          <a:xfrm>
            <a:off x="6053138" y="4175126"/>
            <a:ext cx="2070100" cy="650875"/>
            <a:chOff x="0" y="0"/>
            <a:chExt cx="1304" cy="410"/>
          </a:xfrm>
        </p:grpSpPr>
        <p:sp>
          <p:nvSpPr>
            <p:cNvPr id="44059" name="椭圆 23575"/>
            <p:cNvSpPr>
              <a:spLocks noChangeArrowheads="1"/>
            </p:cNvSpPr>
            <p:nvPr/>
          </p:nvSpPr>
          <p:spPr bwMode="auto">
            <a:xfrm>
              <a:off x="889" y="27"/>
              <a:ext cx="248" cy="168"/>
            </a:xfrm>
            <a:prstGeom prst="ellipse">
              <a:avLst/>
            </a:prstGeom>
            <a:solidFill>
              <a:srgbClr val="FF00FF"/>
            </a:solidFill>
            <a:ln w="9525">
              <a:solidFill>
                <a:schemeClr val="tx1"/>
              </a:solidFill>
              <a:round/>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60" name="椭圆 23576"/>
            <p:cNvSpPr>
              <a:spLocks noChangeArrowheads="1"/>
            </p:cNvSpPr>
            <p:nvPr/>
          </p:nvSpPr>
          <p:spPr bwMode="auto">
            <a:xfrm>
              <a:off x="152" y="26"/>
              <a:ext cx="248" cy="168"/>
            </a:xfrm>
            <a:prstGeom prst="ellipse">
              <a:avLst/>
            </a:prstGeom>
            <a:solidFill>
              <a:srgbClr val="FF00FF"/>
            </a:solidFill>
            <a:ln w="9525">
              <a:solidFill>
                <a:schemeClr val="tx1"/>
              </a:solidFill>
              <a:round/>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61" name="矩形 23577"/>
            <p:cNvSpPr>
              <a:spLocks noChangeArrowheads="1"/>
            </p:cNvSpPr>
            <p:nvPr/>
          </p:nvSpPr>
          <p:spPr bwMode="auto">
            <a:xfrm>
              <a:off x="0" y="122"/>
              <a:ext cx="1304" cy="72"/>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62" name="矩形 23578"/>
            <p:cNvSpPr>
              <a:spLocks noChangeArrowheads="1"/>
            </p:cNvSpPr>
            <p:nvPr/>
          </p:nvSpPr>
          <p:spPr bwMode="auto">
            <a:xfrm>
              <a:off x="240" y="130"/>
              <a:ext cx="72" cy="6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63" name="矩形 23579"/>
            <p:cNvSpPr>
              <a:spLocks noChangeArrowheads="1"/>
            </p:cNvSpPr>
            <p:nvPr/>
          </p:nvSpPr>
          <p:spPr bwMode="auto">
            <a:xfrm>
              <a:off x="152" y="90"/>
              <a:ext cx="256" cy="27"/>
            </a:xfrm>
            <a:prstGeom prst="rect">
              <a:avLst/>
            </a:prstGeom>
            <a:solidFill>
              <a:srgbClr val="00FF00"/>
            </a:solidFill>
            <a:ln w="9525">
              <a:solidFill>
                <a:srgbClr val="00FF00"/>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64" name="矩形 23580"/>
            <p:cNvSpPr>
              <a:spLocks noChangeArrowheads="1"/>
            </p:cNvSpPr>
            <p:nvPr/>
          </p:nvSpPr>
          <p:spPr bwMode="auto">
            <a:xfrm>
              <a:off x="977" y="131"/>
              <a:ext cx="72" cy="6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65" name="矩形 23581"/>
            <p:cNvSpPr>
              <a:spLocks noChangeArrowheads="1"/>
            </p:cNvSpPr>
            <p:nvPr/>
          </p:nvSpPr>
          <p:spPr bwMode="auto">
            <a:xfrm>
              <a:off x="889" y="91"/>
              <a:ext cx="256" cy="27"/>
            </a:xfrm>
            <a:prstGeom prst="rect">
              <a:avLst/>
            </a:prstGeom>
            <a:solidFill>
              <a:srgbClr val="00FF00"/>
            </a:solidFill>
            <a:ln w="9525">
              <a:solidFill>
                <a:srgbClr val="00FF00"/>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66" name="任意多边形 23582"/>
            <p:cNvSpPr>
              <a:spLocks noChangeArrowheads="1"/>
            </p:cNvSpPr>
            <p:nvPr/>
          </p:nvSpPr>
          <p:spPr bwMode="auto">
            <a:xfrm>
              <a:off x="278" y="0"/>
              <a:ext cx="736" cy="352"/>
            </a:xfrm>
            <a:custGeom>
              <a:avLst/>
              <a:gdLst>
                <a:gd name="T0" fmla="*/ 0 w 736"/>
                <a:gd name="T1" fmla="*/ 0 h 352"/>
                <a:gd name="T2" fmla="*/ 0 w 736"/>
                <a:gd name="T3" fmla="*/ 352 h 352"/>
                <a:gd name="T4" fmla="*/ 736 w 736"/>
                <a:gd name="T5" fmla="*/ 352 h 352"/>
                <a:gd name="T6" fmla="*/ 736 w 736"/>
                <a:gd name="T7" fmla="*/ 0 h 3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352">
                  <a:moveTo>
                    <a:pt x="0" y="0"/>
                  </a:moveTo>
                  <a:lnTo>
                    <a:pt x="0" y="352"/>
                  </a:lnTo>
                  <a:lnTo>
                    <a:pt x="736" y="352"/>
                  </a:lnTo>
                  <a:lnTo>
                    <a:pt x="736" y="0"/>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67" name="矩形 23583"/>
            <p:cNvSpPr>
              <a:spLocks noChangeArrowheads="1"/>
            </p:cNvSpPr>
            <p:nvPr/>
          </p:nvSpPr>
          <p:spPr bwMode="auto">
            <a:xfrm>
              <a:off x="432" y="306"/>
              <a:ext cx="392" cy="10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grpSp>
      <p:grpSp>
        <p:nvGrpSpPr>
          <p:cNvPr id="23585" name="组合 23584"/>
          <p:cNvGrpSpPr/>
          <p:nvPr/>
        </p:nvGrpSpPr>
        <p:grpSpPr bwMode="auto">
          <a:xfrm>
            <a:off x="8378825" y="4151313"/>
            <a:ext cx="1308100" cy="1104900"/>
            <a:chOff x="0" y="0"/>
            <a:chExt cx="824" cy="696"/>
          </a:xfrm>
        </p:grpSpPr>
        <p:sp>
          <p:nvSpPr>
            <p:cNvPr id="44050" name="椭圆 23585"/>
            <p:cNvSpPr>
              <a:spLocks noChangeArrowheads="1"/>
            </p:cNvSpPr>
            <p:nvPr/>
          </p:nvSpPr>
          <p:spPr bwMode="auto">
            <a:xfrm>
              <a:off x="481" y="35"/>
              <a:ext cx="248" cy="168"/>
            </a:xfrm>
            <a:prstGeom prst="ellipse">
              <a:avLst/>
            </a:prstGeom>
            <a:solidFill>
              <a:srgbClr val="FF00FF"/>
            </a:solidFill>
            <a:ln w="9525">
              <a:solidFill>
                <a:schemeClr val="tx1"/>
              </a:solidFill>
              <a:round/>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51" name="椭圆 23586"/>
            <p:cNvSpPr>
              <a:spLocks noChangeArrowheads="1"/>
            </p:cNvSpPr>
            <p:nvPr/>
          </p:nvSpPr>
          <p:spPr bwMode="auto">
            <a:xfrm>
              <a:off x="64" y="34"/>
              <a:ext cx="248" cy="168"/>
            </a:xfrm>
            <a:prstGeom prst="ellipse">
              <a:avLst/>
            </a:prstGeom>
            <a:solidFill>
              <a:srgbClr val="FF00FF"/>
            </a:solidFill>
            <a:ln w="9525">
              <a:solidFill>
                <a:schemeClr val="tx1"/>
              </a:solidFill>
              <a:round/>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52" name="矩形 23587"/>
            <p:cNvSpPr>
              <a:spLocks noChangeArrowheads="1"/>
            </p:cNvSpPr>
            <p:nvPr/>
          </p:nvSpPr>
          <p:spPr bwMode="auto">
            <a:xfrm>
              <a:off x="0" y="130"/>
              <a:ext cx="824" cy="6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53" name="矩形 23588"/>
            <p:cNvSpPr>
              <a:spLocks noChangeArrowheads="1"/>
            </p:cNvSpPr>
            <p:nvPr/>
          </p:nvSpPr>
          <p:spPr bwMode="auto">
            <a:xfrm>
              <a:off x="152" y="122"/>
              <a:ext cx="72" cy="6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54" name="矩形 23589"/>
            <p:cNvSpPr>
              <a:spLocks noChangeArrowheads="1"/>
            </p:cNvSpPr>
            <p:nvPr/>
          </p:nvSpPr>
          <p:spPr bwMode="auto">
            <a:xfrm>
              <a:off x="64" y="98"/>
              <a:ext cx="256" cy="27"/>
            </a:xfrm>
            <a:prstGeom prst="rect">
              <a:avLst/>
            </a:prstGeom>
            <a:solidFill>
              <a:srgbClr val="00FF00"/>
            </a:solidFill>
            <a:ln w="9525">
              <a:solidFill>
                <a:srgbClr val="00FF00"/>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55" name="矩形 23590"/>
            <p:cNvSpPr>
              <a:spLocks noChangeArrowheads="1"/>
            </p:cNvSpPr>
            <p:nvPr/>
          </p:nvSpPr>
          <p:spPr bwMode="auto">
            <a:xfrm>
              <a:off x="569" y="123"/>
              <a:ext cx="72" cy="6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56" name="矩形 23591"/>
            <p:cNvSpPr>
              <a:spLocks noChangeArrowheads="1"/>
            </p:cNvSpPr>
            <p:nvPr/>
          </p:nvSpPr>
          <p:spPr bwMode="auto">
            <a:xfrm>
              <a:off x="481" y="99"/>
              <a:ext cx="256" cy="27"/>
            </a:xfrm>
            <a:prstGeom prst="rect">
              <a:avLst/>
            </a:prstGeom>
            <a:solidFill>
              <a:srgbClr val="00FF00"/>
            </a:solidFill>
            <a:ln w="9525">
              <a:solidFill>
                <a:srgbClr val="00FF00"/>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sp>
          <p:nvSpPr>
            <p:cNvPr id="44057" name="任意多边形 23592"/>
            <p:cNvSpPr>
              <a:spLocks noChangeArrowheads="1"/>
            </p:cNvSpPr>
            <p:nvPr/>
          </p:nvSpPr>
          <p:spPr bwMode="auto">
            <a:xfrm>
              <a:off x="190" y="0"/>
              <a:ext cx="416" cy="696"/>
            </a:xfrm>
            <a:custGeom>
              <a:avLst/>
              <a:gdLst>
                <a:gd name="T0" fmla="*/ 0 w 736"/>
                <a:gd name="T1" fmla="*/ 0 h 352"/>
                <a:gd name="T2" fmla="*/ 0 w 736"/>
                <a:gd name="T3" fmla="*/ 696 h 352"/>
                <a:gd name="T4" fmla="*/ 416 w 736"/>
                <a:gd name="T5" fmla="*/ 696 h 352"/>
                <a:gd name="T6" fmla="*/ 416 w 736"/>
                <a:gd name="T7" fmla="*/ 0 h 3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352">
                  <a:moveTo>
                    <a:pt x="0" y="0"/>
                  </a:moveTo>
                  <a:lnTo>
                    <a:pt x="0" y="352"/>
                  </a:lnTo>
                  <a:lnTo>
                    <a:pt x="736" y="352"/>
                  </a:lnTo>
                  <a:lnTo>
                    <a:pt x="736" y="0"/>
                  </a:lnTo>
                </a:path>
              </a:pathLst>
            </a:custGeom>
            <a:noFill/>
            <a:ln w="2540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4058" name="矩形 23593"/>
            <p:cNvSpPr>
              <a:spLocks noChangeArrowheads="1"/>
            </p:cNvSpPr>
            <p:nvPr/>
          </p:nvSpPr>
          <p:spPr bwMode="auto">
            <a:xfrm rot="-5400000">
              <a:off x="-8" y="394"/>
              <a:ext cx="392" cy="104"/>
            </a:xfrm>
            <a:prstGeom prst="rect">
              <a:avLst/>
            </a:prstGeom>
            <a:solidFill>
              <a:schemeClr val="accent1"/>
            </a:solidFill>
            <a:ln w="9525">
              <a:solidFill>
                <a:schemeClr val="tx1"/>
              </a:solidFill>
              <a:miter lim="800000"/>
            </a:ln>
          </p:spPr>
          <p:txBody>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endParaRPr lang="zh-CN" altLang="en-US">
                <a:latin typeface="Times New Roman" panose="02020603050405020304" pitchFamily="18" charset="0"/>
              </a:endParaRPr>
            </a:p>
          </p:txBody>
        </p:sp>
      </p:grpSp>
      <p:sp>
        <p:nvSpPr>
          <p:cNvPr id="23595" name="文本框 23594"/>
          <p:cNvSpPr txBox="1">
            <a:spLocks noChangeArrowheads="1"/>
          </p:cNvSpPr>
          <p:nvPr/>
        </p:nvSpPr>
        <p:spPr bwMode="auto">
          <a:xfrm>
            <a:off x="6745289" y="3486150"/>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b="1">
                <a:latin typeface="Arial" panose="020B0604020202020204" pitchFamily="34" charset="0"/>
              </a:rPr>
              <a:t>平焊</a:t>
            </a:r>
            <a:endParaRPr lang="zh-CN" altLang="en-US" b="1">
              <a:latin typeface="Arial" panose="020B0604020202020204" pitchFamily="34" charset="0"/>
            </a:endParaRPr>
          </a:p>
        </p:txBody>
      </p:sp>
      <p:sp>
        <p:nvSpPr>
          <p:cNvPr id="23596" name="文本框 23595"/>
          <p:cNvSpPr txBox="1">
            <a:spLocks noChangeArrowheads="1"/>
          </p:cNvSpPr>
          <p:nvPr/>
        </p:nvSpPr>
        <p:spPr bwMode="auto">
          <a:xfrm>
            <a:off x="8677276" y="3513138"/>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b="1">
                <a:latin typeface="Arial" panose="020B0604020202020204" pitchFamily="34" charset="0"/>
              </a:rPr>
              <a:t>立焊</a:t>
            </a:r>
            <a:endParaRPr lang="zh-CN" altLang="en-US" b="1">
              <a:latin typeface="Arial" panose="020B0604020202020204" pitchFamily="34" charset="0"/>
            </a:endParaRPr>
          </a:p>
        </p:txBody>
      </p:sp>
      <p:sp>
        <p:nvSpPr>
          <p:cNvPr id="44047" name="矩形 23596"/>
          <p:cNvSpPr>
            <a:spLocks noChangeArrowheads="1"/>
          </p:cNvSpPr>
          <p:nvPr/>
        </p:nvSpPr>
        <p:spPr bwMode="auto">
          <a:xfrm>
            <a:off x="2948781" y="131763"/>
            <a:ext cx="7199313"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3200" b="1" dirty="0">
                <a:solidFill>
                  <a:srgbClr val="FF0000"/>
                </a:solidFill>
                <a:latin typeface="Times New Roman" panose="02020603050405020304" pitchFamily="18" charset="0"/>
              </a:rPr>
              <a:t>超外差式调幅收音组装、焊接</a:t>
            </a:r>
            <a:endParaRPr lang="zh-CN" altLang="en-US" sz="3200" b="1" dirty="0">
              <a:solidFill>
                <a:srgbClr val="FF0000"/>
              </a:solidFill>
              <a:latin typeface="Times New Roman" panose="02020603050405020304" pitchFamily="18" charset="0"/>
            </a:endParaRPr>
          </a:p>
        </p:txBody>
      </p:sp>
      <p:sp>
        <p:nvSpPr>
          <p:cNvPr id="44048" name="文本框 22534"/>
          <p:cNvSpPr txBox="1">
            <a:spLocks noChangeArrowheads="1"/>
          </p:cNvSpPr>
          <p:nvPr/>
        </p:nvSpPr>
        <p:spPr bwMode="auto">
          <a:xfrm>
            <a:off x="1676400" y="1411289"/>
            <a:ext cx="8915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50000"/>
              </a:spcBef>
              <a:buClrTx/>
              <a:buFont typeface="Arial" panose="020B0604020202020204" pitchFamily="34" charset="0"/>
              <a:buAutoNum type="circleNumDbPlain"/>
            </a:pPr>
            <a:r>
              <a:rPr lang="zh-CN" altLang="en-US" sz="1800">
                <a:latin typeface="Arial" panose="020B0604020202020204" pitchFamily="34" charset="0"/>
              </a:rPr>
              <a:t>正式焊接前应练习，掌握焊接方法后再正式焊接。在焊接前，烙铁应充分加热，达到焊接的要求。用内含松香助焊剂的焊锡进行焊接，焊接时锡量应适中</a:t>
            </a:r>
            <a:r>
              <a:rPr lang="zh-CN" altLang="en-US" sz="1800" b="0">
                <a:latin typeface="Arial" panose="020B0604020202020204" pitchFamily="34" charset="0"/>
              </a:rPr>
              <a:t>。</a:t>
            </a:r>
            <a:endParaRPr lang="en-US" altLang="zh-CN" sz="1800" b="0">
              <a:latin typeface="Arial" panose="020B0604020202020204" pitchFamily="34" charset="0"/>
            </a:endParaRPr>
          </a:p>
          <a:p>
            <a:pPr>
              <a:spcBef>
                <a:spcPct val="50000"/>
              </a:spcBef>
              <a:buClrTx/>
              <a:buFont typeface="Arial" panose="020B0604020202020204" pitchFamily="34" charset="0"/>
              <a:buAutoNum type="circleNumDbPlain"/>
            </a:pPr>
            <a:r>
              <a:rPr lang="zh-CN" altLang="en-US" sz="1800">
                <a:latin typeface="Arial" panose="020B0604020202020204" pitchFamily="34" charset="0"/>
              </a:rPr>
              <a:t>焊接时两手各持烙铁、焊锡，从两侧先后依次各以</a:t>
            </a:r>
            <a:r>
              <a:rPr lang="en-US" altLang="zh-CN" sz="1800">
                <a:latin typeface="Arial" panose="020B0604020202020204" pitchFamily="34" charset="0"/>
              </a:rPr>
              <a:t>45</a:t>
            </a:r>
            <a:r>
              <a:rPr lang="zh-CN" altLang="en-US" sz="1800">
                <a:latin typeface="Arial" panose="020B0604020202020204" pitchFamily="34" charset="0"/>
              </a:rPr>
              <a:t>度角接近所焊元器件管脚与焊盘铜箔交点处。待融化的焊锡均匀覆盖焊盘和元件管脚后，撤出焊锡并将烙铁头沿管脚向上撤出。待焊点冷却凝固后，剪掉多余的管脚引线。</a:t>
            </a:r>
            <a:endParaRPr lang="en-US" altLang="zh-CN" sz="1800">
              <a:latin typeface="Arial" panose="020B0604020202020204" pitchFamily="34" charset="0"/>
            </a:endParaRPr>
          </a:p>
        </p:txBody>
      </p:sp>
      <p:sp>
        <p:nvSpPr>
          <p:cNvPr id="44049" name="文本框 22533"/>
          <p:cNvSpPr txBox="1">
            <a:spLocks noChangeArrowheads="1"/>
          </p:cNvSpPr>
          <p:nvPr/>
        </p:nvSpPr>
        <p:spPr bwMode="auto">
          <a:xfrm>
            <a:off x="1676401" y="1050925"/>
            <a:ext cx="59102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startAt="4"/>
            </a:pPr>
            <a:r>
              <a:rPr lang="zh-CN" altLang="en-US" sz="2000">
                <a:latin typeface="Arial" panose="020B0604020202020204" pitchFamily="34" charset="0"/>
              </a:rPr>
              <a:t>焊接过程及方法：</a:t>
            </a:r>
            <a:endParaRPr lang="zh-CN" altLang="en-US" sz="200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8"/>
                                        </p:tgtEl>
                                        <p:attrNameLst>
                                          <p:attrName>style.visibility</p:attrName>
                                        </p:attrNameLst>
                                      </p:cBhvr>
                                      <p:to>
                                        <p:strVal val="visible"/>
                                      </p:to>
                                    </p:set>
                                  </p:childTnLst>
                                </p:cTn>
                              </p:par>
                            </p:childTnLst>
                          </p:cTn>
                        </p:par>
                        <p:par>
                          <p:cTn id="11" fill="hold">
                            <p:stCondLst>
                              <p:cond delay="0"/>
                            </p:stCondLst>
                            <p:childTnLst>
                              <p:par>
                                <p:cTn id="12" presetID="0" presetClass="path" presetSubtype="0" accel="50000" decel="50000" fill="hold" nodeType="afterEffect">
                                  <p:stCondLst>
                                    <p:cond delay="0"/>
                                  </p:stCondLst>
                                  <p:childTnLst>
                                    <p:animMotion origin="layout" path="M 4.44444E-6 7.77778E-6 L -0.03889 0.05186 " pathEditMode="relative" rAng="0" ptsTypes="AA">
                                      <p:cBhvr>
                                        <p:cTn id="13" dur="2000" fill="hold"/>
                                        <p:tgtEl>
                                          <p:spTgt spid="23558"/>
                                        </p:tgtEl>
                                        <p:attrNameLst>
                                          <p:attrName>ppt_x</p:attrName>
                                          <p:attrName>ppt_y</p:attrName>
                                        </p:attrNameLst>
                                      </p:cBhvr>
                                      <p:rCtr x="0" y="0"/>
                                    </p:animMotion>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3557"/>
                                        </p:tgtEl>
                                        <p:attrNameLst>
                                          <p:attrName>style.visibility</p:attrName>
                                        </p:attrNameLst>
                                      </p:cBhvr>
                                      <p:to>
                                        <p:strVal val="visible"/>
                                      </p:to>
                                    </p:set>
                                  </p:childTnLst>
                                </p:cTn>
                              </p:par>
                            </p:childTnLst>
                          </p:cTn>
                        </p:par>
                        <p:par>
                          <p:cTn id="18" fill="hold">
                            <p:stCondLst>
                              <p:cond delay="0"/>
                            </p:stCondLst>
                            <p:childTnLst>
                              <p:par>
                                <p:cTn id="19" presetID="0" presetClass="path" presetSubtype="0" accel="50000" decel="50000" fill="hold" nodeType="afterEffect">
                                  <p:stCondLst>
                                    <p:cond delay="0"/>
                                  </p:stCondLst>
                                  <p:childTnLst>
                                    <p:animMotion origin="layout" path="M -6.66667E-6 1.11111E-6 L 0.04166 0.05555 " pathEditMode="relative" rAng="0" ptsTypes="AA">
                                      <p:cBhvr>
                                        <p:cTn id="20" dur="2000" fill="hold"/>
                                        <p:tgtEl>
                                          <p:spTgt spid="23557"/>
                                        </p:tgtEl>
                                        <p:attrNameLst>
                                          <p:attrName>ppt_x</p:attrName>
                                          <p:attrName>ppt_y</p:attrName>
                                        </p:attrNameLst>
                                      </p:cBhvr>
                                      <p:rCtr x="0" y="0"/>
                                    </p:animMotion>
                                  </p:childTnLst>
                                </p:cTn>
                              </p:par>
                            </p:childTnLst>
                          </p:cTn>
                        </p:par>
                      </p:childTnLst>
                    </p:cTn>
                  </p:par>
                  <p:par>
                    <p:cTn id="21" fill="hold">
                      <p:stCondLst>
                        <p:cond delay="indefinite"/>
                      </p:stCondLst>
                      <p:childTnLst>
                        <p:par>
                          <p:cTn id="22" fill="hold">
                            <p:stCondLst>
                              <p:cond delay="0"/>
                            </p:stCondLst>
                            <p:childTnLst>
                              <p:par>
                                <p:cTn id="23" presetID="5" presetClass="exit" presetSubtype="10" fill="hold" nodeType="clickEffect">
                                  <p:stCondLst>
                                    <p:cond delay="0"/>
                                  </p:stCondLst>
                                  <p:childTnLst>
                                    <p:animEffect transition="out" filter="checkerboard(across)">
                                      <p:cBhvr>
                                        <p:cTn id="24" dur="500"/>
                                        <p:tgtEl>
                                          <p:spTgt spid="23557"/>
                                        </p:tgtEl>
                                      </p:cBhvr>
                                    </p:animEffect>
                                    <p:set>
                                      <p:cBhvr>
                                        <p:cTn id="25" dur="1" fill="hold">
                                          <p:stCondLst>
                                            <p:cond delay="499"/>
                                          </p:stCondLst>
                                        </p:cTn>
                                        <p:tgtEl>
                                          <p:spTgt spid="23557"/>
                                        </p:tgtEl>
                                        <p:attrNameLst>
                                          <p:attrName>style.visibility</p:attrName>
                                        </p:attrNameLst>
                                      </p:cBhvr>
                                      <p:to>
                                        <p:strVal val="hidden"/>
                                      </p:to>
                                    </p:set>
                                  </p:childTnLst>
                                </p:cTn>
                              </p:par>
                              <p:par>
                                <p:cTn id="26" presetID="5" presetClass="exit" presetSubtype="10" fill="hold" nodeType="withEffect">
                                  <p:stCondLst>
                                    <p:cond delay="0"/>
                                  </p:stCondLst>
                                  <p:childTnLst>
                                    <p:animEffect transition="out" filter="checkerboard(across)">
                                      <p:cBhvr>
                                        <p:cTn id="27" dur="500"/>
                                        <p:tgtEl>
                                          <p:spTgt spid="23558"/>
                                        </p:tgtEl>
                                      </p:cBhvr>
                                    </p:animEffect>
                                    <p:set>
                                      <p:cBhvr>
                                        <p:cTn id="28" dur="1" fill="hold">
                                          <p:stCondLst>
                                            <p:cond delay="499"/>
                                          </p:stCondLst>
                                        </p:cTn>
                                        <p:tgtEl>
                                          <p:spTgt spid="23558"/>
                                        </p:tgtEl>
                                        <p:attrNameLst>
                                          <p:attrName>style.visibility</p:attrName>
                                        </p:attrNameLst>
                                      </p:cBhvr>
                                      <p:to>
                                        <p:strVal val="hidden"/>
                                      </p:to>
                                    </p:set>
                                  </p:childTnLst>
                                </p:cTn>
                              </p:par>
                              <p:par>
                                <p:cTn id="29" presetID="5" presetClass="exit" presetSubtype="10" fill="hold" nodeType="withEffect">
                                  <p:stCondLst>
                                    <p:cond delay="0"/>
                                  </p:stCondLst>
                                  <p:childTnLst>
                                    <p:animEffect transition="out" filter="checkerboard(across)">
                                      <p:cBhvr>
                                        <p:cTn id="30" dur="500"/>
                                        <p:tgtEl>
                                          <p:spTgt spid="23559"/>
                                        </p:tgtEl>
                                      </p:cBhvr>
                                    </p:animEffect>
                                    <p:set>
                                      <p:cBhvr>
                                        <p:cTn id="31" dur="1" fill="hold">
                                          <p:stCondLst>
                                            <p:cond delay="499"/>
                                          </p:stCondLst>
                                        </p:cTn>
                                        <p:tgtEl>
                                          <p:spTgt spid="23559"/>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2356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357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357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1" presetClass="entr" presetSubtype="4" fill="hold" nodeType="clickEffect">
                                  <p:stCondLst>
                                    <p:cond delay="0"/>
                                  </p:stCondLst>
                                  <p:childTnLst>
                                    <p:set>
                                      <p:cBhvr>
                                        <p:cTn id="41" dur="1" fill="hold">
                                          <p:stCondLst>
                                            <p:cond delay="0"/>
                                          </p:stCondLst>
                                        </p:cTn>
                                        <p:tgtEl>
                                          <p:spTgt spid="23554"/>
                                        </p:tgtEl>
                                        <p:attrNameLst>
                                          <p:attrName>style.visibility</p:attrName>
                                        </p:attrNameLst>
                                      </p:cBhvr>
                                      <p:to>
                                        <p:strVal val="visible"/>
                                      </p:to>
                                    </p:set>
                                    <p:animEffect transition="in" filter="wheel(4)">
                                      <p:cBhvr>
                                        <p:cTn id="42" dur="3000"/>
                                        <p:tgtEl>
                                          <p:spTgt spid="23554"/>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1.94444E-6 -7.40741E-7 L -0.03056 -0.04074 " pathEditMode="relative" rAng="0" ptsTypes="AA">
                                      <p:cBhvr>
                                        <p:cTn id="46" dur="2000" fill="hold"/>
                                        <p:tgtEl>
                                          <p:spTgt spid="23572"/>
                                        </p:tgtEl>
                                        <p:attrNameLst>
                                          <p:attrName>ppt_x</p:attrName>
                                          <p:attrName>ppt_y</p:attrName>
                                        </p:attrNameLst>
                                      </p:cBhvr>
                                      <p:rCtr x="0" y="0"/>
                                    </p:animMotion>
                                  </p:childTnLst>
                                </p:cTn>
                              </p:par>
                            </p:childTnLst>
                          </p:cTn>
                        </p:par>
                        <p:par>
                          <p:cTn id="47" fill="hold">
                            <p:stCondLst>
                              <p:cond delay="2000"/>
                            </p:stCondLst>
                            <p:childTnLst>
                              <p:par>
                                <p:cTn id="48" presetID="1" presetClass="exit" presetSubtype="0" fill="hold" nodeType="afterEffect">
                                  <p:stCondLst>
                                    <p:cond delay="0"/>
                                  </p:stCondLst>
                                  <p:childTnLst>
                                    <p:set>
                                      <p:cBhvr>
                                        <p:cTn id="49" dur="1" fill="hold">
                                          <p:stCondLst>
                                            <p:cond delay="0"/>
                                          </p:stCondLst>
                                        </p:cTn>
                                        <p:tgtEl>
                                          <p:spTgt spid="23572"/>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57" presetClass="path" presetSubtype="0" accel="50000" decel="50000" fill="hold" nodeType="clickEffect">
                                  <p:stCondLst>
                                    <p:cond delay="0"/>
                                  </p:stCondLst>
                                  <p:childTnLst>
                                    <p:animMotion origin="layout" path="M -2.5E-6 0.0 L -2.5E-6 -0.0713 C -2.5E-6 -0.10347 0.02066 -0.14259 0.0375 -0.14259 L 0.075 -0.14259 " pathEditMode="relative" rAng="0" ptsTypes="FfFF">
                                      <p:cBhvr>
                                        <p:cTn id="53" dur="2000" fill="hold"/>
                                        <p:tgtEl>
                                          <p:spTgt spid="23574"/>
                                        </p:tgtEl>
                                        <p:attrNameLst>
                                          <p:attrName>ppt_x</p:attrName>
                                          <p:attrName>ppt_y</p:attrName>
                                        </p:attrNameLst>
                                      </p:cBhvr>
                                      <p:rCtr x="3800" y="-6900"/>
                                    </p:animMotion>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2357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357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3595"/>
                                        </p:tgtEl>
                                        <p:attrNameLst>
                                          <p:attrName>style.visibility</p:attrName>
                                        </p:attrNameLst>
                                      </p:cBhvr>
                                      <p:to>
                                        <p:strVal val="visible"/>
                                      </p:to>
                                    </p:set>
                                    <p:animEffect transition="in" filter="blinds(horizontal)">
                                      <p:cBhvr>
                                        <p:cTn id="66" dur="500"/>
                                        <p:tgtEl>
                                          <p:spTgt spid="23595"/>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4" fill="hold" nodeType="clickEffect">
                                  <p:stCondLst>
                                    <p:cond delay="0"/>
                                  </p:stCondLst>
                                  <p:childTnLst>
                                    <p:set>
                                      <p:cBhvr>
                                        <p:cTn id="70" dur="1" fill="hold">
                                          <p:stCondLst>
                                            <p:cond delay="0"/>
                                          </p:stCondLst>
                                        </p:cTn>
                                        <p:tgtEl>
                                          <p:spTgt spid="23575"/>
                                        </p:tgtEl>
                                        <p:attrNameLst>
                                          <p:attrName>style.visibility</p:attrName>
                                        </p:attrNameLst>
                                      </p:cBhvr>
                                      <p:to>
                                        <p:strVal val="visible"/>
                                      </p:to>
                                    </p:set>
                                    <p:animEffect transition="in" filter="slide(fromBottom)">
                                      <p:cBhvr>
                                        <p:cTn id="71" dur="500"/>
                                        <p:tgtEl>
                                          <p:spTgt spid="23575"/>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23596"/>
                                        </p:tgtEl>
                                        <p:attrNameLst>
                                          <p:attrName>style.visibility</p:attrName>
                                        </p:attrNameLst>
                                      </p:cBhvr>
                                      <p:to>
                                        <p:strVal val="visible"/>
                                      </p:to>
                                    </p:set>
                                    <p:animEffect transition="in" filter="blinds(horizontal)">
                                      <p:cBhvr>
                                        <p:cTn id="76" dur="500"/>
                                        <p:tgtEl>
                                          <p:spTgt spid="23596"/>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2" fill="hold" nodeType="clickEffect">
                                  <p:stCondLst>
                                    <p:cond delay="0"/>
                                  </p:stCondLst>
                                  <p:childTnLst>
                                    <p:set>
                                      <p:cBhvr>
                                        <p:cTn id="80" dur="1" fill="hold">
                                          <p:stCondLst>
                                            <p:cond delay="0"/>
                                          </p:stCondLst>
                                        </p:cTn>
                                        <p:tgtEl>
                                          <p:spTgt spid="23585"/>
                                        </p:tgtEl>
                                        <p:attrNameLst>
                                          <p:attrName>style.visibility</p:attrName>
                                        </p:attrNameLst>
                                      </p:cBhvr>
                                      <p:to>
                                        <p:strVal val="visible"/>
                                      </p:to>
                                    </p:set>
                                    <p:animEffect transition="in" filter="slide(fromRight)">
                                      <p:cBhvr>
                                        <p:cTn id="81" dur="500"/>
                                        <p:tgtEl>
                                          <p:spTgt spid="23585"/>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3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p:bldP spid="23595" grpId="0"/>
      <p:bldP spid="2359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24577"/>
          <p:cNvSpPr txBox="1">
            <a:spLocks noChangeArrowheads="1"/>
          </p:cNvSpPr>
          <p:nvPr/>
        </p:nvSpPr>
        <p:spPr bwMode="auto">
          <a:xfrm>
            <a:off x="2039938" y="1143001"/>
            <a:ext cx="86280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000" b="1">
                <a:latin typeface="Arial" panose="020B0604020202020204" pitchFamily="34" charset="0"/>
              </a:rPr>
              <a:t>        </a:t>
            </a:r>
            <a:r>
              <a:rPr lang="zh-CN" altLang="en-US" sz="2000" b="1">
                <a:latin typeface="Arial" panose="020B0604020202020204" pitchFamily="34" charset="0"/>
              </a:rPr>
              <a:t>在收音机焊接完成后，为了验证电路的工作是否正常，需要对收音机进行必要的测试，主要的测试工作有：</a:t>
            </a:r>
            <a:endParaRPr lang="zh-CN" altLang="en-US" b="1">
              <a:latin typeface="Arial" panose="020B0604020202020204" pitchFamily="34" charset="0"/>
            </a:endParaRPr>
          </a:p>
        </p:txBody>
      </p:sp>
      <p:sp>
        <p:nvSpPr>
          <p:cNvPr id="45059" name="文本框 24578"/>
          <p:cNvSpPr txBox="1">
            <a:spLocks noChangeArrowheads="1"/>
          </p:cNvSpPr>
          <p:nvPr/>
        </p:nvSpPr>
        <p:spPr bwMode="auto">
          <a:xfrm>
            <a:off x="1925639" y="1844675"/>
            <a:ext cx="8485187"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a:pPr>
            <a:r>
              <a:rPr lang="zh-CN" altLang="en-US" sz="2000" dirty="0">
                <a:latin typeface="Arial" panose="020B0604020202020204" pitchFamily="34" charset="0"/>
              </a:rPr>
              <a:t>各晶体管</a:t>
            </a:r>
            <a:r>
              <a:rPr lang="en-US" altLang="zh-CN" sz="2000" dirty="0">
                <a:latin typeface="Arial" panose="020B0604020202020204" pitchFamily="34" charset="0"/>
              </a:rPr>
              <a:t>e</a:t>
            </a:r>
            <a:r>
              <a:rPr lang="zh-CN" altLang="en-US" sz="2000" dirty="0">
                <a:latin typeface="Arial" panose="020B0604020202020204" pitchFamily="34" charset="0"/>
              </a:rPr>
              <a:t>、</a:t>
            </a:r>
            <a:r>
              <a:rPr lang="en-US" altLang="zh-CN" sz="2000" dirty="0">
                <a:latin typeface="Arial" panose="020B0604020202020204" pitchFamily="34" charset="0"/>
              </a:rPr>
              <a:t>b</a:t>
            </a:r>
            <a:r>
              <a:rPr lang="zh-CN" altLang="en-US" sz="2000" dirty="0">
                <a:latin typeface="Arial" panose="020B0604020202020204" pitchFamily="34" charset="0"/>
              </a:rPr>
              <a:t>、</a:t>
            </a:r>
            <a:r>
              <a:rPr lang="en-US" altLang="zh-CN" sz="2000" dirty="0">
                <a:latin typeface="Arial" panose="020B0604020202020204" pitchFamily="34" charset="0"/>
              </a:rPr>
              <a:t>c</a:t>
            </a:r>
            <a:r>
              <a:rPr lang="zh-CN" altLang="en-US" sz="2000" dirty="0">
                <a:latin typeface="Arial" panose="020B0604020202020204" pitchFamily="34" charset="0"/>
              </a:rPr>
              <a:t>三极对“地”的静态工作电压测量，以此判断各级三极管是否工作正常。</a:t>
            </a:r>
            <a:endParaRPr lang="zh-CN" altLang="en-US" sz="2000" dirty="0">
              <a:latin typeface="Arial" panose="020B0604020202020204" pitchFamily="34" charset="0"/>
            </a:endParaRPr>
          </a:p>
          <a:p>
            <a:pPr>
              <a:spcBef>
                <a:spcPct val="50000"/>
              </a:spcBef>
              <a:buClrTx/>
              <a:buFont typeface="Arial" panose="020B0604020202020204" pitchFamily="34" charset="0"/>
              <a:buAutoNum type="arabicPeriod"/>
            </a:pPr>
            <a:r>
              <a:rPr lang="zh-CN" altLang="en-US" sz="2000" dirty="0">
                <a:latin typeface="Arial" panose="020B0604020202020204" pitchFamily="34" charset="0"/>
              </a:rPr>
              <a:t>检查本振是否起振：用示波器观察</a:t>
            </a:r>
            <a:r>
              <a:rPr lang="en-US" altLang="zh-CN" sz="2000" dirty="0">
                <a:latin typeface="Arial" panose="020B0604020202020204" pitchFamily="34" charset="0"/>
              </a:rPr>
              <a:t>VT1</a:t>
            </a:r>
            <a:r>
              <a:rPr lang="zh-CN" altLang="en-US" sz="2000" dirty="0">
                <a:latin typeface="Arial" panose="020B0604020202020204" pitchFamily="34" charset="0"/>
              </a:rPr>
              <a:t>的发射极对地电压，是否为一个</a:t>
            </a:r>
            <a:r>
              <a:rPr lang="en-US" altLang="zh-CN" sz="2000" dirty="0" err="1">
                <a:latin typeface="Arial" panose="020B0604020202020204" pitchFamily="34" charset="0"/>
              </a:rPr>
              <a:t>Vp</a:t>
            </a:r>
            <a:r>
              <a:rPr lang="en-US" altLang="zh-CN" sz="2000" dirty="0">
                <a:latin typeface="Arial" panose="020B0604020202020204" pitchFamily="34" charset="0"/>
              </a:rPr>
              <a:t>-p=0.3V~0.4V</a:t>
            </a:r>
            <a:r>
              <a:rPr lang="zh-CN" altLang="en-US" sz="2000" dirty="0">
                <a:latin typeface="Arial" panose="020B0604020202020204" pitchFamily="34" charset="0"/>
              </a:rPr>
              <a:t>的振荡信号，旋转双联电容旋钮，振荡频率改变。用示波器读出频率变化范围。如不起振，应检查所有相关元件。</a:t>
            </a:r>
            <a:endParaRPr lang="zh-CN" altLang="en-US" sz="2000" dirty="0">
              <a:latin typeface="Arial" panose="020B0604020202020204" pitchFamily="34" charset="0"/>
            </a:endParaRPr>
          </a:p>
        </p:txBody>
      </p:sp>
      <p:sp>
        <p:nvSpPr>
          <p:cNvPr id="45060" name="矩形 24579"/>
          <p:cNvSpPr>
            <a:spLocks noChangeArrowheads="1"/>
          </p:cNvSpPr>
          <p:nvPr/>
        </p:nvSpPr>
        <p:spPr bwMode="auto">
          <a:xfrm>
            <a:off x="1790700" y="5468938"/>
            <a:ext cx="8591550" cy="101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b="1" dirty="0">
                <a:latin typeface="Arial" panose="020B0604020202020204" pitchFamily="34" charset="0"/>
              </a:rPr>
              <a:t>       </a:t>
            </a:r>
            <a:r>
              <a:rPr lang="zh-CN" altLang="en-US" sz="2000" b="1" dirty="0">
                <a:solidFill>
                  <a:srgbClr val="FF0000"/>
                </a:solidFill>
                <a:latin typeface="Arial" panose="020B0604020202020204" pitchFamily="34" charset="0"/>
              </a:rPr>
              <a:t>如收音机在通电情况下，没有声音或者一个广播电台也收不到，则检查焊接过程是否出现错误，自行检查并改正。如自己无法解决，请指导老师协助！只要收音机可以收到一个广播电台，就可以进入统调阶段。</a:t>
            </a:r>
            <a:endParaRPr lang="zh-CN" altLang="en-US" sz="2000" b="1" dirty="0">
              <a:solidFill>
                <a:srgbClr val="FF0000"/>
              </a:solidFill>
              <a:latin typeface="Arial" panose="020B0604020202020204" pitchFamily="34" charset="0"/>
            </a:endParaRPr>
          </a:p>
        </p:txBody>
      </p:sp>
      <p:sp>
        <p:nvSpPr>
          <p:cNvPr id="45061" name="矩形 24580"/>
          <p:cNvSpPr>
            <a:spLocks noChangeArrowheads="1"/>
          </p:cNvSpPr>
          <p:nvPr/>
        </p:nvSpPr>
        <p:spPr bwMode="auto">
          <a:xfrm>
            <a:off x="2902873" y="76995"/>
            <a:ext cx="7199313"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zh-CN" altLang="en-US" sz="3200" b="1" dirty="0">
                <a:solidFill>
                  <a:srgbClr val="FF0000"/>
                </a:solidFill>
                <a:latin typeface="Times New Roman" panose="02020603050405020304" pitchFamily="18" charset="0"/>
              </a:rPr>
              <a:t>超外差式调幅收音的测试与调试</a:t>
            </a:r>
            <a:endParaRPr lang="zh-CN" altLang="en-US" sz="3200" b="1" dirty="0">
              <a:solidFill>
                <a:srgbClr val="FF0000"/>
              </a:solidFill>
              <a:latin typeface="Times New Roman" panose="02020603050405020304" pitchFamily="18" charset="0"/>
            </a:endParaRPr>
          </a:p>
        </p:txBody>
      </p:sp>
      <p:graphicFrame>
        <p:nvGraphicFramePr>
          <p:cNvPr id="6" name="表格 5"/>
          <p:cNvGraphicFramePr/>
          <p:nvPr/>
        </p:nvGraphicFramePr>
        <p:xfrm>
          <a:off x="1676400" y="3810001"/>
          <a:ext cx="8839198" cy="1484313"/>
        </p:xfrm>
        <a:graphic>
          <a:graphicData uri="http://schemas.openxmlformats.org/drawingml/2006/table">
            <a:tbl>
              <a:tblPr/>
              <a:tblGrid>
                <a:gridCol w="1125519"/>
                <a:gridCol w="488598"/>
                <a:gridCol w="461175"/>
                <a:gridCol w="417254"/>
                <a:gridCol w="417255"/>
                <a:gridCol w="417254"/>
                <a:gridCol w="417254"/>
                <a:gridCol w="417254"/>
                <a:gridCol w="417255"/>
                <a:gridCol w="417254"/>
                <a:gridCol w="384313"/>
                <a:gridCol w="461175"/>
                <a:gridCol w="384313"/>
                <a:gridCol w="384313"/>
                <a:gridCol w="384313"/>
                <a:gridCol w="461175"/>
                <a:gridCol w="461175"/>
                <a:gridCol w="538038"/>
                <a:gridCol w="384311"/>
              </a:tblGrid>
              <a:tr h="382555">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zh-CN" altLang="en-US" sz="1800" b="1" dirty="0">
                          <a:solidFill>
                            <a:srgbClr val="000000"/>
                          </a:solidFill>
                          <a:latin typeface="Calibri" panose="020F0502020204030204" pitchFamily="34" charset="0"/>
                        </a:rPr>
                        <a:t>名   称</a:t>
                      </a:r>
                      <a:endParaRPr lang="zh-CN" altLang="en-US" sz="1800" b="1"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gridSpan="3">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lgn="ctr">
                        <a:buNone/>
                      </a:pPr>
                      <a:r>
                        <a:rPr lang="en-US" altLang="zh-CN" sz="1800" b="1" dirty="0">
                          <a:solidFill>
                            <a:srgbClr val="000000"/>
                          </a:solidFill>
                          <a:latin typeface="Calibri" panose="020F0502020204030204" pitchFamily="34" charset="0"/>
                        </a:rPr>
                        <a:t>VT1</a:t>
                      </a:r>
                      <a:endParaRPr lang="zh-CN" altLang="en-US" sz="1800" b="1"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hMerge="1">
                  <a:tcPr/>
                </a:tc>
                <a:tc hMerge="1">
                  <a:tcPr anchor="ctr">
                    <a:lnR w="12700" cap="flat" cmpd="sng" algn="ctr">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tcPr>
                </a:tc>
                <a:tc gridSpan="3">
                  <a:txBody>
                    <a:bodyPr/>
                    <a:lstStyle/>
                    <a:p>
                      <a:pPr marL="0" lvl="0" indent="0" algn="ctr">
                        <a:buNone/>
                      </a:pPr>
                      <a:r>
                        <a:rPr lang="en-US" altLang="zh-CN" sz="1800" b="1" dirty="0">
                          <a:solidFill>
                            <a:srgbClr val="000000"/>
                          </a:solidFill>
                          <a:latin typeface="Calibri" panose="020F0502020204030204" pitchFamily="34" charset="0"/>
                        </a:rPr>
                        <a:t>VT2</a:t>
                      </a:r>
                      <a:endParaRPr lang="zh-CN" altLang="en-US" sz="1800" b="1"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tcPr>
                </a:tc>
                <a:tc hMerge="1">
                  <a:tcPr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tcPr>
                </a:tc>
                <a:tc hMerge="1">
                  <a:tcPr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tcPr>
                </a:tc>
                <a:tc gridSpan="3">
                  <a:txBody>
                    <a:bodyPr/>
                    <a:lstStyle/>
                    <a:p>
                      <a:pPr marL="0" lvl="0" indent="0" algn="ctr">
                        <a:buNone/>
                      </a:pPr>
                      <a:r>
                        <a:rPr lang="en-US" altLang="zh-CN" sz="1800" b="1" dirty="0">
                          <a:solidFill>
                            <a:srgbClr val="000000"/>
                          </a:solidFill>
                          <a:latin typeface="Calibri" panose="020F0502020204030204" pitchFamily="34" charset="0"/>
                        </a:rPr>
                        <a:t>VT3</a:t>
                      </a:r>
                      <a:endParaRPr lang="zh-CN" altLang="en-US" sz="1800" b="1"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tcPr>
                </a:tc>
                <a:tc hMerge="1">
                  <a:tcPr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tcPr>
                </a:tc>
                <a:tc hMerge="1">
                  <a:tcPr anchor="ctr">
                    <a:lnL w="12700" cap="flat" cmpd="sng" algn="ctr">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tcPr>
                </a:tc>
                <a:tc gridSpan="3">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lgn="ctr">
                        <a:buNone/>
                      </a:pPr>
                      <a:r>
                        <a:rPr lang="en-US" altLang="zh-CN" sz="1800" b="1" dirty="0">
                          <a:solidFill>
                            <a:srgbClr val="000000"/>
                          </a:solidFill>
                          <a:latin typeface="Calibri" panose="020F0502020204030204" pitchFamily="34" charset="0"/>
                        </a:rPr>
                        <a:t>VT4</a:t>
                      </a:r>
                      <a:endParaRPr lang="zh-CN" altLang="en-US" sz="1800" b="1"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hMerge="1">
                  <a:tcP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tcPr>
                </a:tc>
                <a:tc hMerge="1">
                  <a:tcPr>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tcPr>
                </a:tc>
                <a:tc gridSpan="3">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lgn="ctr">
                        <a:buNone/>
                      </a:pPr>
                      <a:r>
                        <a:rPr lang="en-US" altLang="zh-CN" sz="1800" b="1" dirty="0">
                          <a:solidFill>
                            <a:srgbClr val="000000"/>
                          </a:solidFill>
                          <a:latin typeface="Calibri" panose="020F0502020204030204" pitchFamily="34" charset="0"/>
                        </a:rPr>
                        <a:t>VT5</a:t>
                      </a:r>
                      <a:endParaRPr lang="zh-CN" altLang="en-US" sz="1800" b="1"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hMerge="1">
                  <a:tcP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tcPr>
                </a:tc>
                <a:tc hMerge="1">
                  <a:tcPr>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tcPr>
                </a:tc>
                <a:tc gridSpan="3">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lgn="ctr">
                        <a:buNone/>
                      </a:pPr>
                      <a:r>
                        <a:rPr lang="en-US" altLang="zh-CN" sz="1800" b="1" dirty="0">
                          <a:solidFill>
                            <a:srgbClr val="000000"/>
                          </a:solidFill>
                          <a:latin typeface="Calibri" panose="020F0502020204030204" pitchFamily="34" charset="0"/>
                        </a:rPr>
                        <a:t>VT6</a:t>
                      </a:r>
                      <a:endParaRPr lang="zh-CN" altLang="en-US" sz="1800" b="1"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hMerge="1">
                  <a:tcP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tcPr>
                </a:tc>
                <a:tc hMerge="1">
                  <a:tcPr>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tcPr>
                </a:tc>
              </a:tr>
              <a:tr h="459066">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zh-CN" altLang="en-US" sz="1800">
                          <a:solidFill>
                            <a:srgbClr val="000000"/>
                          </a:solidFill>
                          <a:latin typeface="Calibri" panose="020F0502020204030204" pitchFamily="34" charset="0"/>
                        </a:rPr>
                        <a:t>检  测  点</a:t>
                      </a:r>
                      <a:endParaRPr lang="zh-CN" altLang="en-US" sz="180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e</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b</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c</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e</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b</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c</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e</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b</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c</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e</a:t>
                      </a:r>
                      <a:endParaRPr lang="zh-CN" altLang="en-US" sz="24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b</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c</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e</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b</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c</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e</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b</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en-US" altLang="zh-CN" sz="2400" dirty="0">
                          <a:solidFill>
                            <a:srgbClr val="000000"/>
                          </a:solidFill>
                          <a:latin typeface="Calibri" panose="020F0502020204030204" pitchFamily="34" charset="0"/>
                        </a:rPr>
                        <a:t>c</a:t>
                      </a:r>
                      <a:endParaRPr lang="zh-CN" altLang="en-US" sz="24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D0D8E8">
                        <a:alpha val="100000"/>
                      </a:srgbClr>
                    </a:solidFill>
                  </a:tcPr>
                </a:tc>
              </a:tr>
              <a:tr h="642692">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r>
                        <a:rPr lang="zh-CN" altLang="en-US" sz="1800" dirty="0">
                          <a:solidFill>
                            <a:srgbClr val="000000"/>
                          </a:solidFill>
                          <a:latin typeface="Calibri" panose="020F0502020204030204" pitchFamily="34" charset="0"/>
                        </a:rPr>
                        <a:t>电  压  值</a:t>
                      </a:r>
                      <a:r>
                        <a:rPr lang="en-US" altLang="zh-CN" sz="1800" dirty="0">
                          <a:solidFill>
                            <a:srgbClr val="000000"/>
                          </a:solidFill>
                          <a:latin typeface="Calibri" panose="020F0502020204030204" pitchFamily="34" charset="0"/>
                        </a:rPr>
                        <a:t>(V)</a:t>
                      </a: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lgn="ctr">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lgn="ctr">
                      <a:solidFill>
                        <a:srgbClr val="4F81BD"/>
                      </a:solidFill>
                      <a:prstDash val="solid"/>
                      <a:bevel/>
                      <a:headEnd type="none" w="med" len="med"/>
                      <a:tailEnd type="none" w="med" len="med"/>
                    </a:lnT>
                    <a:lnB w="12700" cap="flat" cmpd="sng" algn="ctr">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lgn="ctr">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c>
                  <a:txBody>
                    <a:bodyPr/>
                    <a:lstStyle>
                      <a:lvl1pPr marL="457200" lvl="0" indent="-457200" algn="l" defTabSz="914400" eaLnBrk="1" fontAlgn="base" latinLnBrk="0" hangingPunct="1">
                        <a:lnSpc>
                          <a:spcPct val="100000"/>
                        </a:lnSpc>
                        <a:spcBef>
                          <a:spcPct val="20000"/>
                        </a:spcBef>
                        <a:spcAft>
                          <a:spcPct val="0"/>
                        </a:spcAft>
                        <a:buClr>
                          <a:srgbClr val="A50021"/>
                        </a:buClr>
                        <a:buSzPct val="75000"/>
                        <a:buFont typeface="Wingdings" panose="05000000000000000000" pitchFamily="2" charset="2"/>
                        <a:buChar char="n"/>
                        <a:defRPr sz="2800" b="0" i="0" u="none" kern="1200" baseline="0">
                          <a:solidFill>
                            <a:schemeClr val="tx1"/>
                          </a:solidFill>
                          <a:latin typeface="Times New Roman" panose="02020603050405020304" pitchFamily="18" charset="0"/>
                          <a:ea typeface="宋体" panose="02010600030101010101" pitchFamily="2" charset="-122"/>
                        </a:defRPr>
                      </a:lvl1pPr>
                      <a:lvl2pPr marL="1027430" lvl="1" indent="-455930">
                        <a:buClr>
                          <a:schemeClr val="accent2"/>
                        </a:buClr>
                        <a:defRPr sz="2400" kern="1200"/>
                      </a:lvl2pPr>
                      <a:lvl3pPr marL="1370330" lvl="2" indent="-228600">
                        <a:buClr>
                          <a:srgbClr val="666699"/>
                        </a:buClr>
                        <a:defRPr sz="2000" kern="1200"/>
                      </a:lvl3pPr>
                      <a:lvl4pPr marL="1713230" lvl="3" indent="-228600">
                        <a:defRPr sz="1800" kern="1200"/>
                      </a:lvl4pPr>
                      <a:lvl5pPr marL="2057400" lvl="4" indent="-228600">
                        <a:buClr>
                          <a:schemeClr val="hlink"/>
                        </a:buClr>
                        <a:defRPr sz="1800" kern="1200"/>
                      </a:lvl5pPr>
                    </a:lstStyle>
                    <a:p>
                      <a:pPr marL="0" lvl="0" indent="0">
                        <a:buNone/>
                      </a:pPr>
                      <a:endParaRPr lang="zh-CN" altLang="en-US" sz="1800" dirty="0">
                        <a:solidFill>
                          <a:srgbClr val="000000"/>
                        </a:solidFill>
                        <a:latin typeface="Calibri" panose="020F0502020204030204" pitchFamily="34" charset="0"/>
                      </a:endParaRPr>
                    </a:p>
                  </a:txBody>
                  <a:tcPr marL="91442" marR="91442" marT="45907" marB="45907" anchor="ctr">
                    <a:lnL w="12700" cap="flat" cmpd="sng">
                      <a:solidFill>
                        <a:srgbClr val="4F81BD"/>
                      </a:solidFill>
                      <a:prstDash val="solid"/>
                      <a:bevel/>
                      <a:headEnd type="none" w="med" len="med"/>
                      <a:tailEnd type="none" w="med" len="med"/>
                    </a:lnL>
                    <a:lnR w="12700" cap="flat" cmpd="sng">
                      <a:solidFill>
                        <a:srgbClr val="4F81BD"/>
                      </a:solidFill>
                      <a:prstDash val="solid"/>
                      <a:bevel/>
                      <a:headEnd type="none" w="med" len="med"/>
                      <a:tailEnd type="none" w="med" len="med"/>
                    </a:lnR>
                    <a:lnT w="12700" cap="flat" cmpd="sng">
                      <a:solidFill>
                        <a:srgbClr val="4F81BD"/>
                      </a:solidFill>
                      <a:prstDash val="solid"/>
                      <a:bevel/>
                      <a:headEnd type="none" w="med" len="med"/>
                      <a:tailEnd type="none" w="med" len="med"/>
                    </a:lnT>
                    <a:lnB w="12700" cap="flat" cmpd="sng">
                      <a:solidFill>
                        <a:srgbClr val="4F81BD"/>
                      </a:solidFill>
                      <a:prstDash val="solid"/>
                      <a:bevel/>
                      <a:headEnd type="none" w="med" len="med"/>
                      <a:tailEnd type="none" w="med" len="med"/>
                    </a:lnB>
                    <a:lnTlToBr>
                      <a:noFill/>
                    </a:lnTlToBr>
                    <a:lnBlToTr>
                      <a:noFill/>
                    </a:lnBlToTr>
                    <a:solidFill>
                      <a:srgbClr val="E9EDF4">
                        <a:alpha val="100000"/>
                      </a:srgbClr>
                    </a:solidFill>
                  </a:tcPr>
                </a:tc>
              </a:tr>
            </a:tbl>
          </a:graphicData>
        </a:graphic>
      </p:graphicFrame>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5601"/>
          <p:cNvSpPr>
            <a:spLocks noGrp="1"/>
          </p:cNvSpPr>
          <p:nvPr>
            <p:ph type="title" idx="4294967295"/>
          </p:nvPr>
        </p:nvSpPr>
        <p:spPr>
          <a:xfrm>
            <a:off x="3255041" y="0"/>
            <a:ext cx="7993062" cy="719138"/>
          </a:xfrm>
        </p:spPr>
        <p:txBody>
          <a:bodyPr anchor="b"/>
          <a:lstStyle/>
          <a:p>
            <a:pPr>
              <a:defRPr/>
            </a:pPr>
            <a:r>
              <a:rPr lang="zh-CN" altLang="en-US" sz="3200" noProof="1">
                <a:solidFill>
                  <a:srgbClr val="FF0000"/>
                </a:solidFill>
              </a:rPr>
              <a:t>收音机的统调方法1（听音法）</a:t>
            </a:r>
            <a:endParaRPr lang="zh-CN" altLang="en-US" sz="3200" noProof="1">
              <a:solidFill>
                <a:srgbClr val="FF0000"/>
              </a:solidFill>
            </a:endParaRPr>
          </a:p>
        </p:txBody>
      </p:sp>
      <p:sp>
        <p:nvSpPr>
          <p:cNvPr id="46083" name="文本框 25602"/>
          <p:cNvSpPr txBox="1">
            <a:spLocks noChangeArrowheads="1"/>
          </p:cNvSpPr>
          <p:nvPr/>
        </p:nvSpPr>
        <p:spPr bwMode="auto">
          <a:xfrm>
            <a:off x="1963739" y="1143001"/>
            <a:ext cx="8620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宋体" panose="02010600030101010101" pitchFamily="2" charset="-122"/>
                <a:ea typeface="宋体" panose="02010600030101010101" pitchFamily="2" charset="-122"/>
              </a:defRPr>
            </a:lvl1pPr>
            <a:lvl2pPr marL="742950" indent="-285750">
              <a:buFont typeface="Arial" panose="020B0604020202020204" pitchFamily="34" charset="0"/>
              <a:defRPr>
                <a:solidFill>
                  <a:schemeClr val="tx1"/>
                </a:solidFill>
                <a:latin typeface="宋体" panose="02010600030101010101" pitchFamily="2" charset="-122"/>
                <a:ea typeface="宋体" panose="02010600030101010101" pitchFamily="2" charset="-122"/>
              </a:defRPr>
            </a:lvl2pPr>
            <a:lvl3pPr marL="11430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3pPr>
            <a:lvl4pPr marL="16002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4pPr>
            <a:lvl5pPr marL="2057400" indent="-228600">
              <a:buFont typeface="Arial" panose="020B0604020202020204" pitchFamily="34" charset="0"/>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宋体" panose="02010600030101010101" pitchFamily="2" charset="-122"/>
                <a:ea typeface="宋体" panose="02010600030101010101" pitchFamily="2" charset="-122"/>
              </a:defRPr>
            </a:lvl9pPr>
          </a:lstStyle>
          <a:p>
            <a:r>
              <a:rPr lang="en-US" altLang="zh-CN" sz="2000" b="1">
                <a:latin typeface="Arial" panose="020B0604020202020204" pitchFamily="34" charset="0"/>
              </a:rPr>
              <a:t>        </a:t>
            </a:r>
            <a:r>
              <a:rPr lang="zh-CN" altLang="en-US" sz="2000" b="1">
                <a:latin typeface="Arial" panose="020B0604020202020204" pitchFamily="34" charset="0"/>
              </a:rPr>
              <a:t>收音机的统调目的是使之在</a:t>
            </a:r>
            <a:r>
              <a:rPr lang="en-US" altLang="zh-CN" sz="2000" b="1">
                <a:latin typeface="Arial" panose="020B0604020202020204" pitchFamily="34" charset="0"/>
              </a:rPr>
              <a:t>535-1605KHz</a:t>
            </a:r>
            <a:r>
              <a:rPr lang="zh-CN" altLang="en-US" sz="2000" b="1">
                <a:latin typeface="Arial" panose="020B0604020202020204" pitchFamily="34" charset="0"/>
              </a:rPr>
              <a:t>的频率范围内收到的广播电台清晰，数量尽可能多。调试的方法是利用本地电台，分三步：</a:t>
            </a:r>
            <a:endParaRPr lang="zh-CN" altLang="en-US" b="1">
              <a:latin typeface="Arial" panose="020B0604020202020204" pitchFamily="34" charset="0"/>
            </a:endParaRPr>
          </a:p>
        </p:txBody>
      </p:sp>
      <p:sp>
        <p:nvSpPr>
          <p:cNvPr id="46084" name="文本框 25603"/>
          <p:cNvSpPr txBox="1">
            <a:spLocks noChangeArrowheads="1"/>
          </p:cNvSpPr>
          <p:nvPr/>
        </p:nvSpPr>
        <p:spPr bwMode="auto">
          <a:xfrm>
            <a:off x="1905000" y="1981200"/>
            <a:ext cx="8610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a:pPr>
            <a:r>
              <a:rPr lang="zh-CN" altLang="en-US" sz="2000">
                <a:latin typeface="Arial" panose="020B0604020202020204" pitchFamily="34" charset="0"/>
              </a:rPr>
              <a:t>调中频：打开收音机，随便找一个低端电台试听，看是否有声音：先调</a:t>
            </a:r>
            <a:r>
              <a:rPr lang="en-US" altLang="zh-CN" sz="2000">
                <a:latin typeface="Arial" panose="020B0604020202020204" pitchFamily="34" charset="0"/>
              </a:rPr>
              <a:t>T4</a:t>
            </a:r>
            <a:r>
              <a:rPr lang="zh-CN" altLang="en-US" sz="2000">
                <a:latin typeface="Arial" panose="020B0604020202020204" pitchFamily="34" charset="0"/>
              </a:rPr>
              <a:t>中周，然后调</a:t>
            </a:r>
            <a:r>
              <a:rPr lang="en-US" altLang="zh-CN" sz="2000">
                <a:latin typeface="Arial" panose="020B0604020202020204" pitchFamily="34" charset="0"/>
              </a:rPr>
              <a:t>T3</a:t>
            </a:r>
            <a:r>
              <a:rPr lang="zh-CN" altLang="en-US" sz="2000">
                <a:latin typeface="Arial" panose="020B0604020202020204" pitchFamily="34" charset="0"/>
              </a:rPr>
              <a:t>中周；调到声音响亮为止；反复两次；注意此时天线线圈尽量靠外。</a:t>
            </a:r>
            <a:endParaRPr lang="zh-CN" altLang="en-US" sz="2000">
              <a:latin typeface="Arial" panose="020B0604020202020204" pitchFamily="34" charset="0"/>
            </a:endParaRPr>
          </a:p>
          <a:p>
            <a:pPr>
              <a:spcBef>
                <a:spcPct val="50000"/>
              </a:spcBef>
              <a:buClrTx/>
              <a:buFont typeface="Arial" panose="020B0604020202020204" pitchFamily="34" charset="0"/>
              <a:buAutoNum type="arabicPeriod"/>
            </a:pPr>
            <a:r>
              <a:rPr lang="zh-CN" altLang="en-US" sz="2000">
                <a:latin typeface="Arial" panose="020B0604020202020204" pitchFamily="34" charset="0"/>
              </a:rPr>
              <a:t>调覆盖：调节低端：选天津相声广播</a:t>
            </a:r>
            <a:r>
              <a:rPr lang="en-US" altLang="zh-CN" sz="2000">
                <a:latin typeface="Arial" panose="020B0604020202020204" pitchFamily="34" charset="0"/>
              </a:rPr>
              <a:t>567KHz</a:t>
            </a:r>
            <a:r>
              <a:rPr lang="zh-CN" altLang="en-US" sz="2000">
                <a:latin typeface="Arial" panose="020B0604020202020204" pitchFamily="34" charset="0"/>
              </a:rPr>
              <a:t>，将刻度盘指针指在</a:t>
            </a:r>
            <a:r>
              <a:rPr lang="en-US" altLang="zh-CN" sz="2000">
                <a:latin typeface="Arial" panose="020B0604020202020204" pitchFamily="34" charset="0"/>
              </a:rPr>
              <a:t>567KHz</a:t>
            </a:r>
            <a:r>
              <a:rPr lang="zh-CN" altLang="en-US" sz="2000">
                <a:latin typeface="Arial" panose="020B0604020202020204" pitchFamily="34" charset="0"/>
              </a:rPr>
              <a:t>的位置，调本振</a:t>
            </a:r>
            <a:r>
              <a:rPr lang="en-US" altLang="zh-CN" sz="2000">
                <a:latin typeface="Arial" panose="020B0604020202020204" pitchFamily="34" charset="0"/>
              </a:rPr>
              <a:t>T2 </a:t>
            </a:r>
            <a:r>
              <a:rPr lang="zh-CN" altLang="en-US" sz="2000">
                <a:latin typeface="Arial" panose="020B0604020202020204" pitchFamily="34" charset="0"/>
              </a:rPr>
              <a:t>，使电台声音最大。调节高端：选天津生活广播</a:t>
            </a:r>
            <a:r>
              <a:rPr lang="en-US" altLang="zh-CN" sz="2000">
                <a:latin typeface="Arial" panose="020B0604020202020204" pitchFamily="34" charset="0"/>
              </a:rPr>
              <a:t>1386KHz</a:t>
            </a:r>
            <a:r>
              <a:rPr lang="zh-CN" altLang="en-US" sz="2000">
                <a:latin typeface="Arial" panose="020B0604020202020204" pitchFamily="34" charset="0"/>
              </a:rPr>
              <a:t>，将刻度盘指针指在</a:t>
            </a:r>
            <a:r>
              <a:rPr lang="en-US" altLang="zh-CN" sz="2000">
                <a:latin typeface="Arial" panose="020B0604020202020204" pitchFamily="34" charset="0"/>
              </a:rPr>
              <a:t>1386KHz</a:t>
            </a:r>
            <a:r>
              <a:rPr lang="zh-CN" altLang="en-US" sz="2000">
                <a:latin typeface="Arial" panose="020B0604020202020204" pitchFamily="34" charset="0"/>
              </a:rPr>
              <a:t>的位置。调节双联左上角的微调电容</a:t>
            </a:r>
            <a:r>
              <a:rPr lang="en-US" altLang="zh-CN" sz="2000">
                <a:latin typeface="Arial" panose="020B0604020202020204" pitchFamily="34" charset="0"/>
              </a:rPr>
              <a:t>C</a:t>
            </a:r>
            <a:r>
              <a:rPr lang="en-US" altLang="zh-CN" sz="2000" baseline="-25000">
                <a:latin typeface="Arial" panose="020B0604020202020204" pitchFamily="34" charset="0"/>
              </a:rPr>
              <a:t>A</a:t>
            </a:r>
            <a:r>
              <a:rPr lang="zh-CN" altLang="en-US" sz="2000">
                <a:latin typeface="Arial" panose="020B0604020202020204" pitchFamily="34" charset="0"/>
              </a:rPr>
              <a:t>，使电台声音最大。以上两步需反复二到三次，频率刻度才能调准。</a:t>
            </a:r>
            <a:endParaRPr lang="zh-CN" altLang="en-US" sz="2000">
              <a:latin typeface="Arial" panose="020B0604020202020204" pitchFamily="34" charset="0"/>
            </a:endParaRPr>
          </a:p>
          <a:p>
            <a:pPr>
              <a:spcBef>
                <a:spcPct val="50000"/>
              </a:spcBef>
              <a:buClrTx/>
              <a:buFont typeface="Arial" panose="020B0604020202020204" pitchFamily="34" charset="0"/>
              <a:buAutoNum type="arabicPeriod"/>
            </a:pPr>
            <a:r>
              <a:rPr lang="zh-CN" altLang="en-US" sz="2000">
                <a:latin typeface="Arial" panose="020B0604020202020204" pitchFamily="34" charset="0"/>
              </a:rPr>
              <a:t>调跟踪：低端：选天津小说广播</a:t>
            </a:r>
            <a:r>
              <a:rPr lang="en-US" altLang="zh-CN" sz="2000">
                <a:latin typeface="Arial" panose="020B0604020202020204" pitchFamily="34" charset="0"/>
              </a:rPr>
              <a:t>666KHz</a:t>
            </a:r>
            <a:r>
              <a:rPr lang="zh-CN" altLang="en-US" sz="2000">
                <a:latin typeface="Arial" panose="020B0604020202020204" pitchFamily="34" charset="0"/>
              </a:rPr>
              <a:t>，将刻度盘指针指在</a:t>
            </a:r>
            <a:r>
              <a:rPr lang="en-US" altLang="zh-CN" sz="2000">
                <a:latin typeface="Arial" panose="020B0604020202020204" pitchFamily="34" charset="0"/>
              </a:rPr>
              <a:t>666KHz</a:t>
            </a:r>
            <a:r>
              <a:rPr lang="zh-CN" altLang="en-US" sz="2000">
                <a:latin typeface="Arial" panose="020B0604020202020204" pitchFamily="34" charset="0"/>
              </a:rPr>
              <a:t>的位置，调整线圈在磁棒上的位置，使声音最响。高端统调：选天津生活广播</a:t>
            </a:r>
            <a:r>
              <a:rPr lang="en-US" altLang="zh-CN" sz="2000">
                <a:latin typeface="Arial" panose="020B0604020202020204" pitchFamily="34" charset="0"/>
              </a:rPr>
              <a:t>1386KHz</a:t>
            </a:r>
            <a:r>
              <a:rPr lang="zh-CN" altLang="en-US" sz="2000">
                <a:latin typeface="Arial" panose="020B0604020202020204" pitchFamily="34" charset="0"/>
              </a:rPr>
              <a:t>，将刻度盘指针指在</a:t>
            </a:r>
            <a:r>
              <a:rPr lang="en-US" altLang="zh-CN" sz="2000">
                <a:latin typeface="Arial" panose="020B0604020202020204" pitchFamily="34" charset="0"/>
              </a:rPr>
              <a:t>1386KHz</a:t>
            </a:r>
            <a:r>
              <a:rPr lang="zh-CN" altLang="en-US" sz="2000">
                <a:latin typeface="Arial" panose="020B0604020202020204" pitchFamily="34" charset="0"/>
              </a:rPr>
              <a:t>的位置，调节双联右下角的微调电容</a:t>
            </a:r>
            <a:r>
              <a:rPr lang="en-US" altLang="zh-CN" sz="2000">
                <a:latin typeface="Arial" panose="020B0604020202020204" pitchFamily="34" charset="0"/>
              </a:rPr>
              <a:t>C</a:t>
            </a:r>
            <a:r>
              <a:rPr lang="en-US" altLang="zh-CN" sz="2000" baseline="-25000">
                <a:latin typeface="Arial" panose="020B0604020202020204" pitchFamily="34" charset="0"/>
              </a:rPr>
              <a:t>B</a:t>
            </a:r>
            <a:r>
              <a:rPr lang="zh-CN" altLang="en-US" sz="2000">
                <a:latin typeface="Arial" panose="020B0604020202020204" pitchFamily="34" charset="0"/>
              </a:rPr>
              <a:t>，使声音最响。</a:t>
            </a:r>
            <a:endParaRPr lang="zh-CN" altLang="en-US" sz="2000">
              <a:latin typeface="Arial" panose="020B0604020202020204" pitchFamily="34" charset="0"/>
            </a:endParaRP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26625"/>
          <p:cNvSpPr>
            <a:spLocks noGrp="1"/>
          </p:cNvSpPr>
          <p:nvPr>
            <p:ph type="title" idx="4294967295"/>
          </p:nvPr>
        </p:nvSpPr>
        <p:spPr>
          <a:xfrm>
            <a:off x="3549445" y="137652"/>
            <a:ext cx="7010400" cy="642938"/>
          </a:xfrm>
        </p:spPr>
        <p:txBody>
          <a:bodyPr anchor="b"/>
          <a:lstStyle/>
          <a:p>
            <a:pPr>
              <a:defRPr/>
            </a:pPr>
            <a:r>
              <a:rPr lang="zh-CN" altLang="en-US" sz="3200" noProof="1">
                <a:solidFill>
                  <a:srgbClr val="FF0000"/>
                </a:solidFill>
              </a:rPr>
              <a:t>收音机的统调方法2（示波器法）</a:t>
            </a:r>
            <a:endParaRPr lang="zh-CN" altLang="en-US" sz="3200" noProof="1">
              <a:solidFill>
                <a:srgbClr val="FF0000"/>
              </a:solidFill>
            </a:endParaRPr>
          </a:p>
        </p:txBody>
      </p:sp>
      <p:sp>
        <p:nvSpPr>
          <p:cNvPr id="47107" name="文本框 26626"/>
          <p:cNvSpPr txBox="1">
            <a:spLocks noChangeArrowheads="1"/>
          </p:cNvSpPr>
          <p:nvPr/>
        </p:nvSpPr>
        <p:spPr bwMode="auto">
          <a:xfrm>
            <a:off x="1866900" y="1295401"/>
            <a:ext cx="86106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a:pPr>
            <a:r>
              <a:rPr lang="zh-CN" altLang="en-US" sz="2000" dirty="0">
                <a:latin typeface="Arial" panose="020B0604020202020204" pitchFamily="34" charset="0"/>
              </a:rPr>
              <a:t>调覆盖：示波器接VT1三极管的e极和GND，调台旋钮调至低端（535KHz），测量此时正弦波形的频率，调本振T2 ，使其频率为1000KHz；调台旋钮调至高端（1605KHz），测量此时正弦波形的频率，调节双联左上角的微调电容CA，使其频率为2070KHz；以上两步需反复二到三次，频率刻度才能调准。</a:t>
            </a:r>
            <a:endParaRPr lang="zh-CN" altLang="en-US" sz="2000" dirty="0">
              <a:latin typeface="Arial" panose="020B0604020202020204" pitchFamily="34" charset="0"/>
            </a:endParaRPr>
          </a:p>
          <a:p>
            <a:pPr>
              <a:spcBef>
                <a:spcPct val="0"/>
              </a:spcBef>
              <a:buClrTx/>
              <a:buFont typeface="Arial" panose="020B0604020202020204" pitchFamily="34" charset="0"/>
              <a:buAutoNum type="arabicPeriod"/>
            </a:pPr>
            <a:r>
              <a:rPr lang="zh-CN" altLang="en-US" sz="2000" dirty="0">
                <a:latin typeface="Arial" panose="020B0604020202020204" pitchFamily="34" charset="0"/>
              </a:rPr>
              <a:t>调中频：信号源产生465KHz，1Vpp的正弦信号靠近收音机磁棒天线：示波器使用直流输入（DC）档接音量电位器的“高端”和GND，调台旋钮调至低端（535KHz），此时示波器应有直流电压，先调T4中周，然后调T3中周；使示波器测量的直流电压最大为止；反复两次；注意此时天线线圈尽量靠外。此步骤的目的是使T4、T3中周的中心频率均为465KHz并“对齐”，另外还可将调乱的中周调回465KHz并“对齐”</a:t>
            </a:r>
            <a:endParaRPr lang="en-US" altLang="zh-CN" sz="2000" dirty="0">
              <a:latin typeface="Arial" panose="020B0604020202020204" pitchFamily="34" charset="0"/>
            </a:endParaRPr>
          </a:p>
          <a:p>
            <a:pPr>
              <a:spcBef>
                <a:spcPct val="0"/>
              </a:spcBef>
              <a:buClrTx/>
              <a:buFont typeface="Arial" panose="020B0604020202020204" pitchFamily="34" charset="0"/>
              <a:buAutoNum type="arabicPeriod"/>
            </a:pPr>
            <a:r>
              <a:rPr lang="zh-CN" altLang="en-US" sz="2000" dirty="0">
                <a:latin typeface="Arial" panose="020B0604020202020204" pitchFamily="34" charset="0"/>
              </a:rPr>
              <a:t>调跟踪：低端：选天津小说广播666KHz，将刻度盘指针指在666KHz的位置，调整线圈在磁棒上的位置，使声音最响。高端统调：选天津生活广播1386KHz，将刻度盘指针指在1386KHz的位置，调节双联右下角的微调电容C</a:t>
            </a:r>
            <a:r>
              <a:rPr lang="zh-CN" altLang="en-US" sz="2000" baseline="-25000" dirty="0">
                <a:latin typeface="Arial" panose="020B0604020202020204" pitchFamily="34" charset="0"/>
              </a:rPr>
              <a:t>B</a:t>
            </a:r>
            <a:r>
              <a:rPr lang="zh-CN" altLang="en-US" sz="2000" dirty="0">
                <a:latin typeface="Arial" panose="020B0604020202020204" pitchFamily="34" charset="0"/>
              </a:rPr>
              <a:t>，使声音最响。</a:t>
            </a:r>
            <a:endParaRPr lang="zh-CN" altLang="en-US" sz="2000" dirty="0">
              <a:latin typeface="Arial" panose="020B0604020202020204" pitchFamily="34" charset="0"/>
            </a:endParaRP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27649"/>
          <p:cNvSpPr>
            <a:spLocks noGrp="1"/>
          </p:cNvSpPr>
          <p:nvPr>
            <p:ph type="title" idx="4294967295"/>
          </p:nvPr>
        </p:nvSpPr>
        <p:spPr>
          <a:xfrm>
            <a:off x="3392129" y="358878"/>
            <a:ext cx="6092825" cy="454025"/>
          </a:xfrm>
        </p:spPr>
        <p:txBody>
          <a:bodyPr anchor="b"/>
          <a:lstStyle/>
          <a:p>
            <a:pPr>
              <a:defRPr/>
            </a:pPr>
            <a:r>
              <a:rPr lang="zh-CN" altLang="en-US" sz="3200" noProof="1">
                <a:solidFill>
                  <a:srgbClr val="FF0000"/>
                </a:solidFill>
              </a:rPr>
              <a:t>本地中波广播参考资源</a:t>
            </a:r>
            <a:endParaRPr lang="zh-CN" altLang="en-US" sz="3200" noProof="1">
              <a:solidFill>
                <a:srgbClr val="FF0000"/>
              </a:solidFill>
            </a:endParaRPr>
          </a:p>
        </p:txBody>
      </p:sp>
      <p:sp>
        <p:nvSpPr>
          <p:cNvPr id="48131" name="文本框 27650"/>
          <p:cNvSpPr txBox="1">
            <a:spLocks noChangeArrowheads="1"/>
          </p:cNvSpPr>
          <p:nvPr/>
        </p:nvSpPr>
        <p:spPr bwMode="auto">
          <a:xfrm>
            <a:off x="1981200" y="1295401"/>
            <a:ext cx="4114800"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hlink"/>
              </a:buClr>
              <a:buFont typeface="Wingdings" panose="05000000000000000000" pitchFamily="2" charset="2"/>
              <a:buChar char="v"/>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buFont typeface="Wingdings" panose="05000000000000000000" pitchFamily="2" charset="2"/>
              <a:buChar char="•"/>
              <a:defRPr sz="2400" b="1">
                <a:solidFill>
                  <a:schemeClr val="tx1"/>
                </a:solidFill>
                <a:latin typeface="宋体" panose="02010600030101010101" pitchFamily="2" charset="-122"/>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宋体" panose="02010600030101010101" pitchFamily="2" charset="-122"/>
                <a:ea typeface="宋体" panose="02010600030101010101" pitchFamily="2" charset="-122"/>
              </a:defRPr>
            </a:lvl9pPr>
          </a:lstStyle>
          <a:p>
            <a:pPr>
              <a:spcBef>
                <a:spcPct val="0"/>
              </a:spcBef>
              <a:buClrTx/>
              <a:buFont typeface="Arial" panose="020B0604020202020204" pitchFamily="34" charset="0"/>
              <a:buAutoNum type="arabicPeriod"/>
            </a:pPr>
            <a:r>
              <a:rPr lang="zh-CN" altLang="en-US" sz="2400">
                <a:latin typeface="Arial" panose="020B0604020202020204" pitchFamily="34" charset="0"/>
              </a:rPr>
              <a:t>天津相声广播：567KHz</a:t>
            </a:r>
            <a:endParaRPr lang="zh-CN" altLang="en-US" sz="2400">
              <a:latin typeface="Arial" panose="020B0604020202020204" pitchFamily="34" charset="0"/>
            </a:endParaRPr>
          </a:p>
          <a:p>
            <a:pPr>
              <a:spcBef>
                <a:spcPct val="50000"/>
              </a:spcBef>
              <a:buClrTx/>
              <a:buFont typeface="Arial" panose="020B0604020202020204" pitchFamily="34" charset="0"/>
              <a:buAutoNum type="arabicPeriod"/>
            </a:pPr>
            <a:r>
              <a:rPr lang="zh-CN" altLang="en-US" sz="2400">
                <a:latin typeface="Arial" panose="020B0604020202020204" pitchFamily="34" charset="0"/>
              </a:rPr>
              <a:t>中央中国之声：639KHz</a:t>
            </a:r>
            <a:endParaRPr lang="zh-CN" altLang="en-US" sz="2400">
              <a:latin typeface="Arial" panose="020B0604020202020204" pitchFamily="34" charset="0"/>
            </a:endParaRPr>
          </a:p>
          <a:p>
            <a:pPr>
              <a:spcBef>
                <a:spcPct val="50000"/>
              </a:spcBef>
              <a:buClrTx/>
              <a:buFont typeface="Arial" panose="020B0604020202020204" pitchFamily="34" charset="0"/>
              <a:buAutoNum type="arabicPeriod"/>
            </a:pPr>
            <a:r>
              <a:rPr lang="zh-CN" altLang="en-US" sz="2400">
                <a:latin typeface="Arial" panose="020B0604020202020204" pitchFamily="34" charset="0"/>
              </a:rPr>
              <a:t>天津小说广播：666KHz</a:t>
            </a:r>
            <a:endParaRPr lang="zh-CN" altLang="en-US" sz="2400">
              <a:latin typeface="Arial" panose="020B0604020202020204" pitchFamily="34" charset="0"/>
            </a:endParaRPr>
          </a:p>
          <a:p>
            <a:pPr>
              <a:spcBef>
                <a:spcPct val="50000"/>
              </a:spcBef>
              <a:buClrTx/>
              <a:buFont typeface="Arial" panose="020B0604020202020204" pitchFamily="34" charset="0"/>
              <a:buAutoNum type="arabicPeriod"/>
            </a:pPr>
            <a:r>
              <a:rPr lang="zh-CN" altLang="en-US" sz="2400">
                <a:latin typeface="Times New Roman" panose="02020603050405020304" pitchFamily="18" charset="0"/>
                <a:ea typeface="华文中宋" panose="02010600040101010101" pitchFamily="2" charset="-122"/>
              </a:rPr>
              <a:t>中央经济之声：720KHz</a:t>
            </a:r>
            <a:endParaRPr lang="zh-CN" altLang="en-US" sz="2400">
              <a:latin typeface="Times New Roman" panose="02020603050405020304" pitchFamily="18" charset="0"/>
              <a:ea typeface="华文中宋" panose="02010600040101010101" pitchFamily="2" charset="-122"/>
            </a:endParaRPr>
          </a:p>
          <a:p>
            <a:pPr>
              <a:spcBef>
                <a:spcPct val="50000"/>
              </a:spcBef>
              <a:buClrTx/>
              <a:buFont typeface="Arial" panose="020B0604020202020204" pitchFamily="34" charset="0"/>
              <a:buAutoNum type="arabicPeriod"/>
            </a:pPr>
            <a:r>
              <a:rPr lang="zh-CN" altLang="en-US" sz="2400">
                <a:latin typeface="Times New Roman" panose="02020603050405020304" pitchFamily="18" charset="0"/>
                <a:ea typeface="华文中宋" panose="02010600040101010101" pitchFamily="2" charset="-122"/>
              </a:rPr>
              <a:t>天津滨海广播：747KHz</a:t>
            </a:r>
            <a:endParaRPr lang="zh-CN" altLang="en-US" sz="2400">
              <a:latin typeface="Times New Roman" panose="02020603050405020304" pitchFamily="18" charset="0"/>
              <a:ea typeface="华文中宋" panose="02010600040101010101" pitchFamily="2" charset="-122"/>
            </a:endParaRPr>
          </a:p>
          <a:p>
            <a:pPr>
              <a:spcBef>
                <a:spcPct val="50000"/>
              </a:spcBef>
              <a:buClrTx/>
              <a:buFont typeface="Arial" panose="020B0604020202020204" pitchFamily="34" charset="0"/>
              <a:buAutoNum type="arabicPeriod"/>
            </a:pPr>
            <a:r>
              <a:rPr lang="zh-CN" altLang="en-US" sz="2400">
                <a:latin typeface="Times New Roman" panose="02020603050405020304" pitchFamily="18" charset="0"/>
                <a:ea typeface="华文中宋" panose="02010600040101010101" pitchFamily="2" charset="-122"/>
              </a:rPr>
              <a:t>天津新闻广播：909KHz</a:t>
            </a:r>
            <a:endParaRPr lang="zh-CN" altLang="en-US" sz="2400">
              <a:latin typeface="Times New Roman" panose="02020603050405020304" pitchFamily="18" charset="0"/>
              <a:ea typeface="华文中宋" panose="02010600040101010101" pitchFamily="2" charset="-122"/>
            </a:endParaRPr>
          </a:p>
          <a:p>
            <a:pPr>
              <a:spcBef>
                <a:spcPct val="50000"/>
              </a:spcBef>
              <a:buClrTx/>
              <a:buFont typeface="Arial" panose="020B0604020202020204" pitchFamily="34" charset="0"/>
              <a:buAutoNum type="arabicPeriod"/>
            </a:pPr>
            <a:r>
              <a:rPr lang="zh-CN" altLang="en-US" sz="2400">
                <a:latin typeface="Times New Roman" panose="02020603050405020304" pitchFamily="18" charset="0"/>
                <a:ea typeface="华文中宋" panose="02010600040101010101" pitchFamily="2" charset="-122"/>
              </a:rPr>
              <a:t>天津经济广播：1071KHz</a:t>
            </a:r>
            <a:endParaRPr lang="zh-CN" altLang="en-US" sz="2400">
              <a:latin typeface="Times New Roman" panose="02020603050405020304" pitchFamily="18" charset="0"/>
              <a:ea typeface="华文中宋" panose="02010600040101010101" pitchFamily="2" charset="-122"/>
            </a:endParaRPr>
          </a:p>
          <a:p>
            <a:pPr>
              <a:spcBef>
                <a:spcPct val="50000"/>
              </a:spcBef>
              <a:buClrTx/>
              <a:buFont typeface="Arial" panose="020B0604020202020204" pitchFamily="34" charset="0"/>
              <a:buAutoNum type="arabicPeriod"/>
            </a:pPr>
            <a:r>
              <a:rPr lang="zh-CN" altLang="en-US" sz="2400">
                <a:latin typeface="Times New Roman" panose="02020603050405020304" pitchFamily="18" charset="0"/>
                <a:ea typeface="华文中宋" panose="02010600040101010101" pitchFamily="2" charset="-122"/>
              </a:rPr>
              <a:t>天津文艺广播：1098KHz</a:t>
            </a:r>
            <a:endParaRPr lang="zh-CN" altLang="en-US" sz="2400">
              <a:latin typeface="Times New Roman" panose="02020603050405020304" pitchFamily="18" charset="0"/>
              <a:ea typeface="华文中宋" panose="02010600040101010101" pitchFamily="2" charset="-122"/>
            </a:endParaRPr>
          </a:p>
          <a:p>
            <a:pPr>
              <a:spcBef>
                <a:spcPct val="50000"/>
              </a:spcBef>
              <a:buClrTx/>
              <a:buFont typeface="Arial" panose="020B0604020202020204" pitchFamily="34" charset="0"/>
              <a:buAutoNum type="arabicPeriod"/>
            </a:pPr>
            <a:r>
              <a:rPr lang="zh-CN" altLang="en-US" sz="2400">
                <a:latin typeface="Times New Roman" panose="02020603050405020304" pitchFamily="18" charset="0"/>
                <a:ea typeface="华文中宋" panose="02010600040101010101" pitchFamily="2" charset="-122"/>
              </a:rPr>
              <a:t>天津生活广播：1386KHz</a:t>
            </a:r>
            <a:endParaRPr lang="zh-CN" altLang="en-US" sz="2400">
              <a:latin typeface="Times New Roman" panose="02020603050405020304" pitchFamily="18" charset="0"/>
              <a:ea typeface="华文中宋" panose="0201060004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27649"/>
          <p:cNvSpPr>
            <a:spLocks noGrp="1"/>
          </p:cNvSpPr>
          <p:nvPr>
            <p:ph type="title" idx="4294967295"/>
          </p:nvPr>
        </p:nvSpPr>
        <p:spPr>
          <a:xfrm>
            <a:off x="4043516" y="2608006"/>
            <a:ext cx="3429000" cy="1065213"/>
          </a:xfrm>
        </p:spPr>
        <p:txBody>
          <a:bodyPr anchor="b"/>
          <a:lstStyle/>
          <a:p>
            <a:pPr>
              <a:defRPr/>
            </a:pPr>
            <a:r>
              <a:rPr lang="zh-CN" altLang="en-US" sz="4000" noProof="1">
                <a:solidFill>
                  <a:srgbClr val="FF0000"/>
                </a:solidFill>
              </a:rPr>
              <a:t>相关知识复习</a:t>
            </a:r>
            <a:endParaRPr lang="zh-CN" altLang="en-US" sz="4000" noProof="1">
              <a:solidFill>
                <a:srgbClr val="FF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3313"/>
          <p:cNvSpPr>
            <a:spLocks noGrp="1" noChangeArrowheads="1"/>
          </p:cNvSpPr>
          <p:nvPr>
            <p:ph type="title" idx="4294967295"/>
          </p:nvPr>
        </p:nvSpPr>
        <p:spPr>
          <a:xfrm>
            <a:off x="3398224" y="214518"/>
            <a:ext cx="7859712" cy="561975"/>
          </a:xfrm>
        </p:spPr>
        <p:txBody>
          <a:bodyPr/>
          <a:lstStyle/>
          <a:p>
            <a:pPr eaLnBrk="1" hangingPunct="1"/>
            <a:r>
              <a:rPr lang="zh-CN" altLang="en-US" sz="4000" b="1" dirty="0"/>
              <a:t>电子产品的装配与焊接</a:t>
            </a:r>
            <a:endParaRPr lang="zh-CN" altLang="en-US" sz="4000" b="1" dirty="0"/>
          </a:p>
        </p:txBody>
      </p:sp>
      <p:sp>
        <p:nvSpPr>
          <p:cNvPr id="37891" name="文本占位符 13314"/>
          <p:cNvSpPr>
            <a:spLocks noGrp="1" noChangeArrowheads="1"/>
          </p:cNvSpPr>
          <p:nvPr>
            <p:ph idx="4294967295"/>
          </p:nvPr>
        </p:nvSpPr>
        <p:spPr>
          <a:xfrm>
            <a:off x="2052433" y="1580536"/>
            <a:ext cx="8507412" cy="4565650"/>
          </a:xfrm>
        </p:spPr>
        <p:txBody>
          <a:bodyPr/>
          <a:lstStyle/>
          <a:p>
            <a:pPr eaLnBrk="1" hangingPunct="1">
              <a:lnSpc>
                <a:spcPct val="110000"/>
              </a:lnSpc>
              <a:buFont typeface="Wingdings" panose="05000000000000000000" pitchFamily="2" charset="2"/>
              <a:buNone/>
            </a:pPr>
            <a:r>
              <a:rPr lang="en-US" altLang="zh-CN" dirty="0"/>
              <a:t>          </a:t>
            </a:r>
            <a:r>
              <a:rPr lang="zh-CN" altLang="en-US" dirty="0"/>
              <a:t>装配一个电子产品，必须具备以下几方面知识：</a:t>
            </a:r>
            <a:r>
              <a:rPr lang="zh-CN" altLang="en-US" b="1" dirty="0"/>
              <a:t>识别元器件、理解电路原理、看懂电路原理图、电路装配图、印刷电路板图、整机总装图</a:t>
            </a:r>
            <a:r>
              <a:rPr lang="zh-CN" altLang="en-US" dirty="0"/>
              <a:t>等，作为电气类工程师，对电子产品的设计与生产的各个环节必须非常熟悉。电子产品的安装与焊接也是必备的基本技能。</a:t>
            </a:r>
            <a:endParaRPr lang="zh-CN" altLang="en-US" dirty="0"/>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p:nvPr/>
        </p:nvGrpSpPr>
        <p:grpSpPr bwMode="auto">
          <a:xfrm>
            <a:off x="3165476" y="2551113"/>
            <a:ext cx="601663" cy="709612"/>
            <a:chOff x="0" y="0"/>
            <a:chExt cx="379" cy="447"/>
          </a:xfrm>
        </p:grpSpPr>
        <p:sp>
          <p:nvSpPr>
            <p:cNvPr id="33814" name="Arc 3"/>
            <p:cNvSpPr>
              <a:spLocks noChangeArrowheads="1"/>
            </p:cNvSpPr>
            <p:nvPr/>
          </p:nvSpPr>
          <p:spPr bwMode="auto">
            <a:xfrm rot="-7447758" flipH="1" flipV="1">
              <a:off x="-30" y="293"/>
              <a:ext cx="213" cy="62"/>
            </a:xfrm>
            <a:custGeom>
              <a:avLst/>
              <a:gdLst>
                <a:gd name="T0" fmla="*/ 0 w 43200"/>
                <a:gd name="T1" fmla="*/ 62 h 21600"/>
                <a:gd name="T2" fmla="*/ 106 w 43200"/>
                <a:gd name="T3" fmla="*/ 0 h 21600"/>
                <a:gd name="T4" fmla="*/ 213 w 43200"/>
                <a:gd name="T5" fmla="*/ 62 h 21600"/>
                <a:gd name="T6" fmla="*/ 0 w 43200"/>
                <a:gd name="T7" fmla="*/ 62 h 21600"/>
                <a:gd name="T8" fmla="*/ 106 w 43200"/>
                <a:gd name="T9" fmla="*/ 0 h 21600"/>
                <a:gd name="T10" fmla="*/ 213 w 43200"/>
                <a:gd name="T11" fmla="*/ 62 h 21600"/>
                <a:gd name="T12" fmla="*/ 106 w 43200"/>
                <a:gd name="T13" fmla="*/ 62 h 21600"/>
                <a:gd name="T14" fmla="*/ 0 w 43200"/>
                <a:gd name="T15" fmla="*/ 62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5" name="Arc 4"/>
            <p:cNvSpPr>
              <a:spLocks noChangeArrowheads="1"/>
            </p:cNvSpPr>
            <p:nvPr/>
          </p:nvSpPr>
          <p:spPr bwMode="auto">
            <a:xfrm rot="-7445238" flipH="1" flipV="1">
              <a:off x="2" y="248"/>
              <a:ext cx="268" cy="78"/>
            </a:xfrm>
            <a:custGeom>
              <a:avLst/>
              <a:gdLst>
                <a:gd name="T0" fmla="*/ 0 w 43200"/>
                <a:gd name="T1" fmla="*/ 78 h 21600"/>
                <a:gd name="T2" fmla="*/ 134 w 43200"/>
                <a:gd name="T3" fmla="*/ 0 h 21600"/>
                <a:gd name="T4" fmla="*/ 268 w 43200"/>
                <a:gd name="T5" fmla="*/ 78 h 21600"/>
                <a:gd name="T6" fmla="*/ 0 w 43200"/>
                <a:gd name="T7" fmla="*/ 78 h 21600"/>
                <a:gd name="T8" fmla="*/ 134 w 43200"/>
                <a:gd name="T9" fmla="*/ 0 h 21600"/>
                <a:gd name="T10" fmla="*/ 268 w 43200"/>
                <a:gd name="T11" fmla="*/ 78 h 21600"/>
                <a:gd name="T12" fmla="*/ 134 w 43200"/>
                <a:gd name="T13" fmla="*/ 78 h 21600"/>
                <a:gd name="T14" fmla="*/ 0 w 43200"/>
                <a:gd name="T15" fmla="*/ 7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6" name="Arc 5"/>
            <p:cNvSpPr>
              <a:spLocks noChangeArrowheads="1"/>
            </p:cNvSpPr>
            <p:nvPr/>
          </p:nvSpPr>
          <p:spPr bwMode="auto">
            <a:xfrm rot="-7428485" flipH="1" flipV="1">
              <a:off x="48" y="207"/>
              <a:ext cx="290" cy="84"/>
            </a:xfrm>
            <a:custGeom>
              <a:avLst/>
              <a:gdLst>
                <a:gd name="T0" fmla="*/ 0 w 43200"/>
                <a:gd name="T1" fmla="*/ 84 h 21600"/>
                <a:gd name="T2" fmla="*/ 145 w 43200"/>
                <a:gd name="T3" fmla="*/ 0 h 21600"/>
                <a:gd name="T4" fmla="*/ 290 w 43200"/>
                <a:gd name="T5" fmla="*/ 84 h 21600"/>
                <a:gd name="T6" fmla="*/ 0 w 43200"/>
                <a:gd name="T7" fmla="*/ 84 h 21600"/>
                <a:gd name="T8" fmla="*/ 145 w 43200"/>
                <a:gd name="T9" fmla="*/ 0 h 21600"/>
                <a:gd name="T10" fmla="*/ 290 w 43200"/>
                <a:gd name="T11" fmla="*/ 84 h 21600"/>
                <a:gd name="T12" fmla="*/ 145 w 43200"/>
                <a:gd name="T13" fmla="*/ 84 h 21600"/>
                <a:gd name="T14" fmla="*/ 0 w 43200"/>
                <a:gd name="T15" fmla="*/ 84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7" name="Arc 6"/>
            <p:cNvSpPr>
              <a:spLocks noChangeArrowheads="1"/>
            </p:cNvSpPr>
            <p:nvPr/>
          </p:nvSpPr>
          <p:spPr bwMode="auto">
            <a:xfrm rot="-7434792" flipH="1" flipV="1">
              <a:off x="91" y="157"/>
              <a:ext cx="325" cy="96"/>
            </a:xfrm>
            <a:custGeom>
              <a:avLst/>
              <a:gdLst>
                <a:gd name="T0" fmla="*/ 0 w 43200"/>
                <a:gd name="T1" fmla="*/ 96 h 21600"/>
                <a:gd name="T2" fmla="*/ 163 w 43200"/>
                <a:gd name="T3" fmla="*/ 0 h 21600"/>
                <a:gd name="T4" fmla="*/ 325 w 43200"/>
                <a:gd name="T5" fmla="*/ 96 h 21600"/>
                <a:gd name="T6" fmla="*/ 0 w 43200"/>
                <a:gd name="T7" fmla="*/ 96 h 21600"/>
                <a:gd name="T8" fmla="*/ 163 w 43200"/>
                <a:gd name="T9" fmla="*/ 0 h 21600"/>
                <a:gd name="T10" fmla="*/ 325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8" name="Arc 7"/>
            <p:cNvSpPr>
              <a:spLocks noChangeArrowheads="1"/>
            </p:cNvSpPr>
            <p:nvPr/>
          </p:nvSpPr>
          <p:spPr bwMode="auto">
            <a:xfrm rot="-7434792" flipH="1" flipV="1">
              <a:off x="163" y="114"/>
              <a:ext cx="325" cy="96"/>
            </a:xfrm>
            <a:custGeom>
              <a:avLst/>
              <a:gdLst>
                <a:gd name="T0" fmla="*/ 0 w 43200"/>
                <a:gd name="T1" fmla="*/ 96 h 21600"/>
                <a:gd name="T2" fmla="*/ 163 w 43200"/>
                <a:gd name="T3" fmla="*/ 0 h 21600"/>
                <a:gd name="T4" fmla="*/ 325 w 43200"/>
                <a:gd name="T5" fmla="*/ 96 h 21600"/>
                <a:gd name="T6" fmla="*/ 0 w 43200"/>
                <a:gd name="T7" fmla="*/ 96 h 21600"/>
                <a:gd name="T8" fmla="*/ 163 w 43200"/>
                <a:gd name="T9" fmla="*/ 0 h 21600"/>
                <a:gd name="T10" fmla="*/ 325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762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9" name="Arc 8"/>
            <p:cNvSpPr>
              <a:spLocks noChangeArrowheads="1"/>
            </p:cNvSpPr>
            <p:nvPr/>
          </p:nvSpPr>
          <p:spPr bwMode="auto">
            <a:xfrm rot="-7447758" flipH="1" flipV="1">
              <a:off x="-62" y="326"/>
              <a:ext cx="178" cy="53"/>
            </a:xfrm>
            <a:custGeom>
              <a:avLst/>
              <a:gdLst>
                <a:gd name="T0" fmla="*/ 0 w 43200"/>
                <a:gd name="T1" fmla="*/ 53 h 21600"/>
                <a:gd name="T2" fmla="*/ 89 w 43200"/>
                <a:gd name="T3" fmla="*/ 0 h 21600"/>
                <a:gd name="T4" fmla="*/ 178 w 43200"/>
                <a:gd name="T5" fmla="*/ 53 h 21600"/>
                <a:gd name="T6" fmla="*/ 0 w 43200"/>
                <a:gd name="T7" fmla="*/ 53 h 21600"/>
                <a:gd name="T8" fmla="*/ 89 w 43200"/>
                <a:gd name="T9" fmla="*/ 0 h 21600"/>
                <a:gd name="T10" fmla="*/ 178 w 43200"/>
                <a:gd name="T11" fmla="*/ 53 h 21600"/>
                <a:gd name="T12" fmla="*/ 89 w 43200"/>
                <a:gd name="T13" fmla="*/ 53 h 21600"/>
                <a:gd name="T14" fmla="*/ 0 w 43200"/>
                <a:gd name="T15" fmla="*/ 53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33795" name="Rectangle 47"/>
          <p:cNvSpPr>
            <a:spLocks noChangeArrowheads="1"/>
          </p:cNvSpPr>
          <p:nvPr/>
        </p:nvSpPr>
        <p:spPr bwMode="auto">
          <a:xfrm>
            <a:off x="2686050" y="3822700"/>
            <a:ext cx="1974850" cy="184150"/>
          </a:xfrm>
          <a:prstGeom prst="rect">
            <a:avLst/>
          </a:prstGeom>
          <a:solidFill>
            <a:schemeClr val="tx2"/>
          </a:solidFill>
          <a:ln w="9525">
            <a:solidFill>
              <a:schemeClr val="tx1"/>
            </a:solidFill>
            <a:bevel/>
          </a:ln>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3796" name="Line 48"/>
          <p:cNvSpPr>
            <a:spLocks noChangeShapeType="1"/>
          </p:cNvSpPr>
          <p:nvPr/>
        </p:nvSpPr>
        <p:spPr bwMode="auto">
          <a:xfrm flipV="1">
            <a:off x="3255963" y="3265489"/>
            <a:ext cx="0" cy="598487"/>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3797" name="Rectangle 49"/>
          <p:cNvSpPr>
            <a:spLocks noChangeArrowheads="1"/>
          </p:cNvSpPr>
          <p:nvPr/>
        </p:nvSpPr>
        <p:spPr bwMode="auto">
          <a:xfrm>
            <a:off x="3551238" y="3697288"/>
            <a:ext cx="1009650" cy="88900"/>
          </a:xfrm>
          <a:prstGeom prst="rect">
            <a:avLst/>
          </a:prstGeom>
          <a:solidFill>
            <a:srgbClr val="FFFFCC"/>
          </a:solidFill>
          <a:ln w="38100">
            <a:solidFill>
              <a:srgbClr val="996633"/>
            </a:solidFill>
            <a:bevel/>
          </a:ln>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grpSp>
        <p:nvGrpSpPr>
          <p:cNvPr id="33798" name="Group 54"/>
          <p:cNvGrpSpPr/>
          <p:nvPr/>
        </p:nvGrpSpPr>
        <p:grpSpPr bwMode="auto">
          <a:xfrm>
            <a:off x="3097214" y="2635251"/>
            <a:ext cx="549275" cy="677863"/>
            <a:chOff x="0" y="0"/>
            <a:chExt cx="346" cy="427"/>
          </a:xfrm>
        </p:grpSpPr>
        <p:sp>
          <p:nvSpPr>
            <p:cNvPr id="33808" name="Arc 55"/>
            <p:cNvSpPr>
              <a:spLocks noChangeArrowheads="1"/>
            </p:cNvSpPr>
            <p:nvPr/>
          </p:nvSpPr>
          <p:spPr bwMode="auto">
            <a:xfrm rot="14143023" flipH="1">
              <a:off x="-39" y="280"/>
              <a:ext cx="212" cy="62"/>
            </a:xfrm>
            <a:custGeom>
              <a:avLst/>
              <a:gdLst>
                <a:gd name="T0" fmla="*/ 0 w 43200"/>
                <a:gd name="T1" fmla="*/ 62 h 21600"/>
                <a:gd name="T2" fmla="*/ 106 w 43200"/>
                <a:gd name="T3" fmla="*/ 0 h 21600"/>
                <a:gd name="T4" fmla="*/ 212 w 43200"/>
                <a:gd name="T5" fmla="*/ 62 h 21600"/>
                <a:gd name="T6" fmla="*/ 0 w 43200"/>
                <a:gd name="T7" fmla="*/ 62 h 21600"/>
                <a:gd name="T8" fmla="*/ 106 w 43200"/>
                <a:gd name="T9" fmla="*/ 0 h 21600"/>
                <a:gd name="T10" fmla="*/ 212 w 43200"/>
                <a:gd name="T11" fmla="*/ 62 h 21600"/>
                <a:gd name="T12" fmla="*/ 106 w 43200"/>
                <a:gd name="T13" fmla="*/ 62 h 21600"/>
                <a:gd name="T14" fmla="*/ 0 w 43200"/>
                <a:gd name="T15" fmla="*/ 62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09" name="Arc 56"/>
            <p:cNvSpPr>
              <a:spLocks noChangeArrowheads="1"/>
            </p:cNvSpPr>
            <p:nvPr/>
          </p:nvSpPr>
          <p:spPr bwMode="auto">
            <a:xfrm rot="14140503" flipH="1">
              <a:off x="-27" y="235"/>
              <a:ext cx="267" cy="79"/>
            </a:xfrm>
            <a:custGeom>
              <a:avLst/>
              <a:gdLst>
                <a:gd name="T0" fmla="*/ 0 w 43200"/>
                <a:gd name="T1" fmla="*/ 79 h 21600"/>
                <a:gd name="T2" fmla="*/ 134 w 43200"/>
                <a:gd name="T3" fmla="*/ 0 h 21600"/>
                <a:gd name="T4" fmla="*/ 267 w 43200"/>
                <a:gd name="T5" fmla="*/ 79 h 21600"/>
                <a:gd name="T6" fmla="*/ 0 w 43200"/>
                <a:gd name="T7" fmla="*/ 79 h 21600"/>
                <a:gd name="T8" fmla="*/ 134 w 43200"/>
                <a:gd name="T9" fmla="*/ 0 h 21600"/>
                <a:gd name="T10" fmla="*/ 267 w 43200"/>
                <a:gd name="T11" fmla="*/ 79 h 21600"/>
                <a:gd name="T12" fmla="*/ 134 w 43200"/>
                <a:gd name="T13" fmla="*/ 79 h 21600"/>
                <a:gd name="T14" fmla="*/ 0 w 43200"/>
                <a:gd name="T15" fmla="*/ 79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0" name="Arc 57"/>
            <p:cNvSpPr>
              <a:spLocks noChangeArrowheads="1"/>
            </p:cNvSpPr>
            <p:nvPr/>
          </p:nvSpPr>
          <p:spPr bwMode="auto">
            <a:xfrm rot="14123751" flipH="1">
              <a:off x="14" y="195"/>
              <a:ext cx="290" cy="85"/>
            </a:xfrm>
            <a:custGeom>
              <a:avLst/>
              <a:gdLst>
                <a:gd name="T0" fmla="*/ 0 w 43200"/>
                <a:gd name="T1" fmla="*/ 85 h 21600"/>
                <a:gd name="T2" fmla="*/ 145 w 43200"/>
                <a:gd name="T3" fmla="*/ 0 h 21600"/>
                <a:gd name="T4" fmla="*/ 290 w 43200"/>
                <a:gd name="T5" fmla="*/ 85 h 21600"/>
                <a:gd name="T6" fmla="*/ 0 w 43200"/>
                <a:gd name="T7" fmla="*/ 85 h 21600"/>
                <a:gd name="T8" fmla="*/ 145 w 43200"/>
                <a:gd name="T9" fmla="*/ 0 h 21600"/>
                <a:gd name="T10" fmla="*/ 290 w 43200"/>
                <a:gd name="T11" fmla="*/ 85 h 21600"/>
                <a:gd name="T12" fmla="*/ 145 w 43200"/>
                <a:gd name="T13" fmla="*/ 85 h 21600"/>
                <a:gd name="T14" fmla="*/ 0 w 43200"/>
                <a:gd name="T15" fmla="*/ 85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1" name="Arc 58"/>
            <p:cNvSpPr>
              <a:spLocks noChangeArrowheads="1"/>
            </p:cNvSpPr>
            <p:nvPr/>
          </p:nvSpPr>
          <p:spPr bwMode="auto">
            <a:xfrm rot="14130057" flipH="1">
              <a:off x="58" y="161"/>
              <a:ext cx="326" cy="96"/>
            </a:xfrm>
            <a:custGeom>
              <a:avLst/>
              <a:gdLst>
                <a:gd name="T0" fmla="*/ 0 w 43200"/>
                <a:gd name="T1" fmla="*/ 96 h 21600"/>
                <a:gd name="T2" fmla="*/ 163 w 43200"/>
                <a:gd name="T3" fmla="*/ 0 h 21600"/>
                <a:gd name="T4" fmla="*/ 326 w 43200"/>
                <a:gd name="T5" fmla="*/ 96 h 21600"/>
                <a:gd name="T6" fmla="*/ 0 w 43200"/>
                <a:gd name="T7" fmla="*/ 96 h 21600"/>
                <a:gd name="T8" fmla="*/ 163 w 43200"/>
                <a:gd name="T9" fmla="*/ 0 h 21600"/>
                <a:gd name="T10" fmla="*/ 326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2" name="Arc 59"/>
            <p:cNvSpPr>
              <a:spLocks noChangeArrowheads="1"/>
            </p:cNvSpPr>
            <p:nvPr/>
          </p:nvSpPr>
          <p:spPr bwMode="auto">
            <a:xfrm rot="14130057" flipH="1">
              <a:off x="130" y="114"/>
              <a:ext cx="325" cy="96"/>
            </a:xfrm>
            <a:custGeom>
              <a:avLst/>
              <a:gdLst>
                <a:gd name="T0" fmla="*/ 0 w 43200"/>
                <a:gd name="T1" fmla="*/ 96 h 21600"/>
                <a:gd name="T2" fmla="*/ 163 w 43200"/>
                <a:gd name="T3" fmla="*/ 0 h 21600"/>
                <a:gd name="T4" fmla="*/ 325 w 43200"/>
                <a:gd name="T5" fmla="*/ 96 h 21600"/>
                <a:gd name="T6" fmla="*/ 0 w 43200"/>
                <a:gd name="T7" fmla="*/ 96 h 21600"/>
                <a:gd name="T8" fmla="*/ 163 w 43200"/>
                <a:gd name="T9" fmla="*/ 0 h 21600"/>
                <a:gd name="T10" fmla="*/ 325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762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3813" name="Arc 60"/>
            <p:cNvSpPr>
              <a:spLocks noChangeArrowheads="1"/>
            </p:cNvSpPr>
            <p:nvPr/>
          </p:nvSpPr>
          <p:spPr bwMode="auto">
            <a:xfrm rot="14143023" flipH="1">
              <a:off x="-62" y="306"/>
              <a:ext cx="178" cy="53"/>
            </a:xfrm>
            <a:custGeom>
              <a:avLst/>
              <a:gdLst>
                <a:gd name="T0" fmla="*/ 0 w 43200"/>
                <a:gd name="T1" fmla="*/ 53 h 21600"/>
                <a:gd name="T2" fmla="*/ 89 w 43200"/>
                <a:gd name="T3" fmla="*/ 0 h 21600"/>
                <a:gd name="T4" fmla="*/ 178 w 43200"/>
                <a:gd name="T5" fmla="*/ 53 h 21600"/>
                <a:gd name="T6" fmla="*/ 0 w 43200"/>
                <a:gd name="T7" fmla="*/ 53 h 21600"/>
                <a:gd name="T8" fmla="*/ 89 w 43200"/>
                <a:gd name="T9" fmla="*/ 0 h 21600"/>
                <a:gd name="T10" fmla="*/ 178 w 43200"/>
                <a:gd name="T11" fmla="*/ 53 h 21600"/>
                <a:gd name="T12" fmla="*/ 89 w 43200"/>
                <a:gd name="T13" fmla="*/ 53 h 21600"/>
                <a:gd name="T14" fmla="*/ 0 w 43200"/>
                <a:gd name="T15" fmla="*/ 53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235" name="Rectangle 61"/>
          <p:cNvSpPr>
            <a:spLocks noRot="1"/>
          </p:cNvSpPr>
          <p:nvPr/>
        </p:nvSpPr>
        <p:spPr>
          <a:xfrm>
            <a:off x="3067844" y="87486"/>
            <a:ext cx="3275012" cy="796925"/>
          </a:xfrm>
          <a:prstGeom prst="rect">
            <a:avLst/>
          </a:prstGeom>
          <a:noFill/>
          <a:ln w="9525">
            <a:noFill/>
          </a:ln>
        </p:spPr>
        <p:txBody>
          <a:bodyPr anchor="ctr"/>
          <a:lstStyle/>
          <a:p>
            <a:pPr algn="ctr" eaLnBrk="1" hangingPunct="1">
              <a:buFont typeface="Arial" panose="020B0604020202020204" pitchFamily="34" charset="0"/>
              <a:buNone/>
              <a:defRPr/>
            </a:pPr>
            <a:r>
              <a:rPr lang="zh-CN" altLang="en-US" sz="3600" b="1" dirty="0">
                <a:solidFill>
                  <a:schemeClr val="tx2"/>
                </a:solidFill>
                <a:effectLst>
                  <a:outerShdw blurRad="38100" dist="38100" dir="2700000" algn="tl">
                    <a:srgbClr val="C0C0C0"/>
                  </a:outerShdw>
                </a:effectLst>
                <a:latin typeface="楷体_GB2312" pitchFamily="1" charset="-122"/>
                <a:ea typeface="楷体_GB2312" pitchFamily="1" charset="-122"/>
              </a:rPr>
              <a:t>常用焊接</a:t>
            </a:r>
            <a:r>
              <a:rPr lang="zh-CN" altLang="en-US" sz="3600" b="1" dirty="0">
                <a:solidFill>
                  <a:schemeClr val="tx2"/>
                </a:solidFill>
                <a:effectLst>
                  <a:outerShdw blurRad="38100" dist="38100" dir="2700000" algn="tl">
                    <a:srgbClr val="C0C0C0"/>
                  </a:outerShdw>
                </a:effectLst>
                <a:latin typeface="楷体_GB2312" pitchFamily="1" charset="-122"/>
                <a:ea typeface="楷体_GB2312" pitchFamily="1" charset="-122"/>
                <a:sym typeface="Arial" panose="020B0604020202020204" pitchFamily="34" charset="0"/>
              </a:rPr>
              <a:t>工具</a:t>
            </a:r>
            <a:endParaRPr lang="zh-CN" altLang="en-US" sz="3600" b="1" dirty="0">
              <a:solidFill>
                <a:schemeClr val="tx2"/>
              </a:solidFill>
              <a:effectLst>
                <a:outerShdw blurRad="38100" dist="38100" dir="2700000" algn="tl">
                  <a:srgbClr val="C0C0C0"/>
                </a:outerShdw>
              </a:effectLst>
              <a:latin typeface="楷体_GB2312" pitchFamily="1" charset="-122"/>
              <a:ea typeface="楷体_GB2312" pitchFamily="1" charset="-122"/>
              <a:sym typeface="Arial" panose="020B0604020202020204" pitchFamily="34" charset="0"/>
            </a:endParaRPr>
          </a:p>
        </p:txBody>
      </p:sp>
      <p:sp>
        <p:nvSpPr>
          <p:cNvPr id="9236" name="Rectangle 62"/>
          <p:cNvSpPr>
            <a:spLocks noRot="1"/>
          </p:cNvSpPr>
          <p:nvPr/>
        </p:nvSpPr>
        <p:spPr>
          <a:xfrm>
            <a:off x="2640013" y="1844676"/>
            <a:ext cx="1090612" cy="479425"/>
          </a:xfrm>
          <a:prstGeom prst="rect">
            <a:avLst/>
          </a:prstGeom>
          <a:noFill/>
          <a:ln w="9525">
            <a:noFill/>
          </a:ln>
        </p:spPr>
        <p:txBody>
          <a:bodyPr anchor="ctr"/>
          <a:lstStyle/>
          <a:p>
            <a:pPr algn="ctr" eaLnBrk="1" hangingPunct="1">
              <a:buFont typeface="Arial" panose="020B0604020202020204" pitchFamily="34" charset="0"/>
              <a:buNone/>
              <a:defRPr/>
            </a:pPr>
            <a:r>
              <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rPr>
              <a:t>烙铁架</a:t>
            </a:r>
            <a:endPar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pic>
        <p:nvPicPr>
          <p:cNvPr id="33801" name="Picture 2"/>
          <p:cNvPicPr>
            <a:picLocks noChangeAspect="1" noChangeArrowheads="1"/>
          </p:cNvPicPr>
          <p:nvPr/>
        </p:nvPicPr>
        <p:blipFill>
          <a:blip r:embed="rId1">
            <a:extLst>
              <a:ext uri="{28A0092B-C50C-407E-A947-70E740481C1C}">
                <a14:useLocalDpi xmlns:a14="http://schemas.microsoft.com/office/drawing/2010/main" val="0"/>
              </a:ext>
            </a:extLst>
          </a:blip>
          <a:srcRect l="10986" t="34180" r="34814" b="34570"/>
          <a:stretch>
            <a:fillRect/>
          </a:stretch>
        </p:blipFill>
        <p:spPr bwMode="auto">
          <a:xfrm>
            <a:off x="4008438" y="1196975"/>
            <a:ext cx="4176712" cy="180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2" name="图片 3" descr="980200922710315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2489" y="2133600"/>
            <a:ext cx="18573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9" name="Rectangle 62"/>
          <p:cNvSpPr>
            <a:spLocks noRot="1"/>
          </p:cNvSpPr>
          <p:nvPr/>
        </p:nvSpPr>
        <p:spPr>
          <a:xfrm>
            <a:off x="6311900" y="3502026"/>
            <a:ext cx="1092200" cy="479425"/>
          </a:xfrm>
          <a:prstGeom prst="rect">
            <a:avLst/>
          </a:prstGeom>
          <a:noFill/>
          <a:ln w="9525">
            <a:noFill/>
          </a:ln>
        </p:spPr>
        <p:txBody>
          <a:bodyPr anchor="ctr"/>
          <a:lstStyle/>
          <a:p>
            <a:pPr algn="ctr" eaLnBrk="1" hangingPunct="1">
              <a:buFont typeface="Arial" panose="020B0604020202020204" pitchFamily="34" charset="0"/>
              <a:buNone/>
              <a:defRPr/>
            </a:pPr>
            <a:r>
              <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rPr>
              <a:t>电烙铁</a:t>
            </a:r>
            <a:endPar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
        <p:nvSpPr>
          <p:cNvPr id="9240" name="Rectangle 62"/>
          <p:cNvSpPr>
            <a:spLocks noRot="1"/>
          </p:cNvSpPr>
          <p:nvPr/>
        </p:nvSpPr>
        <p:spPr>
          <a:xfrm>
            <a:off x="2568576" y="6165851"/>
            <a:ext cx="1090613" cy="479425"/>
          </a:xfrm>
          <a:prstGeom prst="rect">
            <a:avLst/>
          </a:prstGeom>
          <a:noFill/>
          <a:ln w="9525">
            <a:noFill/>
          </a:ln>
        </p:spPr>
        <p:txBody>
          <a:bodyPr anchor="ctr"/>
          <a:lstStyle/>
          <a:p>
            <a:pPr algn="ctr" eaLnBrk="1" hangingPunct="1">
              <a:buFont typeface="Arial" panose="020B0604020202020204" pitchFamily="34" charset="0"/>
              <a:buNone/>
              <a:defRPr/>
            </a:pPr>
            <a:r>
              <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rPr>
              <a:t>扁口钳</a:t>
            </a:r>
            <a:endPar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pic>
        <p:nvPicPr>
          <p:cNvPr id="33805"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4825" y="4221163"/>
            <a:ext cx="2586038"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42" name="Rectangle 62"/>
          <p:cNvSpPr>
            <a:spLocks noRot="1"/>
          </p:cNvSpPr>
          <p:nvPr/>
        </p:nvSpPr>
        <p:spPr>
          <a:xfrm>
            <a:off x="8904288" y="1628776"/>
            <a:ext cx="1092200" cy="479425"/>
          </a:xfrm>
          <a:prstGeom prst="rect">
            <a:avLst/>
          </a:prstGeom>
          <a:noFill/>
          <a:ln w="9525">
            <a:noFill/>
          </a:ln>
        </p:spPr>
        <p:txBody>
          <a:bodyPr anchor="ctr"/>
          <a:lstStyle/>
          <a:p>
            <a:pPr algn="ctr" eaLnBrk="1" hangingPunct="1">
              <a:buFont typeface="Arial" panose="020B0604020202020204" pitchFamily="34" charset="0"/>
              <a:buNone/>
              <a:defRPr/>
            </a:pPr>
            <a:r>
              <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rPr>
              <a:t>焊锡丝</a:t>
            </a:r>
            <a:endParaRPr lang="zh-CN" altLang="en-US">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graphicFrame>
        <p:nvGraphicFramePr>
          <p:cNvPr id="33807" name="Object 2"/>
          <p:cNvGraphicFramePr>
            <a:graphicFrameLocks noChangeAspect="1"/>
          </p:cNvGraphicFramePr>
          <p:nvPr/>
        </p:nvGraphicFramePr>
        <p:xfrm>
          <a:off x="4560889" y="4002460"/>
          <a:ext cx="5832475" cy="2498725"/>
        </p:xfrm>
        <a:graphic>
          <a:graphicData uri="http://schemas.openxmlformats.org/presentationml/2006/ole">
            <mc:AlternateContent xmlns:mc="http://schemas.openxmlformats.org/markup-compatibility/2006">
              <mc:Choice xmlns:v="urn:schemas-microsoft-com:vml" Requires="v">
                <p:oleObj spid="_x0000_s2065" name="" r:id="rId4" imgW="7124700" imgH="6419850" progId="Excel.Sheet.8">
                  <p:embed/>
                </p:oleObj>
              </mc:Choice>
              <mc:Fallback>
                <p:oleObj name="" r:id="rId4" imgW="7124700" imgH="6419850" progId="Excel.Shee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l="10231" t="1147" r="10561" b="56384"/>
                      <a:stretch>
                        <a:fillRect/>
                      </a:stretch>
                    </p:blipFill>
                    <p:spPr bwMode="auto">
                      <a:xfrm>
                        <a:off x="4560889" y="4002460"/>
                        <a:ext cx="5832475"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36"/>
                                        </p:tgtEl>
                                        <p:attrNameLst>
                                          <p:attrName>style.visibility</p:attrName>
                                        </p:attrNameLst>
                                      </p:cBhvr>
                                      <p:to>
                                        <p:strVal val="visible"/>
                                      </p:to>
                                    </p:set>
                                    <p:anim calcmode="lin" valueType="num">
                                      <p:cBhvr>
                                        <p:cTn id="7" dur="500" fill="hold"/>
                                        <p:tgtEl>
                                          <p:spTgt spid="9236"/>
                                        </p:tgtEl>
                                        <p:attrNameLst>
                                          <p:attrName>ppt_x</p:attrName>
                                        </p:attrNameLst>
                                      </p:cBhvr>
                                      <p:tavLst>
                                        <p:tav tm="0">
                                          <p:val>
                                            <p:strVal val="0-#ppt_w/2"/>
                                          </p:val>
                                        </p:tav>
                                        <p:tav tm="100000">
                                          <p:val>
                                            <p:strVal val="#ppt_x"/>
                                          </p:val>
                                        </p:tav>
                                      </p:tavLst>
                                    </p:anim>
                                    <p:anim calcmode="lin" valueType="num">
                                      <p:cBhvr>
                                        <p:cTn id="8" dur="500" fill="hold"/>
                                        <p:tgtEl>
                                          <p:spTgt spid="92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39"/>
                                        </p:tgtEl>
                                        <p:attrNameLst>
                                          <p:attrName>style.visibility</p:attrName>
                                        </p:attrNameLst>
                                      </p:cBhvr>
                                      <p:to>
                                        <p:strVal val="visible"/>
                                      </p:to>
                                    </p:set>
                                    <p:anim calcmode="lin" valueType="num">
                                      <p:cBhvr>
                                        <p:cTn id="13" dur="500" fill="hold"/>
                                        <p:tgtEl>
                                          <p:spTgt spid="9239"/>
                                        </p:tgtEl>
                                        <p:attrNameLst>
                                          <p:attrName>ppt_x</p:attrName>
                                        </p:attrNameLst>
                                      </p:cBhvr>
                                      <p:tavLst>
                                        <p:tav tm="0">
                                          <p:val>
                                            <p:strVal val="0-#ppt_w/2"/>
                                          </p:val>
                                        </p:tav>
                                        <p:tav tm="100000">
                                          <p:val>
                                            <p:strVal val="#ppt_x"/>
                                          </p:val>
                                        </p:tav>
                                      </p:tavLst>
                                    </p:anim>
                                    <p:anim calcmode="lin" valueType="num">
                                      <p:cBhvr>
                                        <p:cTn id="14" dur="500" fill="hold"/>
                                        <p:tgtEl>
                                          <p:spTgt spid="92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40"/>
                                        </p:tgtEl>
                                        <p:attrNameLst>
                                          <p:attrName>style.visibility</p:attrName>
                                        </p:attrNameLst>
                                      </p:cBhvr>
                                      <p:to>
                                        <p:strVal val="visible"/>
                                      </p:to>
                                    </p:set>
                                    <p:anim calcmode="lin" valueType="num">
                                      <p:cBhvr>
                                        <p:cTn id="19" dur="500" fill="hold"/>
                                        <p:tgtEl>
                                          <p:spTgt spid="9240"/>
                                        </p:tgtEl>
                                        <p:attrNameLst>
                                          <p:attrName>ppt_x</p:attrName>
                                        </p:attrNameLst>
                                      </p:cBhvr>
                                      <p:tavLst>
                                        <p:tav tm="0">
                                          <p:val>
                                            <p:strVal val="0-#ppt_w/2"/>
                                          </p:val>
                                        </p:tav>
                                        <p:tav tm="100000">
                                          <p:val>
                                            <p:strVal val="#ppt_x"/>
                                          </p:val>
                                        </p:tav>
                                      </p:tavLst>
                                    </p:anim>
                                    <p:anim calcmode="lin" valueType="num">
                                      <p:cBhvr>
                                        <p:cTn id="20" dur="500" fill="hold"/>
                                        <p:tgtEl>
                                          <p:spTgt spid="924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242"/>
                                        </p:tgtEl>
                                        <p:attrNameLst>
                                          <p:attrName>style.visibility</p:attrName>
                                        </p:attrNameLst>
                                      </p:cBhvr>
                                      <p:to>
                                        <p:strVal val="visible"/>
                                      </p:to>
                                    </p:set>
                                    <p:anim calcmode="lin" valueType="num">
                                      <p:cBhvr>
                                        <p:cTn id="25" dur="500" fill="hold"/>
                                        <p:tgtEl>
                                          <p:spTgt spid="9242"/>
                                        </p:tgtEl>
                                        <p:attrNameLst>
                                          <p:attrName>ppt_x</p:attrName>
                                        </p:attrNameLst>
                                      </p:cBhvr>
                                      <p:tavLst>
                                        <p:tav tm="0">
                                          <p:val>
                                            <p:strVal val="0-#ppt_w/2"/>
                                          </p:val>
                                        </p:tav>
                                        <p:tav tm="100000">
                                          <p:val>
                                            <p:strVal val="#ppt_x"/>
                                          </p:val>
                                        </p:tav>
                                      </p:tavLst>
                                    </p:anim>
                                    <p:anim calcmode="lin" valueType="num">
                                      <p:cBhvr>
                                        <p:cTn id="26" dur="500" fill="hold"/>
                                        <p:tgtEl>
                                          <p:spTgt spid="92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6" grpId="0" bldLvl="0" animBg="1"/>
      <p:bldP spid="9239" grpId="0" bldLvl="0" animBg="1"/>
      <p:bldP spid="9240" grpId="0" bldLvl="0" animBg="1"/>
      <p:bldP spid="9242"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椭圆 18433"/>
          <p:cNvSpPr>
            <a:spLocks noChangeArrowheads="1"/>
          </p:cNvSpPr>
          <p:nvPr/>
        </p:nvSpPr>
        <p:spPr bwMode="auto">
          <a:xfrm>
            <a:off x="3943350" y="4494213"/>
            <a:ext cx="393700" cy="266700"/>
          </a:xfrm>
          <a:prstGeom prst="ellipse">
            <a:avLst/>
          </a:prstGeom>
          <a:solidFill>
            <a:srgbClr val="FF00FF"/>
          </a:solidFill>
          <a:ln w="9525">
            <a:solidFill>
              <a:schemeClr val="tx1"/>
            </a:solidFill>
            <a:miter lim="800000"/>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19" name="文本框 18434"/>
          <p:cNvSpPr txBox="1">
            <a:spLocks noChangeArrowheads="1"/>
          </p:cNvSpPr>
          <p:nvPr/>
        </p:nvSpPr>
        <p:spPr bwMode="auto">
          <a:xfrm>
            <a:off x="2208214" y="1123950"/>
            <a:ext cx="790892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latin typeface="Arial" panose="020B0604020202020204" pitchFamily="34" charset="0"/>
              </a:rPr>
              <a:t>焊接时两手各持烙铁、焊锡，从两侧先后依次各以</a:t>
            </a:r>
            <a:r>
              <a:rPr lang="en-US" altLang="zh-CN" b="1">
                <a:latin typeface="Arial" panose="020B0604020202020204" pitchFamily="34" charset="0"/>
              </a:rPr>
              <a:t>45</a:t>
            </a:r>
            <a:r>
              <a:rPr lang="zh-CN" altLang="en-US" b="1">
                <a:latin typeface="Arial" panose="020B0604020202020204" pitchFamily="34" charset="0"/>
              </a:rPr>
              <a:t>度角接近所焊元器件管脚与焊盘铜箔交点处。待融化的焊锡均匀覆盖焊盘和元件管脚后，撤出焊锡并将烙铁头沿管脚向上撤出。待焊点冷却凝固后，剪掉多余的管脚引线。</a:t>
            </a:r>
            <a:endParaRPr lang="zh-CN" altLang="en-US" b="1">
              <a:latin typeface="Arial" panose="020B0604020202020204" pitchFamily="34" charset="0"/>
            </a:endParaRPr>
          </a:p>
        </p:txBody>
      </p:sp>
      <p:sp>
        <p:nvSpPr>
          <p:cNvPr id="10244" name="矩形 18435"/>
          <p:cNvSpPr>
            <a:spLocks noChangeArrowheads="1"/>
          </p:cNvSpPr>
          <p:nvPr/>
        </p:nvSpPr>
        <p:spPr bwMode="auto">
          <a:xfrm>
            <a:off x="2135188" y="5300664"/>
            <a:ext cx="8070850"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latin typeface="Arial" panose="020B0604020202020204" pitchFamily="34" charset="0"/>
              </a:rPr>
              <a:t>每次焊接时间在保证焊接质量的基础上应尽量短（</a:t>
            </a:r>
            <a:r>
              <a:rPr lang="en-US" altLang="zh-CN" b="1">
                <a:latin typeface="Arial" panose="020B0604020202020204" pitchFamily="34" charset="0"/>
              </a:rPr>
              <a:t>5</a:t>
            </a:r>
            <a:r>
              <a:rPr lang="zh-CN" altLang="en-US" b="1">
                <a:latin typeface="Arial" panose="020B0604020202020204" pitchFamily="34" charset="0"/>
              </a:rPr>
              <a:t>秒左右）。时间太长，容易使焊盘铜箔脱落，时间太短，容易造成虚焊。</a:t>
            </a:r>
            <a:endParaRPr lang="zh-CN" altLang="en-US" b="1">
              <a:latin typeface="Arial" panose="020B0604020202020204" pitchFamily="34" charset="0"/>
            </a:endParaRPr>
          </a:p>
        </p:txBody>
      </p:sp>
      <p:sp>
        <p:nvSpPr>
          <p:cNvPr id="10245" name="直接连接符 18436"/>
          <p:cNvSpPr>
            <a:spLocks noChangeShapeType="1"/>
          </p:cNvSpPr>
          <p:nvPr/>
        </p:nvSpPr>
        <p:spPr bwMode="auto">
          <a:xfrm>
            <a:off x="3205163" y="3641725"/>
            <a:ext cx="533400" cy="533400"/>
          </a:xfrm>
          <a:prstGeom prst="line">
            <a:avLst/>
          </a:prstGeom>
          <a:noFill/>
          <a:ln w="50800" cmpd="tri">
            <a:solidFill>
              <a:srgbClr val="FF00FF"/>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0246" name="任意多边形 18437"/>
          <p:cNvSpPr>
            <a:spLocks noChangeArrowheads="1"/>
          </p:cNvSpPr>
          <p:nvPr/>
        </p:nvSpPr>
        <p:spPr bwMode="auto">
          <a:xfrm>
            <a:off x="4551363" y="3235325"/>
            <a:ext cx="812800" cy="990600"/>
          </a:xfrm>
          <a:custGeom>
            <a:avLst/>
            <a:gdLst>
              <a:gd name="T0" fmla="*/ 723900 w 512"/>
              <a:gd name="T1" fmla="*/ 0 h 624"/>
              <a:gd name="T2" fmla="*/ 292100 w 512"/>
              <a:gd name="T3" fmla="*/ 431800 h 624"/>
              <a:gd name="T4" fmla="*/ 292100 w 512"/>
              <a:gd name="T5" fmla="*/ 546100 h 624"/>
              <a:gd name="T6" fmla="*/ 0 w 512"/>
              <a:gd name="T7" fmla="*/ 838200 h 624"/>
              <a:gd name="T8" fmla="*/ 0 w 512"/>
              <a:gd name="T9" fmla="*/ 990600 h 624"/>
              <a:gd name="T10" fmla="*/ 342900 w 512"/>
              <a:gd name="T11" fmla="*/ 647700 h 624"/>
              <a:gd name="T12" fmla="*/ 469900 w 512"/>
              <a:gd name="T13" fmla="*/ 647700 h 624"/>
              <a:gd name="T14" fmla="*/ 812800 w 512"/>
              <a:gd name="T15" fmla="*/ 304800 h 6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2" h="624">
                <a:moveTo>
                  <a:pt x="456" y="0"/>
                </a:moveTo>
                <a:lnTo>
                  <a:pt x="184" y="272"/>
                </a:lnTo>
                <a:lnTo>
                  <a:pt x="184" y="344"/>
                </a:lnTo>
                <a:lnTo>
                  <a:pt x="0" y="528"/>
                </a:lnTo>
                <a:lnTo>
                  <a:pt x="0" y="624"/>
                </a:lnTo>
                <a:lnTo>
                  <a:pt x="216" y="408"/>
                </a:lnTo>
                <a:lnTo>
                  <a:pt x="296" y="408"/>
                </a:lnTo>
                <a:lnTo>
                  <a:pt x="512" y="192"/>
                </a:lnTo>
              </a:path>
            </a:pathLst>
          </a:custGeom>
          <a:solidFill>
            <a:schemeClr val="tx1"/>
          </a:solidFill>
          <a:ln w="9525">
            <a:solidFill>
              <a:schemeClr val="tx1"/>
            </a:solidFill>
            <a:miter lim="800000"/>
          </a:ln>
        </p:spPr>
        <p:txBody>
          <a:bodyPr/>
          <a:lstStyle/>
          <a:p>
            <a:endParaRPr lang="zh-CN" altLang="en-US"/>
          </a:p>
        </p:txBody>
      </p:sp>
      <p:grpSp>
        <p:nvGrpSpPr>
          <p:cNvPr id="10247" name="组合 18438"/>
          <p:cNvGrpSpPr/>
          <p:nvPr/>
        </p:nvGrpSpPr>
        <p:grpSpPr bwMode="auto">
          <a:xfrm>
            <a:off x="3700463" y="4276725"/>
            <a:ext cx="2070100" cy="825500"/>
            <a:chOff x="0" y="0"/>
            <a:chExt cx="1304" cy="520"/>
          </a:xfrm>
        </p:grpSpPr>
        <p:sp>
          <p:nvSpPr>
            <p:cNvPr id="34857" name="矩形 18439"/>
            <p:cNvSpPr>
              <a:spLocks noChangeArrowheads="1"/>
            </p:cNvSpPr>
            <p:nvPr/>
          </p:nvSpPr>
          <p:spPr bwMode="auto">
            <a:xfrm>
              <a:off x="0" y="232"/>
              <a:ext cx="1304" cy="72"/>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58" name="矩形 18440"/>
            <p:cNvSpPr>
              <a:spLocks noChangeArrowheads="1"/>
            </p:cNvSpPr>
            <p:nvPr/>
          </p:nvSpPr>
          <p:spPr bwMode="auto">
            <a:xfrm>
              <a:off x="240" y="240"/>
              <a:ext cx="72" cy="6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59" name="矩形 18441"/>
            <p:cNvSpPr>
              <a:spLocks noChangeArrowheads="1"/>
            </p:cNvSpPr>
            <p:nvPr/>
          </p:nvSpPr>
          <p:spPr bwMode="auto">
            <a:xfrm>
              <a:off x="152" y="200"/>
              <a:ext cx="256" cy="27"/>
            </a:xfrm>
            <a:prstGeom prst="rect">
              <a:avLst/>
            </a:prstGeom>
            <a:solidFill>
              <a:srgbClr val="00FF00"/>
            </a:solidFill>
            <a:ln w="9525">
              <a:solidFill>
                <a:srgbClr val="00FF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60" name="任意多边形 18442"/>
            <p:cNvSpPr>
              <a:spLocks noChangeArrowheads="1"/>
            </p:cNvSpPr>
            <p:nvPr/>
          </p:nvSpPr>
          <p:spPr bwMode="auto">
            <a:xfrm>
              <a:off x="280" y="0"/>
              <a:ext cx="736" cy="464"/>
            </a:xfrm>
            <a:custGeom>
              <a:avLst/>
              <a:gdLst>
                <a:gd name="T0" fmla="*/ 0 w 736"/>
                <a:gd name="T1" fmla="*/ 0 h 464"/>
                <a:gd name="T2" fmla="*/ 0 w 736"/>
                <a:gd name="T3" fmla="*/ 464 h 464"/>
                <a:gd name="T4" fmla="*/ 736 w 736"/>
                <a:gd name="T5" fmla="*/ 464 h 464"/>
                <a:gd name="T6" fmla="*/ 736 w 736"/>
                <a:gd name="T7" fmla="*/ 384 h 4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464">
                  <a:moveTo>
                    <a:pt x="0" y="0"/>
                  </a:moveTo>
                  <a:lnTo>
                    <a:pt x="0" y="464"/>
                  </a:lnTo>
                  <a:lnTo>
                    <a:pt x="736" y="464"/>
                  </a:lnTo>
                  <a:lnTo>
                    <a:pt x="736" y="384"/>
                  </a:lnTo>
                </a:path>
              </a:pathLst>
            </a:cu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61" name="矩形 18443"/>
            <p:cNvSpPr>
              <a:spLocks noChangeArrowheads="1"/>
            </p:cNvSpPr>
            <p:nvPr/>
          </p:nvSpPr>
          <p:spPr bwMode="auto">
            <a:xfrm>
              <a:off x="432" y="416"/>
              <a:ext cx="392" cy="10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0253" name="组合 18444"/>
          <p:cNvGrpSpPr/>
          <p:nvPr/>
        </p:nvGrpSpPr>
        <p:grpSpPr bwMode="auto">
          <a:xfrm>
            <a:off x="3689350" y="4278313"/>
            <a:ext cx="2070100" cy="825500"/>
            <a:chOff x="0" y="0"/>
            <a:chExt cx="1304" cy="520"/>
          </a:xfrm>
        </p:grpSpPr>
        <p:sp>
          <p:nvSpPr>
            <p:cNvPr id="34851" name="任意多边形 18445"/>
            <p:cNvSpPr>
              <a:spLocks noChangeArrowheads="1"/>
            </p:cNvSpPr>
            <p:nvPr/>
          </p:nvSpPr>
          <p:spPr bwMode="auto">
            <a:xfrm>
              <a:off x="280" y="0"/>
              <a:ext cx="736" cy="464"/>
            </a:xfrm>
            <a:custGeom>
              <a:avLst/>
              <a:gdLst>
                <a:gd name="T0" fmla="*/ 0 w 736"/>
                <a:gd name="T1" fmla="*/ 0 h 464"/>
                <a:gd name="T2" fmla="*/ 0 w 736"/>
                <a:gd name="T3" fmla="*/ 464 h 464"/>
                <a:gd name="T4" fmla="*/ 736 w 736"/>
                <a:gd name="T5" fmla="*/ 464 h 464"/>
                <a:gd name="T6" fmla="*/ 736 w 736"/>
                <a:gd name="T7" fmla="*/ 384 h 46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464">
                  <a:moveTo>
                    <a:pt x="0" y="0"/>
                  </a:moveTo>
                  <a:lnTo>
                    <a:pt x="0" y="464"/>
                  </a:lnTo>
                  <a:lnTo>
                    <a:pt x="736" y="464"/>
                  </a:lnTo>
                  <a:lnTo>
                    <a:pt x="736" y="384"/>
                  </a:lnTo>
                </a:path>
              </a:pathLst>
            </a:cu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4852" name="组合 18446"/>
            <p:cNvGrpSpPr/>
            <p:nvPr/>
          </p:nvGrpSpPr>
          <p:grpSpPr bwMode="auto">
            <a:xfrm>
              <a:off x="0" y="200"/>
              <a:ext cx="1304" cy="320"/>
              <a:chOff x="0" y="0"/>
              <a:chExt cx="1304" cy="320"/>
            </a:xfrm>
          </p:grpSpPr>
          <p:sp>
            <p:nvSpPr>
              <p:cNvPr id="34853" name="矩形 18447"/>
              <p:cNvSpPr>
                <a:spLocks noChangeArrowheads="1"/>
              </p:cNvSpPr>
              <p:nvPr/>
            </p:nvSpPr>
            <p:spPr bwMode="auto">
              <a:xfrm>
                <a:off x="0" y="32"/>
                <a:ext cx="1304" cy="72"/>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54" name="矩形 18448"/>
              <p:cNvSpPr>
                <a:spLocks noChangeArrowheads="1"/>
              </p:cNvSpPr>
              <p:nvPr/>
            </p:nvSpPr>
            <p:spPr bwMode="auto">
              <a:xfrm>
                <a:off x="240" y="40"/>
                <a:ext cx="72" cy="6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55" name="矩形 18449"/>
              <p:cNvSpPr>
                <a:spLocks noChangeArrowheads="1"/>
              </p:cNvSpPr>
              <p:nvPr/>
            </p:nvSpPr>
            <p:spPr bwMode="auto">
              <a:xfrm>
                <a:off x="152" y="0"/>
                <a:ext cx="256" cy="27"/>
              </a:xfrm>
              <a:prstGeom prst="rect">
                <a:avLst/>
              </a:prstGeom>
              <a:solidFill>
                <a:srgbClr val="00FF00"/>
              </a:solidFill>
              <a:ln w="9525">
                <a:solidFill>
                  <a:srgbClr val="00FF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56" name="矩形 18450"/>
              <p:cNvSpPr>
                <a:spLocks noChangeArrowheads="1"/>
              </p:cNvSpPr>
              <p:nvPr/>
            </p:nvSpPr>
            <p:spPr bwMode="auto">
              <a:xfrm>
                <a:off x="432" y="216"/>
                <a:ext cx="392" cy="10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10260" name="直接连接符 18451"/>
          <p:cNvSpPr>
            <a:spLocks noChangeShapeType="1"/>
          </p:cNvSpPr>
          <p:nvPr/>
        </p:nvSpPr>
        <p:spPr bwMode="auto">
          <a:xfrm>
            <a:off x="3575050" y="4037013"/>
            <a:ext cx="533400" cy="533400"/>
          </a:xfrm>
          <a:prstGeom prst="line">
            <a:avLst/>
          </a:prstGeom>
          <a:noFill/>
          <a:ln w="50800" cmpd="tri">
            <a:solidFill>
              <a:srgbClr val="FF00FF"/>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10261" name="矩形 18452"/>
          <p:cNvSpPr>
            <a:spLocks noChangeArrowheads="1"/>
          </p:cNvSpPr>
          <p:nvPr/>
        </p:nvSpPr>
        <p:spPr bwMode="auto">
          <a:xfrm>
            <a:off x="3992563" y="4251325"/>
            <a:ext cx="342900" cy="1905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262" name="任意多边形 18453"/>
          <p:cNvSpPr>
            <a:spLocks noChangeArrowheads="1"/>
          </p:cNvSpPr>
          <p:nvPr/>
        </p:nvSpPr>
        <p:spPr bwMode="auto">
          <a:xfrm>
            <a:off x="4171950" y="3567113"/>
            <a:ext cx="812800" cy="990600"/>
          </a:xfrm>
          <a:custGeom>
            <a:avLst/>
            <a:gdLst>
              <a:gd name="T0" fmla="*/ 723900 w 512"/>
              <a:gd name="T1" fmla="*/ 0 h 624"/>
              <a:gd name="T2" fmla="*/ 292100 w 512"/>
              <a:gd name="T3" fmla="*/ 431800 h 624"/>
              <a:gd name="T4" fmla="*/ 292100 w 512"/>
              <a:gd name="T5" fmla="*/ 546100 h 624"/>
              <a:gd name="T6" fmla="*/ 0 w 512"/>
              <a:gd name="T7" fmla="*/ 838200 h 624"/>
              <a:gd name="T8" fmla="*/ 0 w 512"/>
              <a:gd name="T9" fmla="*/ 990600 h 624"/>
              <a:gd name="T10" fmla="*/ 342900 w 512"/>
              <a:gd name="T11" fmla="*/ 647700 h 624"/>
              <a:gd name="T12" fmla="*/ 469900 w 512"/>
              <a:gd name="T13" fmla="*/ 647700 h 624"/>
              <a:gd name="T14" fmla="*/ 812800 w 512"/>
              <a:gd name="T15" fmla="*/ 304800 h 62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12" h="624">
                <a:moveTo>
                  <a:pt x="456" y="0"/>
                </a:moveTo>
                <a:lnTo>
                  <a:pt x="184" y="272"/>
                </a:lnTo>
                <a:lnTo>
                  <a:pt x="184" y="344"/>
                </a:lnTo>
                <a:lnTo>
                  <a:pt x="0" y="528"/>
                </a:lnTo>
                <a:lnTo>
                  <a:pt x="0" y="624"/>
                </a:lnTo>
                <a:lnTo>
                  <a:pt x="216" y="408"/>
                </a:lnTo>
                <a:lnTo>
                  <a:pt x="296" y="408"/>
                </a:lnTo>
                <a:lnTo>
                  <a:pt x="512" y="192"/>
                </a:lnTo>
              </a:path>
            </a:pathLst>
          </a:custGeom>
          <a:solidFill>
            <a:schemeClr val="tx1"/>
          </a:solidFill>
          <a:ln w="9525">
            <a:solidFill>
              <a:schemeClr val="tx1"/>
            </a:solidFill>
            <a:miter lim="800000"/>
          </a:ln>
        </p:spPr>
        <p:txBody>
          <a:bodyPr/>
          <a:lstStyle/>
          <a:p>
            <a:endParaRPr lang="zh-CN" altLang="en-US"/>
          </a:p>
        </p:txBody>
      </p:sp>
      <p:grpSp>
        <p:nvGrpSpPr>
          <p:cNvPr id="10263" name="组合 18454"/>
          <p:cNvGrpSpPr/>
          <p:nvPr/>
        </p:nvGrpSpPr>
        <p:grpSpPr bwMode="auto">
          <a:xfrm>
            <a:off x="6053138" y="4175126"/>
            <a:ext cx="2070100" cy="650875"/>
            <a:chOff x="0" y="0"/>
            <a:chExt cx="1304" cy="410"/>
          </a:xfrm>
        </p:grpSpPr>
        <p:sp>
          <p:nvSpPr>
            <p:cNvPr id="34842" name="椭圆 18455"/>
            <p:cNvSpPr>
              <a:spLocks noChangeArrowheads="1"/>
            </p:cNvSpPr>
            <p:nvPr/>
          </p:nvSpPr>
          <p:spPr bwMode="auto">
            <a:xfrm>
              <a:off x="889" y="27"/>
              <a:ext cx="248" cy="168"/>
            </a:xfrm>
            <a:prstGeom prst="ellipse">
              <a:avLst/>
            </a:prstGeom>
            <a:solidFill>
              <a:srgbClr val="FF00FF"/>
            </a:solidFill>
            <a:ln w="9525">
              <a:solidFill>
                <a:schemeClr val="tx1"/>
              </a:solidFill>
              <a:miter lim="800000"/>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3" name="椭圆 18456"/>
            <p:cNvSpPr>
              <a:spLocks noChangeArrowheads="1"/>
            </p:cNvSpPr>
            <p:nvPr/>
          </p:nvSpPr>
          <p:spPr bwMode="auto">
            <a:xfrm>
              <a:off x="152" y="26"/>
              <a:ext cx="248" cy="168"/>
            </a:xfrm>
            <a:prstGeom prst="ellipse">
              <a:avLst/>
            </a:prstGeom>
            <a:solidFill>
              <a:srgbClr val="FF00FF"/>
            </a:solidFill>
            <a:ln w="9525">
              <a:solidFill>
                <a:schemeClr val="tx1"/>
              </a:solidFill>
              <a:miter lim="800000"/>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4" name="矩形 18457"/>
            <p:cNvSpPr>
              <a:spLocks noChangeArrowheads="1"/>
            </p:cNvSpPr>
            <p:nvPr/>
          </p:nvSpPr>
          <p:spPr bwMode="auto">
            <a:xfrm>
              <a:off x="0" y="122"/>
              <a:ext cx="1304" cy="72"/>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5" name="矩形 18458"/>
            <p:cNvSpPr>
              <a:spLocks noChangeArrowheads="1"/>
            </p:cNvSpPr>
            <p:nvPr/>
          </p:nvSpPr>
          <p:spPr bwMode="auto">
            <a:xfrm>
              <a:off x="240" y="130"/>
              <a:ext cx="72" cy="6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6" name="矩形 18459"/>
            <p:cNvSpPr>
              <a:spLocks noChangeArrowheads="1"/>
            </p:cNvSpPr>
            <p:nvPr/>
          </p:nvSpPr>
          <p:spPr bwMode="auto">
            <a:xfrm>
              <a:off x="152" y="90"/>
              <a:ext cx="256" cy="27"/>
            </a:xfrm>
            <a:prstGeom prst="rect">
              <a:avLst/>
            </a:prstGeom>
            <a:solidFill>
              <a:srgbClr val="00FF00"/>
            </a:solidFill>
            <a:ln w="9525">
              <a:solidFill>
                <a:srgbClr val="00FF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7" name="矩形 18460"/>
            <p:cNvSpPr>
              <a:spLocks noChangeArrowheads="1"/>
            </p:cNvSpPr>
            <p:nvPr/>
          </p:nvSpPr>
          <p:spPr bwMode="auto">
            <a:xfrm>
              <a:off x="977" y="131"/>
              <a:ext cx="72" cy="6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8" name="矩形 18461"/>
            <p:cNvSpPr>
              <a:spLocks noChangeArrowheads="1"/>
            </p:cNvSpPr>
            <p:nvPr/>
          </p:nvSpPr>
          <p:spPr bwMode="auto">
            <a:xfrm>
              <a:off x="889" y="91"/>
              <a:ext cx="256" cy="27"/>
            </a:xfrm>
            <a:prstGeom prst="rect">
              <a:avLst/>
            </a:prstGeom>
            <a:solidFill>
              <a:srgbClr val="00FF00"/>
            </a:solidFill>
            <a:ln w="9525">
              <a:solidFill>
                <a:srgbClr val="00FF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9" name="任意多边形 18462"/>
            <p:cNvSpPr>
              <a:spLocks noChangeArrowheads="1"/>
            </p:cNvSpPr>
            <p:nvPr/>
          </p:nvSpPr>
          <p:spPr bwMode="auto">
            <a:xfrm>
              <a:off x="278" y="0"/>
              <a:ext cx="736" cy="352"/>
            </a:xfrm>
            <a:custGeom>
              <a:avLst/>
              <a:gdLst>
                <a:gd name="T0" fmla="*/ 0 w 736"/>
                <a:gd name="T1" fmla="*/ 0 h 352"/>
                <a:gd name="T2" fmla="*/ 0 w 736"/>
                <a:gd name="T3" fmla="*/ 352 h 352"/>
                <a:gd name="T4" fmla="*/ 736 w 736"/>
                <a:gd name="T5" fmla="*/ 352 h 352"/>
                <a:gd name="T6" fmla="*/ 736 w 736"/>
                <a:gd name="T7" fmla="*/ 0 h 3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352">
                  <a:moveTo>
                    <a:pt x="0" y="0"/>
                  </a:moveTo>
                  <a:lnTo>
                    <a:pt x="0" y="352"/>
                  </a:lnTo>
                  <a:lnTo>
                    <a:pt x="736" y="352"/>
                  </a:lnTo>
                  <a:lnTo>
                    <a:pt x="736" y="0"/>
                  </a:lnTo>
                </a:path>
              </a:pathLst>
            </a:cu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50" name="矩形 18463"/>
            <p:cNvSpPr>
              <a:spLocks noChangeArrowheads="1"/>
            </p:cNvSpPr>
            <p:nvPr/>
          </p:nvSpPr>
          <p:spPr bwMode="auto">
            <a:xfrm>
              <a:off x="432" y="306"/>
              <a:ext cx="392" cy="10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10273" name="组合 18464"/>
          <p:cNvGrpSpPr/>
          <p:nvPr/>
        </p:nvGrpSpPr>
        <p:grpSpPr bwMode="auto">
          <a:xfrm>
            <a:off x="8378825" y="4151313"/>
            <a:ext cx="1308100" cy="1104900"/>
            <a:chOff x="0" y="0"/>
            <a:chExt cx="824" cy="696"/>
          </a:xfrm>
        </p:grpSpPr>
        <p:sp>
          <p:nvSpPr>
            <p:cNvPr id="34833" name="椭圆 18465"/>
            <p:cNvSpPr>
              <a:spLocks noChangeArrowheads="1"/>
            </p:cNvSpPr>
            <p:nvPr/>
          </p:nvSpPr>
          <p:spPr bwMode="auto">
            <a:xfrm>
              <a:off x="481" y="35"/>
              <a:ext cx="248" cy="168"/>
            </a:xfrm>
            <a:prstGeom prst="ellipse">
              <a:avLst/>
            </a:prstGeom>
            <a:solidFill>
              <a:srgbClr val="FF00FF"/>
            </a:solidFill>
            <a:ln w="9525">
              <a:solidFill>
                <a:schemeClr val="tx1"/>
              </a:solidFill>
              <a:miter lim="800000"/>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4" name="椭圆 18466"/>
            <p:cNvSpPr>
              <a:spLocks noChangeArrowheads="1"/>
            </p:cNvSpPr>
            <p:nvPr/>
          </p:nvSpPr>
          <p:spPr bwMode="auto">
            <a:xfrm>
              <a:off x="64" y="34"/>
              <a:ext cx="248" cy="168"/>
            </a:xfrm>
            <a:prstGeom prst="ellipse">
              <a:avLst/>
            </a:prstGeom>
            <a:solidFill>
              <a:srgbClr val="FF00FF"/>
            </a:solidFill>
            <a:ln w="9525">
              <a:solidFill>
                <a:schemeClr val="tx1"/>
              </a:solidFill>
              <a:miter lim="800000"/>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5" name="矩形 18467"/>
            <p:cNvSpPr>
              <a:spLocks noChangeArrowheads="1"/>
            </p:cNvSpPr>
            <p:nvPr/>
          </p:nvSpPr>
          <p:spPr bwMode="auto">
            <a:xfrm>
              <a:off x="0" y="130"/>
              <a:ext cx="824" cy="6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6" name="矩形 18468"/>
            <p:cNvSpPr>
              <a:spLocks noChangeArrowheads="1"/>
            </p:cNvSpPr>
            <p:nvPr/>
          </p:nvSpPr>
          <p:spPr bwMode="auto">
            <a:xfrm>
              <a:off x="152" y="122"/>
              <a:ext cx="72" cy="6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7" name="矩形 18469"/>
            <p:cNvSpPr>
              <a:spLocks noChangeArrowheads="1"/>
            </p:cNvSpPr>
            <p:nvPr/>
          </p:nvSpPr>
          <p:spPr bwMode="auto">
            <a:xfrm>
              <a:off x="64" y="98"/>
              <a:ext cx="256" cy="27"/>
            </a:xfrm>
            <a:prstGeom prst="rect">
              <a:avLst/>
            </a:prstGeom>
            <a:solidFill>
              <a:srgbClr val="00FF00"/>
            </a:solidFill>
            <a:ln w="9525">
              <a:solidFill>
                <a:srgbClr val="00FF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8" name="矩形 18470"/>
            <p:cNvSpPr>
              <a:spLocks noChangeArrowheads="1"/>
            </p:cNvSpPr>
            <p:nvPr/>
          </p:nvSpPr>
          <p:spPr bwMode="auto">
            <a:xfrm>
              <a:off x="569" y="123"/>
              <a:ext cx="72" cy="6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9" name="矩形 18471"/>
            <p:cNvSpPr>
              <a:spLocks noChangeArrowheads="1"/>
            </p:cNvSpPr>
            <p:nvPr/>
          </p:nvSpPr>
          <p:spPr bwMode="auto">
            <a:xfrm>
              <a:off x="481" y="99"/>
              <a:ext cx="256" cy="27"/>
            </a:xfrm>
            <a:prstGeom prst="rect">
              <a:avLst/>
            </a:prstGeom>
            <a:solidFill>
              <a:srgbClr val="00FF00"/>
            </a:solidFill>
            <a:ln w="9525">
              <a:solidFill>
                <a:srgbClr val="00FF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0" name="任意多边形 18472"/>
            <p:cNvSpPr>
              <a:spLocks noChangeArrowheads="1"/>
            </p:cNvSpPr>
            <p:nvPr/>
          </p:nvSpPr>
          <p:spPr bwMode="auto">
            <a:xfrm>
              <a:off x="190" y="0"/>
              <a:ext cx="416" cy="696"/>
            </a:xfrm>
            <a:custGeom>
              <a:avLst/>
              <a:gdLst>
                <a:gd name="T0" fmla="*/ 0 w 736"/>
                <a:gd name="T1" fmla="*/ 0 h 352"/>
                <a:gd name="T2" fmla="*/ 0 w 736"/>
                <a:gd name="T3" fmla="*/ 696 h 352"/>
                <a:gd name="T4" fmla="*/ 416 w 736"/>
                <a:gd name="T5" fmla="*/ 696 h 352"/>
                <a:gd name="T6" fmla="*/ 416 w 736"/>
                <a:gd name="T7" fmla="*/ 0 h 35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6" h="352">
                  <a:moveTo>
                    <a:pt x="0" y="0"/>
                  </a:moveTo>
                  <a:lnTo>
                    <a:pt x="0" y="352"/>
                  </a:lnTo>
                  <a:lnTo>
                    <a:pt x="736" y="352"/>
                  </a:lnTo>
                  <a:lnTo>
                    <a:pt x="736" y="0"/>
                  </a:lnTo>
                </a:path>
              </a:pathLst>
            </a:cu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4841" name="矩形 18473"/>
            <p:cNvSpPr>
              <a:spLocks noChangeArrowheads="1"/>
            </p:cNvSpPr>
            <p:nvPr/>
          </p:nvSpPr>
          <p:spPr bwMode="auto">
            <a:xfrm rot="-5400000">
              <a:off x="-8" y="394"/>
              <a:ext cx="392" cy="104"/>
            </a:xfrm>
            <a:prstGeom prst="rect">
              <a:avLst/>
            </a:prstGeom>
            <a:solidFill>
              <a:schemeClr val="accent1"/>
            </a:solidFill>
            <a:ln w="9525">
              <a:solidFill>
                <a:schemeClr val="tx1"/>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0283" name="文本框 18474"/>
          <p:cNvSpPr txBox="1">
            <a:spLocks noChangeArrowheads="1"/>
          </p:cNvSpPr>
          <p:nvPr/>
        </p:nvSpPr>
        <p:spPr bwMode="auto">
          <a:xfrm>
            <a:off x="6745289" y="3486151"/>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latin typeface="Arial" panose="020B0604020202020204" pitchFamily="34" charset="0"/>
              </a:rPr>
              <a:t>平焊</a:t>
            </a:r>
            <a:endParaRPr lang="zh-CN" altLang="en-US" b="1">
              <a:latin typeface="Arial" panose="020B0604020202020204" pitchFamily="34" charset="0"/>
            </a:endParaRPr>
          </a:p>
        </p:txBody>
      </p:sp>
      <p:sp>
        <p:nvSpPr>
          <p:cNvPr id="10284" name="文本框 18475"/>
          <p:cNvSpPr txBox="1">
            <a:spLocks noChangeArrowheads="1"/>
          </p:cNvSpPr>
          <p:nvPr/>
        </p:nvSpPr>
        <p:spPr bwMode="auto">
          <a:xfrm>
            <a:off x="8677276" y="3513139"/>
            <a:ext cx="803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latin typeface="Arial" panose="020B0604020202020204" pitchFamily="34" charset="0"/>
              </a:rPr>
              <a:t>立焊</a:t>
            </a:r>
            <a:endParaRPr lang="zh-CN" altLang="en-US" b="1">
              <a:latin typeface="Arial" panose="020B0604020202020204" pitchFamily="34" charset="0"/>
            </a:endParaRPr>
          </a:p>
        </p:txBody>
      </p:sp>
      <p:sp>
        <p:nvSpPr>
          <p:cNvPr id="34832" name="矩形 18476"/>
          <p:cNvSpPr>
            <a:spLocks noRot="1" noChangeArrowheads="1"/>
          </p:cNvSpPr>
          <p:nvPr/>
        </p:nvSpPr>
        <p:spPr bwMode="auto">
          <a:xfrm>
            <a:off x="3929856" y="241299"/>
            <a:ext cx="36591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600" b="1" dirty="0">
                <a:solidFill>
                  <a:schemeClr val="tx2"/>
                </a:solidFill>
              </a:rPr>
              <a:t>焊接基本方法</a:t>
            </a:r>
            <a:endParaRPr lang="zh-CN" altLang="en-US" sz="3600" b="1" dirty="0">
              <a:solidFill>
                <a:schemeClr val="tx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6"/>
                                        </p:tgtEl>
                                        <p:attrNameLst>
                                          <p:attrName>style.visibility</p:attrName>
                                        </p:attrNameLst>
                                      </p:cBhvr>
                                      <p:to>
                                        <p:strVal val="visible"/>
                                      </p:to>
                                    </p:set>
                                  </p:childTnLst>
                                </p:cTn>
                              </p:par>
                            </p:childTnLst>
                          </p:cTn>
                        </p:par>
                        <p:par>
                          <p:cTn id="11" fill="hold">
                            <p:stCondLst>
                              <p:cond delay="0"/>
                            </p:stCondLst>
                            <p:childTnLst>
                              <p:par>
                                <p:cTn id="12" presetID="0" presetClass="path" presetSubtype="0" accel="50000" decel="50000" fill="hold" nodeType="afterEffect">
                                  <p:stCondLst>
                                    <p:cond delay="0"/>
                                  </p:stCondLst>
                                  <p:childTnLst>
                                    <p:animMotion origin="layout" path="M 4.44444E-6 7.77778E-6 L -0.03889 0.05186 " pathEditMode="relative" rAng="0" ptsTypes="AA">
                                      <p:cBhvr>
                                        <p:cTn id="13" dur="2000" fill="hold"/>
                                        <p:tgtEl>
                                          <p:spTgt spid="10246"/>
                                        </p:tgtEl>
                                        <p:attrNameLst>
                                          <p:attrName>ppt_x</p:attrName>
                                          <p:attrName>ppt_y</p:attrName>
                                        </p:attrNameLst>
                                      </p:cBhvr>
                                      <p:rCtr x="0" y="0"/>
                                    </p:animMotion>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245"/>
                                        </p:tgtEl>
                                        <p:attrNameLst>
                                          <p:attrName>style.visibility</p:attrName>
                                        </p:attrNameLst>
                                      </p:cBhvr>
                                      <p:to>
                                        <p:strVal val="visible"/>
                                      </p:to>
                                    </p:set>
                                  </p:childTnLst>
                                </p:cTn>
                              </p:par>
                            </p:childTnLst>
                          </p:cTn>
                        </p:par>
                        <p:par>
                          <p:cTn id="18" fill="hold">
                            <p:stCondLst>
                              <p:cond delay="0"/>
                            </p:stCondLst>
                            <p:childTnLst>
                              <p:par>
                                <p:cTn id="19" presetID="0" presetClass="path" presetSubtype="0" accel="50000" decel="50000" fill="hold" nodeType="afterEffect">
                                  <p:stCondLst>
                                    <p:cond delay="0"/>
                                  </p:stCondLst>
                                  <p:childTnLst>
                                    <p:animMotion origin="layout" path="M -6.66667E-6 1.11111E-6 L 0.04166 0.05555 " pathEditMode="relative" rAng="0" ptsTypes="AA">
                                      <p:cBhvr>
                                        <p:cTn id="20" dur="2000" fill="hold"/>
                                        <p:tgtEl>
                                          <p:spTgt spid="10245"/>
                                        </p:tgtEl>
                                        <p:attrNameLst>
                                          <p:attrName>ppt_x</p:attrName>
                                          <p:attrName>ppt_y</p:attrName>
                                        </p:attrNameLst>
                                      </p:cBhvr>
                                      <p:rCtr x="0" y="0"/>
                                    </p:animMotion>
                                  </p:childTnLst>
                                </p:cTn>
                              </p:par>
                            </p:childTnLst>
                          </p:cTn>
                        </p:par>
                      </p:childTnLst>
                    </p:cTn>
                  </p:par>
                  <p:par>
                    <p:cTn id="21" fill="hold">
                      <p:stCondLst>
                        <p:cond delay="indefinite"/>
                      </p:stCondLst>
                      <p:childTnLst>
                        <p:par>
                          <p:cTn id="22" fill="hold">
                            <p:stCondLst>
                              <p:cond delay="0"/>
                            </p:stCondLst>
                            <p:childTnLst>
                              <p:par>
                                <p:cTn id="23" presetID="5" presetClass="exit" presetSubtype="10" fill="hold" nodeType="clickEffect">
                                  <p:stCondLst>
                                    <p:cond delay="0"/>
                                  </p:stCondLst>
                                  <p:childTnLst>
                                    <p:animEffect transition="out" filter="checkerboard(across)">
                                      <p:cBhvr>
                                        <p:cTn id="24" dur="500"/>
                                        <p:tgtEl>
                                          <p:spTgt spid="10245"/>
                                        </p:tgtEl>
                                      </p:cBhvr>
                                    </p:animEffect>
                                    <p:set>
                                      <p:cBhvr>
                                        <p:cTn id="25" dur="1" fill="hold">
                                          <p:stCondLst>
                                            <p:cond delay="499"/>
                                          </p:stCondLst>
                                        </p:cTn>
                                        <p:tgtEl>
                                          <p:spTgt spid="10245"/>
                                        </p:tgtEl>
                                        <p:attrNameLst>
                                          <p:attrName>style.visibility</p:attrName>
                                        </p:attrNameLst>
                                      </p:cBhvr>
                                      <p:to>
                                        <p:strVal val="hidden"/>
                                      </p:to>
                                    </p:set>
                                  </p:childTnLst>
                                </p:cTn>
                              </p:par>
                              <p:par>
                                <p:cTn id="26" presetID="5" presetClass="exit" presetSubtype="10" fill="hold" nodeType="withEffect">
                                  <p:stCondLst>
                                    <p:cond delay="0"/>
                                  </p:stCondLst>
                                  <p:childTnLst>
                                    <p:animEffect transition="out" filter="checkerboard(across)">
                                      <p:cBhvr>
                                        <p:cTn id="27" dur="500"/>
                                        <p:tgtEl>
                                          <p:spTgt spid="10246"/>
                                        </p:tgtEl>
                                      </p:cBhvr>
                                    </p:animEffect>
                                    <p:set>
                                      <p:cBhvr>
                                        <p:cTn id="28" dur="1" fill="hold">
                                          <p:stCondLst>
                                            <p:cond delay="499"/>
                                          </p:stCondLst>
                                        </p:cTn>
                                        <p:tgtEl>
                                          <p:spTgt spid="10246"/>
                                        </p:tgtEl>
                                        <p:attrNameLst>
                                          <p:attrName>style.visibility</p:attrName>
                                        </p:attrNameLst>
                                      </p:cBhvr>
                                      <p:to>
                                        <p:strVal val="hidden"/>
                                      </p:to>
                                    </p:set>
                                  </p:childTnLst>
                                </p:cTn>
                              </p:par>
                              <p:par>
                                <p:cTn id="29" presetID="5" presetClass="exit" presetSubtype="10" fill="hold" nodeType="withEffect">
                                  <p:stCondLst>
                                    <p:cond delay="0"/>
                                  </p:stCondLst>
                                  <p:childTnLst>
                                    <p:animEffect transition="out" filter="checkerboard(across)">
                                      <p:cBhvr>
                                        <p:cTn id="30" dur="500"/>
                                        <p:tgtEl>
                                          <p:spTgt spid="10247"/>
                                        </p:tgtEl>
                                      </p:cBhvr>
                                    </p:animEffect>
                                    <p:set>
                                      <p:cBhvr>
                                        <p:cTn id="31" dur="1" fill="hold">
                                          <p:stCondLst>
                                            <p:cond delay="499"/>
                                          </p:stCondLst>
                                        </p:cTn>
                                        <p:tgtEl>
                                          <p:spTgt spid="10247"/>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10253"/>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0260"/>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026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1" presetClass="entr" presetSubtype="4" fill="hold" nodeType="clickEffect">
                                  <p:stCondLst>
                                    <p:cond delay="0"/>
                                  </p:stCondLst>
                                  <p:childTnLst>
                                    <p:set>
                                      <p:cBhvr>
                                        <p:cTn id="41" dur="1" fill="hold">
                                          <p:stCondLst>
                                            <p:cond delay="0"/>
                                          </p:stCondLst>
                                        </p:cTn>
                                        <p:tgtEl>
                                          <p:spTgt spid="10242"/>
                                        </p:tgtEl>
                                        <p:attrNameLst>
                                          <p:attrName>style.visibility</p:attrName>
                                        </p:attrNameLst>
                                      </p:cBhvr>
                                      <p:to>
                                        <p:strVal val="visible"/>
                                      </p:to>
                                    </p:set>
                                    <p:animEffect transition="in" filter="wheel(4)">
                                      <p:cBhvr>
                                        <p:cTn id="42" dur="3000"/>
                                        <p:tgtEl>
                                          <p:spTgt spid="10242"/>
                                        </p:tgtEl>
                                      </p:cBhvr>
                                    </p:animEffect>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nodeType="clickEffect">
                                  <p:stCondLst>
                                    <p:cond delay="0"/>
                                  </p:stCondLst>
                                  <p:childTnLst>
                                    <p:animMotion origin="layout" path="M -1.94444E-6 -7.40741E-7 L -0.03056 -0.04074 " pathEditMode="relative" rAng="0" ptsTypes="AA">
                                      <p:cBhvr>
                                        <p:cTn id="46" dur="2000" fill="hold"/>
                                        <p:tgtEl>
                                          <p:spTgt spid="10260"/>
                                        </p:tgtEl>
                                        <p:attrNameLst>
                                          <p:attrName>ppt_x</p:attrName>
                                          <p:attrName>ppt_y</p:attrName>
                                        </p:attrNameLst>
                                      </p:cBhvr>
                                      <p:rCtr x="0" y="0"/>
                                    </p:animMotion>
                                  </p:childTnLst>
                                </p:cTn>
                              </p:par>
                            </p:childTnLst>
                          </p:cTn>
                        </p:par>
                        <p:par>
                          <p:cTn id="47" fill="hold">
                            <p:stCondLst>
                              <p:cond delay="2000"/>
                            </p:stCondLst>
                            <p:childTnLst>
                              <p:par>
                                <p:cTn id="48" presetID="1" presetClass="exit" presetSubtype="0" fill="hold" nodeType="afterEffect">
                                  <p:stCondLst>
                                    <p:cond delay="0"/>
                                  </p:stCondLst>
                                  <p:childTnLst>
                                    <p:set>
                                      <p:cBhvr>
                                        <p:cTn id="49" dur="1" fill="hold">
                                          <p:stCondLst>
                                            <p:cond delay="0"/>
                                          </p:stCondLst>
                                        </p:cTn>
                                        <p:tgtEl>
                                          <p:spTgt spid="10260"/>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57" presetClass="path" presetSubtype="0" accel="50000" decel="50000" fill="hold" nodeType="clickEffect">
                                  <p:stCondLst>
                                    <p:cond delay="0"/>
                                  </p:stCondLst>
                                  <p:childTnLst>
                                    <p:animMotion origin="layout" path="M -2.5E-6 0.0 L -2.5E-6 -0.0713 C -2.5E-6 -0.10347 0.02066 -0.14259 0.0375 -0.14259 L 0.075 -0.14259 " pathEditMode="relative" rAng="0" ptsTypes="FfFF">
                                      <p:cBhvr>
                                        <p:cTn id="53" dur="2000" fill="hold"/>
                                        <p:tgtEl>
                                          <p:spTgt spid="10262"/>
                                        </p:tgtEl>
                                        <p:attrNameLst>
                                          <p:attrName>ppt_x</p:attrName>
                                          <p:attrName>ppt_y</p:attrName>
                                        </p:attrNameLst>
                                      </p:cBhvr>
                                      <p:rCtr x="3800" y="-6900"/>
                                    </p:animMotion>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nodeType="clickEffect">
                                  <p:stCondLst>
                                    <p:cond delay="0"/>
                                  </p:stCondLst>
                                  <p:childTnLst>
                                    <p:set>
                                      <p:cBhvr>
                                        <p:cTn id="57" dur="1" fill="hold">
                                          <p:stCondLst>
                                            <p:cond delay="0"/>
                                          </p:stCondLst>
                                        </p:cTn>
                                        <p:tgtEl>
                                          <p:spTgt spid="10262"/>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1026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0283"/>
                                        </p:tgtEl>
                                        <p:attrNameLst>
                                          <p:attrName>style.visibility</p:attrName>
                                        </p:attrNameLst>
                                      </p:cBhvr>
                                      <p:to>
                                        <p:strVal val="visible"/>
                                      </p:to>
                                    </p:set>
                                    <p:animEffect transition="in" filter="blinds(horizontal)">
                                      <p:cBhvr>
                                        <p:cTn id="66" dur="500"/>
                                        <p:tgtEl>
                                          <p:spTgt spid="10283"/>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4" fill="hold" nodeType="clickEffect">
                                  <p:stCondLst>
                                    <p:cond delay="0"/>
                                  </p:stCondLst>
                                  <p:childTnLst>
                                    <p:set>
                                      <p:cBhvr>
                                        <p:cTn id="70" dur="1" fill="hold">
                                          <p:stCondLst>
                                            <p:cond delay="0"/>
                                          </p:stCondLst>
                                        </p:cTn>
                                        <p:tgtEl>
                                          <p:spTgt spid="10263"/>
                                        </p:tgtEl>
                                        <p:attrNameLst>
                                          <p:attrName>style.visibility</p:attrName>
                                        </p:attrNameLst>
                                      </p:cBhvr>
                                      <p:to>
                                        <p:strVal val="visible"/>
                                      </p:to>
                                    </p:set>
                                    <p:animEffect transition="in" filter="slide(fromBottom)">
                                      <p:cBhvr>
                                        <p:cTn id="71" dur="500"/>
                                        <p:tgtEl>
                                          <p:spTgt spid="10263"/>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0284"/>
                                        </p:tgtEl>
                                        <p:attrNameLst>
                                          <p:attrName>style.visibility</p:attrName>
                                        </p:attrNameLst>
                                      </p:cBhvr>
                                      <p:to>
                                        <p:strVal val="visible"/>
                                      </p:to>
                                    </p:set>
                                    <p:animEffect transition="in" filter="blinds(horizontal)">
                                      <p:cBhvr>
                                        <p:cTn id="76" dur="500"/>
                                        <p:tgtEl>
                                          <p:spTgt spid="10284"/>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2" fill="hold" nodeType="clickEffect">
                                  <p:stCondLst>
                                    <p:cond delay="0"/>
                                  </p:stCondLst>
                                  <p:childTnLst>
                                    <p:set>
                                      <p:cBhvr>
                                        <p:cTn id="80" dur="1" fill="hold">
                                          <p:stCondLst>
                                            <p:cond delay="0"/>
                                          </p:stCondLst>
                                        </p:cTn>
                                        <p:tgtEl>
                                          <p:spTgt spid="10273"/>
                                        </p:tgtEl>
                                        <p:attrNameLst>
                                          <p:attrName>style.visibility</p:attrName>
                                        </p:attrNameLst>
                                      </p:cBhvr>
                                      <p:to>
                                        <p:strVal val="visible"/>
                                      </p:to>
                                    </p:set>
                                    <p:animEffect transition="in" filter="slide(fromRight)">
                                      <p:cBhvr>
                                        <p:cTn id="81" dur="500"/>
                                        <p:tgtEl>
                                          <p:spTgt spid="10273"/>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83" grpId="0"/>
      <p:bldP spid="1028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p:cNvSpPr>
          <p:nvPr>
            <p:ph type="title" idx="4294967295"/>
          </p:nvPr>
        </p:nvSpPr>
        <p:spPr>
          <a:xfrm>
            <a:off x="3977720" y="239543"/>
            <a:ext cx="3959225" cy="708025"/>
          </a:xfrm>
        </p:spPr>
        <p:txBody>
          <a:bodyPr anchor="ctr"/>
          <a:lstStyle/>
          <a:p>
            <a:pPr eaLnBrk="1" hangingPunct="1">
              <a:defRPr/>
            </a:pPr>
            <a:r>
              <a:rPr lang="zh-CN" altLang="en-US" sz="3600" dirty="0">
                <a:effectLst>
                  <a:outerShdw blurRad="38100" dist="38100" dir="2700000" algn="tl">
                    <a:srgbClr val="C0C0C0"/>
                  </a:outerShdw>
                </a:effectLst>
                <a:latin typeface="华文新魏" panose="02010800040101010101" pitchFamily="2" charset="-122"/>
                <a:ea typeface="华文新魏" panose="02010800040101010101" pitchFamily="2" charset="-122"/>
              </a:rPr>
              <a:t>焊接方法</a:t>
            </a:r>
            <a:endParaRPr lang="zh-CN" altLang="en-US" sz="3600"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
        <p:nvSpPr>
          <p:cNvPr id="11267" name="Line 3"/>
          <p:cNvSpPr>
            <a:spLocks noChangeShapeType="1"/>
          </p:cNvSpPr>
          <p:nvPr/>
        </p:nvSpPr>
        <p:spPr bwMode="auto">
          <a:xfrm>
            <a:off x="2590800" y="5181600"/>
            <a:ext cx="6705600" cy="0"/>
          </a:xfrm>
          <a:prstGeom prst="line">
            <a:avLst/>
          </a:prstGeom>
          <a:noFill/>
          <a:ln w="76200">
            <a:solidFill>
              <a:srgbClr val="CC9900"/>
            </a:solidFill>
            <a:miter lim="800000"/>
          </a:ln>
          <a:extLst>
            <a:ext uri="{909E8E84-426E-40DD-AFC4-6F175D3DCCD1}">
              <a14:hiddenFill xmlns:a14="http://schemas.microsoft.com/office/drawing/2010/main">
                <a:noFill/>
              </a14:hiddenFill>
            </a:ext>
          </a:extLst>
        </p:spPr>
        <p:txBody>
          <a:bodyPr/>
          <a:lstStyle/>
          <a:p>
            <a:endParaRPr lang="zh-CN" altLang="en-US"/>
          </a:p>
        </p:txBody>
      </p:sp>
      <p:grpSp>
        <p:nvGrpSpPr>
          <p:cNvPr id="11268" name="Group 4"/>
          <p:cNvGrpSpPr/>
          <p:nvPr/>
        </p:nvGrpSpPr>
        <p:grpSpPr bwMode="auto">
          <a:xfrm>
            <a:off x="1905000" y="1219201"/>
            <a:ext cx="2884488" cy="3876675"/>
            <a:chOff x="0" y="0"/>
            <a:chExt cx="2384" cy="4425"/>
          </a:xfrm>
        </p:grpSpPr>
        <p:sp>
          <p:nvSpPr>
            <p:cNvPr id="35925" name="Arc 5"/>
            <p:cNvSpPr>
              <a:spLocks noChangeArrowheads="1"/>
            </p:cNvSpPr>
            <p:nvPr/>
          </p:nvSpPr>
          <p:spPr bwMode="auto">
            <a:xfrm>
              <a:off x="0" y="0"/>
              <a:ext cx="1740" cy="2445"/>
            </a:xfrm>
            <a:custGeom>
              <a:avLst/>
              <a:gdLst>
                <a:gd name="T0" fmla="*/ 0 w 21600"/>
                <a:gd name="T1" fmla="*/ 0 h 21600"/>
                <a:gd name="T2" fmla="*/ 1740 w 21600"/>
                <a:gd name="T3" fmla="*/ 2445 h 21600"/>
                <a:gd name="T4" fmla="*/ 0 w 21600"/>
                <a:gd name="T5" fmla="*/ 0 h 21600"/>
                <a:gd name="T6" fmla="*/ 1740 w 21600"/>
                <a:gd name="T7" fmla="*/ 2445 h 21600"/>
                <a:gd name="T8" fmla="*/ 0 w 21600"/>
                <a:gd name="T9" fmla="*/ 2445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7620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926" name="Arc 6"/>
            <p:cNvSpPr>
              <a:spLocks noChangeArrowheads="1"/>
            </p:cNvSpPr>
            <p:nvPr/>
          </p:nvSpPr>
          <p:spPr bwMode="auto">
            <a:xfrm flipH="1" flipV="1">
              <a:off x="1738" y="2325"/>
              <a:ext cx="646" cy="2100"/>
            </a:xfrm>
            <a:custGeom>
              <a:avLst/>
              <a:gdLst>
                <a:gd name="T0" fmla="*/ 0 w 21600"/>
                <a:gd name="T1" fmla="*/ 0 h 21600"/>
                <a:gd name="T2" fmla="*/ 646 w 21600"/>
                <a:gd name="T3" fmla="*/ 2100 h 21600"/>
                <a:gd name="T4" fmla="*/ 0 w 21600"/>
                <a:gd name="T5" fmla="*/ 0 h 21600"/>
                <a:gd name="T6" fmla="*/ 646 w 21600"/>
                <a:gd name="T7" fmla="*/ 2100 h 21600"/>
                <a:gd name="T8" fmla="*/ 0 w 21600"/>
                <a:gd name="T9" fmla="*/ 210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7620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1271" name="Group 7"/>
          <p:cNvGrpSpPr/>
          <p:nvPr/>
        </p:nvGrpSpPr>
        <p:grpSpPr bwMode="auto">
          <a:xfrm>
            <a:off x="3124200" y="4572000"/>
            <a:ext cx="1866900" cy="1525588"/>
            <a:chOff x="0" y="0"/>
            <a:chExt cx="1176" cy="961"/>
          </a:xfrm>
        </p:grpSpPr>
        <p:sp>
          <p:nvSpPr>
            <p:cNvPr id="35884" name="Rectangle 8"/>
            <p:cNvSpPr>
              <a:spLocks noChangeArrowheads="1"/>
            </p:cNvSpPr>
            <p:nvPr/>
          </p:nvSpPr>
          <p:spPr bwMode="auto">
            <a:xfrm>
              <a:off x="155" y="676"/>
              <a:ext cx="872" cy="285"/>
            </a:xfrm>
            <a:prstGeom prst="rect">
              <a:avLst/>
            </a:prstGeom>
            <a:solidFill>
              <a:srgbClr val="FFFFFF"/>
            </a:solidFill>
            <a:ln w="28575">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85" name="Line 9"/>
            <p:cNvSpPr>
              <a:spLocks noChangeShapeType="1"/>
            </p:cNvSpPr>
            <p:nvPr/>
          </p:nvSpPr>
          <p:spPr bwMode="auto">
            <a:xfrm>
              <a:off x="301" y="676"/>
              <a:ext cx="0"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86" name="Line 10"/>
            <p:cNvSpPr>
              <a:spLocks noChangeShapeType="1"/>
            </p:cNvSpPr>
            <p:nvPr/>
          </p:nvSpPr>
          <p:spPr bwMode="auto">
            <a:xfrm>
              <a:off x="446"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87" name="Line 11"/>
            <p:cNvSpPr>
              <a:spLocks noChangeShapeType="1"/>
            </p:cNvSpPr>
            <p:nvPr/>
          </p:nvSpPr>
          <p:spPr bwMode="auto">
            <a:xfrm>
              <a:off x="591"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88" name="Line 12"/>
            <p:cNvSpPr>
              <a:spLocks noChangeShapeType="1"/>
            </p:cNvSpPr>
            <p:nvPr/>
          </p:nvSpPr>
          <p:spPr bwMode="auto">
            <a:xfrm>
              <a:off x="737"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89" name="Line 13"/>
            <p:cNvSpPr>
              <a:spLocks noChangeShapeType="1"/>
            </p:cNvSpPr>
            <p:nvPr/>
          </p:nvSpPr>
          <p:spPr bwMode="auto">
            <a:xfrm>
              <a:off x="882"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0" name="Line 14"/>
            <p:cNvSpPr>
              <a:spLocks noChangeShapeType="1"/>
            </p:cNvSpPr>
            <p:nvPr/>
          </p:nvSpPr>
          <p:spPr bwMode="auto">
            <a:xfrm flipH="1">
              <a:off x="10" y="818"/>
              <a:ext cx="145" cy="0"/>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1" name="Line 15"/>
            <p:cNvSpPr>
              <a:spLocks noChangeShapeType="1"/>
            </p:cNvSpPr>
            <p:nvPr/>
          </p:nvSpPr>
          <p:spPr bwMode="auto">
            <a:xfrm flipH="1">
              <a:off x="1027" y="818"/>
              <a:ext cx="146" cy="0"/>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2" name="Rectangle 16"/>
            <p:cNvSpPr>
              <a:spLocks noChangeArrowheads="1"/>
            </p:cNvSpPr>
            <p:nvPr/>
          </p:nvSpPr>
          <p:spPr bwMode="auto">
            <a:xfrm>
              <a:off x="155" y="676"/>
              <a:ext cx="872" cy="285"/>
            </a:xfrm>
            <a:prstGeom prst="rect">
              <a:avLst/>
            </a:prstGeom>
            <a:solidFill>
              <a:srgbClr val="FFFFFF"/>
            </a:solidFill>
            <a:ln w="28575">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93" name="Line 17"/>
            <p:cNvSpPr>
              <a:spLocks noChangeShapeType="1"/>
            </p:cNvSpPr>
            <p:nvPr/>
          </p:nvSpPr>
          <p:spPr bwMode="auto">
            <a:xfrm>
              <a:off x="301" y="676"/>
              <a:ext cx="0"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4" name="Line 18"/>
            <p:cNvSpPr>
              <a:spLocks noChangeShapeType="1"/>
            </p:cNvSpPr>
            <p:nvPr/>
          </p:nvSpPr>
          <p:spPr bwMode="auto">
            <a:xfrm>
              <a:off x="446"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5" name="Line 19"/>
            <p:cNvSpPr>
              <a:spLocks noChangeShapeType="1"/>
            </p:cNvSpPr>
            <p:nvPr/>
          </p:nvSpPr>
          <p:spPr bwMode="auto">
            <a:xfrm>
              <a:off x="591"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6" name="Line 20"/>
            <p:cNvSpPr>
              <a:spLocks noChangeShapeType="1"/>
            </p:cNvSpPr>
            <p:nvPr/>
          </p:nvSpPr>
          <p:spPr bwMode="auto">
            <a:xfrm>
              <a:off x="737"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7" name="Line 21"/>
            <p:cNvSpPr>
              <a:spLocks noChangeShapeType="1"/>
            </p:cNvSpPr>
            <p:nvPr/>
          </p:nvSpPr>
          <p:spPr bwMode="auto">
            <a:xfrm>
              <a:off x="882"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8" name="Line 22"/>
            <p:cNvSpPr>
              <a:spLocks noChangeShapeType="1"/>
            </p:cNvSpPr>
            <p:nvPr/>
          </p:nvSpPr>
          <p:spPr bwMode="auto">
            <a:xfrm flipH="1">
              <a:off x="10" y="818"/>
              <a:ext cx="145" cy="0"/>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99" name="Line 23"/>
            <p:cNvSpPr>
              <a:spLocks noChangeShapeType="1"/>
            </p:cNvSpPr>
            <p:nvPr/>
          </p:nvSpPr>
          <p:spPr bwMode="auto">
            <a:xfrm flipH="1">
              <a:off x="1027" y="818"/>
              <a:ext cx="146" cy="0"/>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0" name="Rectangle 24"/>
            <p:cNvSpPr>
              <a:spLocks noChangeArrowheads="1"/>
            </p:cNvSpPr>
            <p:nvPr/>
          </p:nvSpPr>
          <p:spPr bwMode="auto">
            <a:xfrm>
              <a:off x="140" y="672"/>
              <a:ext cx="872" cy="285"/>
            </a:xfrm>
            <a:prstGeom prst="rect">
              <a:avLst/>
            </a:prstGeom>
            <a:solidFill>
              <a:srgbClr val="00FFFF"/>
            </a:solidFill>
            <a:ln w="3810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901" name="Line 25"/>
            <p:cNvSpPr>
              <a:spLocks noChangeShapeType="1"/>
            </p:cNvSpPr>
            <p:nvPr/>
          </p:nvSpPr>
          <p:spPr bwMode="auto">
            <a:xfrm>
              <a:off x="301" y="676"/>
              <a:ext cx="0"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2" name="Line 26"/>
            <p:cNvSpPr>
              <a:spLocks noChangeShapeType="1"/>
            </p:cNvSpPr>
            <p:nvPr/>
          </p:nvSpPr>
          <p:spPr bwMode="auto">
            <a:xfrm>
              <a:off x="446"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3" name="Line 27"/>
            <p:cNvSpPr>
              <a:spLocks noChangeShapeType="1"/>
            </p:cNvSpPr>
            <p:nvPr/>
          </p:nvSpPr>
          <p:spPr bwMode="auto">
            <a:xfrm>
              <a:off x="591"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4" name="Line 28"/>
            <p:cNvSpPr>
              <a:spLocks noChangeShapeType="1"/>
            </p:cNvSpPr>
            <p:nvPr/>
          </p:nvSpPr>
          <p:spPr bwMode="auto">
            <a:xfrm>
              <a:off x="737"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5" name="Line 29"/>
            <p:cNvSpPr>
              <a:spLocks noChangeShapeType="1"/>
            </p:cNvSpPr>
            <p:nvPr/>
          </p:nvSpPr>
          <p:spPr bwMode="auto">
            <a:xfrm>
              <a:off x="882"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6" name="Line 30"/>
            <p:cNvSpPr>
              <a:spLocks noChangeShapeType="1"/>
            </p:cNvSpPr>
            <p:nvPr/>
          </p:nvSpPr>
          <p:spPr bwMode="auto">
            <a:xfrm flipH="1">
              <a:off x="10" y="818"/>
              <a:ext cx="145" cy="0"/>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7" name="Line 31"/>
            <p:cNvSpPr>
              <a:spLocks noChangeShapeType="1"/>
            </p:cNvSpPr>
            <p:nvPr/>
          </p:nvSpPr>
          <p:spPr bwMode="auto">
            <a:xfrm flipH="1">
              <a:off x="1027" y="818"/>
              <a:ext cx="146" cy="0"/>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8" name="Line 32"/>
            <p:cNvSpPr>
              <a:spLocks noChangeShapeType="1"/>
            </p:cNvSpPr>
            <p:nvPr/>
          </p:nvSpPr>
          <p:spPr bwMode="auto">
            <a:xfrm>
              <a:off x="446"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09" name="Line 33"/>
            <p:cNvSpPr>
              <a:spLocks noChangeShapeType="1"/>
            </p:cNvSpPr>
            <p:nvPr/>
          </p:nvSpPr>
          <p:spPr bwMode="auto">
            <a:xfrm>
              <a:off x="591"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0" name="Line 34"/>
            <p:cNvSpPr>
              <a:spLocks noChangeShapeType="1"/>
            </p:cNvSpPr>
            <p:nvPr/>
          </p:nvSpPr>
          <p:spPr bwMode="auto">
            <a:xfrm>
              <a:off x="737"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1" name="Line 35"/>
            <p:cNvSpPr>
              <a:spLocks noChangeShapeType="1"/>
            </p:cNvSpPr>
            <p:nvPr/>
          </p:nvSpPr>
          <p:spPr bwMode="auto">
            <a:xfrm>
              <a:off x="882"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2" name="Line 36"/>
            <p:cNvSpPr>
              <a:spLocks noChangeShapeType="1"/>
            </p:cNvSpPr>
            <p:nvPr/>
          </p:nvSpPr>
          <p:spPr bwMode="auto">
            <a:xfrm>
              <a:off x="882"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3" name="Line 37"/>
            <p:cNvSpPr>
              <a:spLocks noChangeShapeType="1"/>
            </p:cNvSpPr>
            <p:nvPr/>
          </p:nvSpPr>
          <p:spPr bwMode="auto">
            <a:xfrm>
              <a:off x="737" y="676"/>
              <a:ext cx="1" cy="285"/>
            </a:xfrm>
            <a:prstGeom prst="line">
              <a:avLst/>
            </a:prstGeom>
            <a:noFill/>
            <a:ln w="28575">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4" name="Line 38"/>
            <p:cNvSpPr>
              <a:spLocks noChangeShapeType="1"/>
            </p:cNvSpPr>
            <p:nvPr/>
          </p:nvSpPr>
          <p:spPr bwMode="auto">
            <a:xfrm>
              <a:off x="591" y="676"/>
              <a:ext cx="1" cy="285"/>
            </a:xfrm>
            <a:prstGeom prst="line">
              <a:avLst/>
            </a:prstGeom>
            <a:noFill/>
            <a:ln w="57150">
              <a:solidFill>
                <a:srgbClr val="800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5" name="Line 39"/>
            <p:cNvSpPr>
              <a:spLocks noChangeShapeType="1"/>
            </p:cNvSpPr>
            <p:nvPr/>
          </p:nvSpPr>
          <p:spPr bwMode="auto">
            <a:xfrm>
              <a:off x="446" y="676"/>
              <a:ext cx="1" cy="285"/>
            </a:xfrm>
            <a:prstGeom prst="line">
              <a:avLst/>
            </a:prstGeom>
            <a:noFill/>
            <a:ln w="57150">
              <a:solidFill>
                <a:srgbClr val="FF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6" name="Line 40"/>
            <p:cNvSpPr>
              <a:spLocks noChangeShapeType="1"/>
            </p:cNvSpPr>
            <p:nvPr/>
          </p:nvSpPr>
          <p:spPr bwMode="auto">
            <a:xfrm>
              <a:off x="301" y="676"/>
              <a:ext cx="0" cy="285"/>
            </a:xfrm>
            <a:prstGeom prst="line">
              <a:avLst/>
            </a:prstGeom>
            <a:noFill/>
            <a:ln w="57150">
              <a:solidFill>
                <a:srgbClr val="66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7" name="Line 41"/>
            <p:cNvSpPr>
              <a:spLocks noChangeShapeType="1"/>
            </p:cNvSpPr>
            <p:nvPr/>
          </p:nvSpPr>
          <p:spPr bwMode="auto">
            <a:xfrm>
              <a:off x="737" y="676"/>
              <a:ext cx="1" cy="285"/>
            </a:xfrm>
            <a:prstGeom prst="line">
              <a:avLst/>
            </a:prstGeom>
            <a:noFill/>
            <a:ln w="57150">
              <a:solidFill>
                <a:srgbClr val="FF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8" name="Line 42"/>
            <p:cNvSpPr>
              <a:spLocks noChangeShapeType="1"/>
            </p:cNvSpPr>
            <p:nvPr/>
          </p:nvSpPr>
          <p:spPr bwMode="auto">
            <a:xfrm>
              <a:off x="882" y="676"/>
              <a:ext cx="1" cy="285"/>
            </a:xfrm>
            <a:prstGeom prst="line">
              <a:avLst/>
            </a:prstGeom>
            <a:noFill/>
            <a:ln w="76200">
              <a:solidFill>
                <a:srgbClr val="6633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19" name="Line 43"/>
            <p:cNvSpPr>
              <a:spLocks noChangeShapeType="1"/>
            </p:cNvSpPr>
            <p:nvPr/>
          </p:nvSpPr>
          <p:spPr bwMode="auto">
            <a:xfrm>
              <a:off x="1176" y="536"/>
              <a:ext cx="0" cy="301"/>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20" name="Line 44"/>
            <p:cNvSpPr>
              <a:spLocks noChangeShapeType="1"/>
            </p:cNvSpPr>
            <p:nvPr/>
          </p:nvSpPr>
          <p:spPr bwMode="auto">
            <a:xfrm flipH="1">
              <a:off x="0" y="412"/>
              <a:ext cx="108" cy="123"/>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21" name="Line 45"/>
            <p:cNvSpPr>
              <a:spLocks noChangeShapeType="1"/>
            </p:cNvSpPr>
            <p:nvPr/>
          </p:nvSpPr>
          <p:spPr bwMode="auto">
            <a:xfrm>
              <a:off x="1066" y="412"/>
              <a:ext cx="108" cy="123"/>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22" name="Line 46"/>
            <p:cNvSpPr>
              <a:spLocks noChangeShapeType="1"/>
            </p:cNvSpPr>
            <p:nvPr/>
          </p:nvSpPr>
          <p:spPr bwMode="auto">
            <a:xfrm>
              <a:off x="11" y="522"/>
              <a:ext cx="0" cy="302"/>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23" name="Line 47"/>
            <p:cNvSpPr>
              <a:spLocks noChangeShapeType="1"/>
            </p:cNvSpPr>
            <p:nvPr/>
          </p:nvSpPr>
          <p:spPr bwMode="auto">
            <a:xfrm flipV="1">
              <a:off x="1052" y="14"/>
              <a:ext cx="1" cy="418"/>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924" name="Line 48"/>
            <p:cNvSpPr>
              <a:spLocks noChangeShapeType="1"/>
            </p:cNvSpPr>
            <p:nvPr/>
          </p:nvSpPr>
          <p:spPr bwMode="auto">
            <a:xfrm flipV="1">
              <a:off x="96" y="0"/>
              <a:ext cx="1" cy="418"/>
            </a:xfrm>
            <a:prstGeom prst="line">
              <a:avLst/>
            </a:prstGeom>
            <a:noFill/>
            <a:ln w="57150">
              <a:solidFill>
                <a:srgbClr val="808080"/>
              </a:solidFill>
              <a:miter lim="800000"/>
            </a:ln>
            <a:extLst>
              <a:ext uri="{909E8E84-426E-40DD-AFC4-6F175D3DCCD1}">
                <a14:hiddenFill xmlns:a14="http://schemas.microsoft.com/office/drawing/2010/main">
                  <a:noFill/>
                </a14:hiddenFill>
              </a:ext>
            </a:extLst>
          </p:spPr>
          <p:txBody>
            <a:bodyPr/>
            <a:lstStyle/>
            <a:p>
              <a:endParaRPr lang="zh-CN" altLang="en-US"/>
            </a:p>
          </p:txBody>
        </p:sp>
      </p:grpSp>
      <p:grpSp>
        <p:nvGrpSpPr>
          <p:cNvPr id="11313" name="Group 49"/>
          <p:cNvGrpSpPr/>
          <p:nvPr/>
        </p:nvGrpSpPr>
        <p:grpSpPr bwMode="auto">
          <a:xfrm rot="2202031">
            <a:off x="6248401" y="1"/>
            <a:ext cx="3344863" cy="6607175"/>
            <a:chOff x="0" y="0"/>
            <a:chExt cx="3585" cy="7527"/>
          </a:xfrm>
        </p:grpSpPr>
        <p:grpSp>
          <p:nvGrpSpPr>
            <p:cNvPr id="35849" name="Group 50"/>
            <p:cNvGrpSpPr/>
            <p:nvPr/>
          </p:nvGrpSpPr>
          <p:grpSpPr bwMode="auto">
            <a:xfrm rot="-5356588">
              <a:off x="759" y="-474"/>
              <a:ext cx="2348" cy="3295"/>
              <a:chOff x="0" y="0"/>
              <a:chExt cx="2384" cy="4425"/>
            </a:xfrm>
          </p:grpSpPr>
          <p:sp>
            <p:nvSpPr>
              <p:cNvPr id="35882" name="Arc 51"/>
              <p:cNvSpPr>
                <a:spLocks noChangeArrowheads="1"/>
              </p:cNvSpPr>
              <p:nvPr/>
            </p:nvSpPr>
            <p:spPr bwMode="auto">
              <a:xfrm>
                <a:off x="0" y="0"/>
                <a:ext cx="1740" cy="2445"/>
              </a:xfrm>
              <a:custGeom>
                <a:avLst/>
                <a:gdLst>
                  <a:gd name="T0" fmla="*/ 0 w 21600"/>
                  <a:gd name="T1" fmla="*/ 0 h 21600"/>
                  <a:gd name="T2" fmla="*/ 1740 w 21600"/>
                  <a:gd name="T3" fmla="*/ 2445 h 21600"/>
                  <a:gd name="T4" fmla="*/ 0 w 21600"/>
                  <a:gd name="T5" fmla="*/ 0 h 21600"/>
                  <a:gd name="T6" fmla="*/ 1740 w 21600"/>
                  <a:gd name="T7" fmla="*/ 2445 h 21600"/>
                  <a:gd name="T8" fmla="*/ 0 w 21600"/>
                  <a:gd name="T9" fmla="*/ 2445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7620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83" name="Arc 52"/>
              <p:cNvSpPr>
                <a:spLocks noChangeArrowheads="1"/>
              </p:cNvSpPr>
              <p:nvPr/>
            </p:nvSpPr>
            <p:spPr bwMode="auto">
              <a:xfrm flipH="1" flipV="1">
                <a:off x="1738" y="2325"/>
                <a:ext cx="646" cy="2100"/>
              </a:xfrm>
              <a:custGeom>
                <a:avLst/>
                <a:gdLst>
                  <a:gd name="T0" fmla="*/ 0 w 21600"/>
                  <a:gd name="T1" fmla="*/ 0 h 21600"/>
                  <a:gd name="T2" fmla="*/ 646 w 21600"/>
                  <a:gd name="T3" fmla="*/ 2100 h 21600"/>
                  <a:gd name="T4" fmla="*/ 0 w 21600"/>
                  <a:gd name="T5" fmla="*/ 0 h 21600"/>
                  <a:gd name="T6" fmla="*/ 646 w 21600"/>
                  <a:gd name="T7" fmla="*/ 2100 h 21600"/>
                  <a:gd name="T8" fmla="*/ 0 w 21600"/>
                  <a:gd name="T9" fmla="*/ 210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7620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5850" name="Group 53"/>
            <p:cNvGrpSpPr/>
            <p:nvPr/>
          </p:nvGrpSpPr>
          <p:grpSpPr bwMode="auto">
            <a:xfrm>
              <a:off x="0" y="2310"/>
              <a:ext cx="558" cy="5217"/>
              <a:chOff x="0" y="0"/>
              <a:chExt cx="558" cy="5217"/>
            </a:xfrm>
          </p:grpSpPr>
          <p:sp>
            <p:nvSpPr>
              <p:cNvPr id="35851" name="Rectangle 54"/>
              <p:cNvSpPr>
                <a:spLocks noChangeArrowheads="1"/>
              </p:cNvSpPr>
              <p:nvPr/>
            </p:nvSpPr>
            <p:spPr bwMode="auto">
              <a:xfrm>
                <a:off x="60" y="627"/>
                <a:ext cx="430" cy="1935"/>
              </a:xfrm>
              <a:prstGeom prst="rect">
                <a:avLst/>
              </a:prstGeom>
              <a:gradFill rotWithShape="0">
                <a:gsLst>
                  <a:gs pos="0">
                    <a:srgbClr val="E3DAD1"/>
                  </a:gs>
                  <a:gs pos="100000">
                    <a:srgbClr val="663300"/>
                  </a:gs>
                </a:gsLst>
                <a:lin ang="18900000" scaled="1"/>
              </a:gra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52" name="AutoShape 55"/>
              <p:cNvSpPr>
                <a:spLocks noChangeArrowheads="1"/>
              </p:cNvSpPr>
              <p:nvPr/>
            </p:nvSpPr>
            <p:spPr bwMode="auto">
              <a:xfrm flipV="1">
                <a:off x="66" y="501"/>
                <a:ext cx="420" cy="123"/>
              </a:xfrm>
              <a:custGeom>
                <a:avLst/>
                <a:gdLst>
                  <a:gd name="T0" fmla="*/ 0 w 21600"/>
                  <a:gd name="T1" fmla="*/ 0 h 21600"/>
                  <a:gd name="T2" fmla="*/ 105 w 21600"/>
                  <a:gd name="T3" fmla="*/ 123 h 21600"/>
                  <a:gd name="T4" fmla="*/ 315 w 21600"/>
                  <a:gd name="T5" fmla="*/ 123 h 21600"/>
                  <a:gd name="T6" fmla="*/ 42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5400" y="21600"/>
                    </a:lnTo>
                    <a:lnTo>
                      <a:pt x="16200" y="21600"/>
                    </a:lnTo>
                    <a:lnTo>
                      <a:pt x="21600" y="0"/>
                    </a:lnTo>
                    <a:lnTo>
                      <a:pt x="0" y="0"/>
                    </a:lnTo>
                    <a:close/>
                  </a:path>
                </a:pathLst>
              </a:custGeom>
              <a:solidFill>
                <a:srgbClr val="000000"/>
              </a:solidFill>
              <a:ln w="19050">
                <a:solidFill>
                  <a:srgbClr val="000000"/>
                </a:solidFill>
                <a:bevel/>
              </a:ln>
            </p:spPr>
            <p:txBody>
              <a:bodyPr/>
              <a:lstStyle/>
              <a:p>
                <a:endParaRPr lang="zh-CN" altLang="en-US"/>
              </a:p>
            </p:txBody>
          </p:sp>
          <p:sp>
            <p:nvSpPr>
              <p:cNvPr id="35853" name="Rectangle 56"/>
              <p:cNvSpPr>
                <a:spLocks noChangeArrowheads="1"/>
              </p:cNvSpPr>
              <p:nvPr/>
            </p:nvSpPr>
            <p:spPr bwMode="auto">
              <a:xfrm>
                <a:off x="0" y="2562"/>
                <a:ext cx="556" cy="195"/>
              </a:xfrm>
              <a:prstGeom prst="rect">
                <a:avLst/>
              </a:prstGeom>
              <a:gradFill rotWithShape="0">
                <a:gsLst>
                  <a:gs pos="0">
                    <a:srgbClr val="996600"/>
                  </a:gs>
                  <a:gs pos="100000">
                    <a:srgbClr val="472F00"/>
                  </a:gs>
                </a:gsLst>
                <a:lin ang="18900000" scaled="1"/>
              </a:gra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54" name="Rectangle 57"/>
              <p:cNvSpPr>
                <a:spLocks noChangeArrowheads="1"/>
              </p:cNvSpPr>
              <p:nvPr/>
            </p:nvSpPr>
            <p:spPr bwMode="auto">
              <a:xfrm>
                <a:off x="2" y="2757"/>
                <a:ext cx="556" cy="114"/>
              </a:xfrm>
              <a:prstGeom prst="rect">
                <a:avLst/>
              </a:prstGeom>
              <a:solidFill>
                <a:srgbClr val="00000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55" name="Rectangle 58"/>
              <p:cNvSpPr>
                <a:spLocks noChangeArrowheads="1"/>
              </p:cNvSpPr>
              <p:nvPr/>
            </p:nvSpPr>
            <p:spPr bwMode="auto">
              <a:xfrm>
                <a:off x="164" y="2871"/>
                <a:ext cx="240" cy="63"/>
              </a:xfrm>
              <a:prstGeom prst="rect">
                <a:avLst/>
              </a:prstGeom>
              <a:solidFill>
                <a:srgbClr val="00000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56" name="Rectangle 59"/>
              <p:cNvSpPr>
                <a:spLocks noChangeArrowheads="1"/>
              </p:cNvSpPr>
              <p:nvPr/>
            </p:nvSpPr>
            <p:spPr bwMode="auto">
              <a:xfrm>
                <a:off x="220" y="2937"/>
                <a:ext cx="136" cy="708"/>
              </a:xfrm>
              <a:prstGeom prst="rect">
                <a:avLst/>
              </a:prstGeom>
              <a:solidFill>
                <a:srgbClr val="C0C0C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57" name="Rectangle 60"/>
              <p:cNvSpPr>
                <a:spLocks noChangeArrowheads="1"/>
              </p:cNvSpPr>
              <p:nvPr/>
            </p:nvSpPr>
            <p:spPr bwMode="auto">
              <a:xfrm>
                <a:off x="200" y="3645"/>
                <a:ext cx="178" cy="936"/>
              </a:xfrm>
              <a:prstGeom prst="rect">
                <a:avLst/>
              </a:prstGeom>
              <a:solidFill>
                <a:srgbClr val="C0C0C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58" name="AutoShape 61"/>
              <p:cNvSpPr>
                <a:spLocks noChangeArrowheads="1"/>
              </p:cNvSpPr>
              <p:nvPr/>
            </p:nvSpPr>
            <p:spPr bwMode="auto">
              <a:xfrm>
                <a:off x="230" y="4587"/>
                <a:ext cx="116" cy="630"/>
              </a:xfrm>
              <a:custGeom>
                <a:avLst/>
                <a:gdLst>
                  <a:gd name="T0" fmla="*/ 0 w 21600"/>
                  <a:gd name="T1" fmla="*/ 0 h 21600"/>
                  <a:gd name="T2" fmla="*/ 44 w 21600"/>
                  <a:gd name="T3" fmla="*/ 630 h 21600"/>
                  <a:gd name="T4" fmla="*/ 72 w 21600"/>
                  <a:gd name="T5" fmla="*/ 630 h 21600"/>
                  <a:gd name="T6" fmla="*/ 116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8193" y="21600"/>
                    </a:lnTo>
                    <a:lnTo>
                      <a:pt x="13407" y="21600"/>
                    </a:lnTo>
                    <a:lnTo>
                      <a:pt x="21600" y="0"/>
                    </a:lnTo>
                    <a:lnTo>
                      <a:pt x="0" y="0"/>
                    </a:lnTo>
                    <a:close/>
                  </a:path>
                </a:pathLst>
              </a:custGeom>
              <a:solidFill>
                <a:srgbClr val="C0C0C0"/>
              </a:solidFill>
              <a:ln w="19050">
                <a:solidFill>
                  <a:srgbClr val="000000"/>
                </a:solidFill>
                <a:bevel/>
              </a:ln>
            </p:spPr>
            <p:txBody>
              <a:bodyPr/>
              <a:lstStyle/>
              <a:p>
                <a:endParaRPr lang="zh-CN" altLang="en-US"/>
              </a:p>
            </p:txBody>
          </p:sp>
          <p:sp>
            <p:nvSpPr>
              <p:cNvPr id="35859" name="Rectangle 62"/>
              <p:cNvSpPr>
                <a:spLocks noChangeArrowheads="1"/>
              </p:cNvSpPr>
              <p:nvPr/>
            </p:nvSpPr>
            <p:spPr bwMode="auto">
              <a:xfrm>
                <a:off x="186" y="0"/>
                <a:ext cx="182" cy="507"/>
              </a:xfrm>
              <a:prstGeom prst="rect">
                <a:avLst/>
              </a:prstGeom>
              <a:solidFill>
                <a:srgbClr val="969696"/>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60" name="Line 63"/>
              <p:cNvSpPr>
                <a:spLocks noChangeShapeType="1"/>
              </p:cNvSpPr>
              <p:nvPr/>
            </p:nvSpPr>
            <p:spPr bwMode="auto">
              <a:xfrm>
                <a:off x="240" y="5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1" name="Line 64"/>
              <p:cNvSpPr>
                <a:spLocks noChangeShapeType="1"/>
              </p:cNvSpPr>
              <p:nvPr/>
            </p:nvSpPr>
            <p:spPr bwMode="auto">
              <a:xfrm>
                <a:off x="236" y="132"/>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2" name="Line 65"/>
              <p:cNvSpPr>
                <a:spLocks noChangeShapeType="1"/>
              </p:cNvSpPr>
              <p:nvPr/>
            </p:nvSpPr>
            <p:spPr bwMode="auto">
              <a:xfrm>
                <a:off x="240" y="20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3" name="Line 66"/>
              <p:cNvSpPr>
                <a:spLocks noChangeShapeType="1"/>
              </p:cNvSpPr>
              <p:nvPr/>
            </p:nvSpPr>
            <p:spPr bwMode="auto">
              <a:xfrm>
                <a:off x="240" y="261"/>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4" name="Line 67"/>
              <p:cNvSpPr>
                <a:spLocks noChangeShapeType="1"/>
              </p:cNvSpPr>
              <p:nvPr/>
            </p:nvSpPr>
            <p:spPr bwMode="auto">
              <a:xfrm>
                <a:off x="240" y="330"/>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5" name="Line 68"/>
              <p:cNvSpPr>
                <a:spLocks noChangeShapeType="1"/>
              </p:cNvSpPr>
              <p:nvPr/>
            </p:nvSpPr>
            <p:spPr bwMode="auto">
              <a:xfrm>
                <a:off x="246" y="396"/>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6" name="Line 69"/>
              <p:cNvSpPr>
                <a:spLocks noChangeShapeType="1"/>
              </p:cNvSpPr>
              <p:nvPr/>
            </p:nvSpPr>
            <p:spPr bwMode="auto">
              <a:xfrm>
                <a:off x="240" y="456"/>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7" name="Line 70"/>
              <p:cNvSpPr>
                <a:spLocks noChangeShapeType="1"/>
              </p:cNvSpPr>
              <p:nvPr/>
            </p:nvSpPr>
            <p:spPr bwMode="auto">
              <a:xfrm>
                <a:off x="190" y="426"/>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8" name="Line 71"/>
              <p:cNvSpPr>
                <a:spLocks noChangeShapeType="1"/>
              </p:cNvSpPr>
              <p:nvPr/>
            </p:nvSpPr>
            <p:spPr bwMode="auto">
              <a:xfrm>
                <a:off x="192" y="35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69" name="Line 72"/>
              <p:cNvSpPr>
                <a:spLocks noChangeShapeType="1"/>
              </p:cNvSpPr>
              <p:nvPr/>
            </p:nvSpPr>
            <p:spPr bwMode="auto">
              <a:xfrm>
                <a:off x="192" y="29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0" name="Line 73"/>
              <p:cNvSpPr>
                <a:spLocks noChangeShapeType="1"/>
              </p:cNvSpPr>
              <p:nvPr/>
            </p:nvSpPr>
            <p:spPr bwMode="auto">
              <a:xfrm>
                <a:off x="188" y="23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1" name="Line 74"/>
              <p:cNvSpPr>
                <a:spLocks noChangeShapeType="1"/>
              </p:cNvSpPr>
              <p:nvPr/>
            </p:nvSpPr>
            <p:spPr bwMode="auto">
              <a:xfrm>
                <a:off x="188" y="99"/>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2" name="Line 75"/>
              <p:cNvSpPr>
                <a:spLocks noChangeShapeType="1"/>
              </p:cNvSpPr>
              <p:nvPr/>
            </p:nvSpPr>
            <p:spPr bwMode="auto">
              <a:xfrm>
                <a:off x="192" y="168"/>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3" name="Rectangle 76"/>
              <p:cNvSpPr>
                <a:spLocks noChangeArrowheads="1"/>
              </p:cNvSpPr>
              <p:nvPr/>
            </p:nvSpPr>
            <p:spPr bwMode="auto">
              <a:xfrm>
                <a:off x="226" y="2559"/>
                <a:ext cx="90" cy="195"/>
              </a:xfrm>
              <a:prstGeom prst="rect">
                <a:avLst/>
              </a:prstGeom>
              <a:gradFill rotWithShape="0">
                <a:gsLst>
                  <a:gs pos="0">
                    <a:srgbClr val="CC9900"/>
                  </a:gs>
                  <a:gs pos="100000">
                    <a:srgbClr val="5E4700"/>
                  </a:gs>
                </a:gsLst>
                <a:lin ang="18900000" scaled="1"/>
              </a:gra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5874" name="Line 77"/>
              <p:cNvSpPr>
                <a:spLocks noChangeShapeType="1"/>
              </p:cNvSpPr>
              <p:nvPr/>
            </p:nvSpPr>
            <p:spPr bwMode="auto">
              <a:xfrm>
                <a:off x="8" y="2688"/>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5" name="Line 78"/>
              <p:cNvSpPr>
                <a:spLocks noChangeShapeType="1"/>
              </p:cNvSpPr>
              <p:nvPr/>
            </p:nvSpPr>
            <p:spPr bwMode="auto">
              <a:xfrm>
                <a:off x="4" y="2646"/>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6" name="Line 79"/>
              <p:cNvSpPr>
                <a:spLocks noChangeShapeType="1"/>
              </p:cNvSpPr>
              <p:nvPr/>
            </p:nvSpPr>
            <p:spPr bwMode="auto">
              <a:xfrm>
                <a:off x="4" y="2604"/>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7" name="Line 80"/>
              <p:cNvSpPr>
                <a:spLocks noChangeShapeType="1"/>
              </p:cNvSpPr>
              <p:nvPr/>
            </p:nvSpPr>
            <p:spPr bwMode="auto">
              <a:xfrm>
                <a:off x="8" y="2724"/>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8" name="Line 81"/>
              <p:cNvSpPr>
                <a:spLocks noChangeShapeType="1"/>
              </p:cNvSpPr>
              <p:nvPr/>
            </p:nvSpPr>
            <p:spPr bwMode="auto">
              <a:xfrm>
                <a:off x="330" y="2649"/>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79" name="Line 82"/>
              <p:cNvSpPr>
                <a:spLocks noChangeShapeType="1"/>
              </p:cNvSpPr>
              <p:nvPr/>
            </p:nvSpPr>
            <p:spPr bwMode="auto">
              <a:xfrm>
                <a:off x="330" y="2607"/>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80" name="Line 83"/>
              <p:cNvSpPr>
                <a:spLocks noChangeShapeType="1"/>
              </p:cNvSpPr>
              <p:nvPr/>
            </p:nvSpPr>
            <p:spPr bwMode="auto">
              <a:xfrm>
                <a:off x="330" y="2685"/>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5881" name="Line 84"/>
              <p:cNvSpPr>
                <a:spLocks noChangeShapeType="1"/>
              </p:cNvSpPr>
              <p:nvPr/>
            </p:nvSpPr>
            <p:spPr bwMode="auto">
              <a:xfrm>
                <a:off x="324" y="2721"/>
                <a:ext cx="224"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grpSp>
      </p:grpSp>
      <p:sp>
        <p:nvSpPr>
          <p:cNvPr id="11349" name="AutoShape 86" descr="5%"/>
          <p:cNvSpPr>
            <a:spLocks noChangeArrowheads="1"/>
          </p:cNvSpPr>
          <p:nvPr/>
        </p:nvSpPr>
        <p:spPr bwMode="auto">
          <a:xfrm>
            <a:off x="6934200" y="3733800"/>
            <a:ext cx="2362200" cy="1219200"/>
          </a:xfrm>
          <a:prstGeom prst="wedgeEllipseCallout">
            <a:avLst>
              <a:gd name="adj1" fmla="val -129639"/>
              <a:gd name="adj2" fmla="val 61588"/>
            </a:avLst>
          </a:prstGeom>
          <a:blipFill dpi="0" rotWithShape="0">
            <a:blip r:embed="rId1"/>
            <a:srcRect/>
            <a:tile tx="0" ty="0" sx="100000" sy="100000" flip="none" algn="tl"/>
          </a:blipFill>
          <a:ln w="9525">
            <a:solidFill>
              <a:schemeClr val="accent2"/>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t>焊点</a:t>
            </a:r>
            <a:endParaRPr lang="zh-CN" altLang="en-US" sz="3200" b="1"/>
          </a:p>
        </p:txBody>
      </p:sp>
      <p:sp>
        <p:nvSpPr>
          <p:cNvPr id="11350" name="Freeform 88"/>
          <p:cNvSpPr>
            <a:spLocks noChangeArrowheads="1"/>
          </p:cNvSpPr>
          <p:nvPr/>
        </p:nvSpPr>
        <p:spPr bwMode="auto">
          <a:xfrm>
            <a:off x="4475164" y="4757738"/>
            <a:ext cx="649287" cy="374650"/>
          </a:xfrm>
          <a:custGeom>
            <a:avLst/>
            <a:gdLst>
              <a:gd name="T0" fmla="*/ 63500 w 409"/>
              <a:gd name="T1" fmla="*/ 371475 h 236"/>
              <a:gd name="T2" fmla="*/ 200025 w 409"/>
              <a:gd name="T3" fmla="*/ 184150 h 236"/>
              <a:gd name="T4" fmla="*/ 327025 w 409"/>
              <a:gd name="T5" fmla="*/ 0 h 236"/>
              <a:gd name="T6" fmla="*/ 447675 w 409"/>
              <a:gd name="T7" fmla="*/ 196850 h 236"/>
              <a:gd name="T8" fmla="*/ 585787 w 409"/>
              <a:gd name="T9" fmla="*/ 374650 h 236"/>
              <a:gd name="T10" fmla="*/ 63500 w 409"/>
              <a:gd name="T11" fmla="*/ 371475 h 2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09" h="236">
                <a:moveTo>
                  <a:pt x="40" y="234"/>
                </a:moveTo>
                <a:cubicBezTo>
                  <a:pt x="0" y="214"/>
                  <a:pt x="98" y="158"/>
                  <a:pt x="126" y="116"/>
                </a:cubicBezTo>
                <a:cubicBezTo>
                  <a:pt x="153" y="75"/>
                  <a:pt x="173" y="3"/>
                  <a:pt x="206" y="0"/>
                </a:cubicBezTo>
                <a:cubicBezTo>
                  <a:pt x="232" y="1"/>
                  <a:pt x="255" y="84"/>
                  <a:pt x="282" y="124"/>
                </a:cubicBezTo>
                <a:cubicBezTo>
                  <a:pt x="307" y="162"/>
                  <a:pt x="409" y="216"/>
                  <a:pt x="369" y="236"/>
                </a:cubicBezTo>
                <a:lnTo>
                  <a:pt x="40" y="234"/>
                </a:lnTo>
                <a:close/>
              </a:path>
            </a:pathLst>
          </a:custGeom>
          <a:gradFill rotWithShape="0">
            <a:gsLst>
              <a:gs pos="0">
                <a:srgbClr val="E0E0E0"/>
              </a:gs>
              <a:gs pos="50000">
                <a:srgbClr val="808080"/>
              </a:gs>
              <a:gs pos="100000">
                <a:srgbClr val="E0E0E0"/>
              </a:gs>
            </a:gsLst>
            <a:lin ang="0" scaled="1"/>
          </a:gradFill>
          <a:ln w="38100">
            <a:solidFill>
              <a:srgbClr val="808080"/>
            </a:solidFill>
            <a:miter lim="800000"/>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p:cTn id="7" dur="500" fill="hold"/>
                                        <p:tgtEl>
                                          <p:spTgt spid="11266"/>
                                        </p:tgtEl>
                                        <p:attrNameLst>
                                          <p:attrName>ppt_x</p:attrName>
                                        </p:attrNameLst>
                                      </p:cBhvr>
                                      <p:tavLst>
                                        <p:tav tm="0">
                                          <p:val>
                                            <p:strVal val="0-#ppt_w/2"/>
                                          </p:val>
                                        </p:tav>
                                        <p:tav tm="100000">
                                          <p:val>
                                            <p:strVal val="#ppt_x"/>
                                          </p:val>
                                        </p:tav>
                                      </p:tavLst>
                                    </p:anim>
                                    <p:anim calcmode="lin" valueType="num">
                                      <p:cBhvr>
                                        <p:cTn id="8" dur="500" fill="hold"/>
                                        <p:tgtEl>
                                          <p:spTgt spid="1126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7"/>
                                        </p:tgtEl>
                                        <p:attrNameLst>
                                          <p:attrName>style.visibility</p:attrName>
                                        </p:attrNameLst>
                                      </p:cBhvr>
                                      <p:to>
                                        <p:strVal val="visible"/>
                                      </p:to>
                                    </p:set>
                                    <p:anim calcmode="lin" valueType="num">
                                      <p:cBhvr>
                                        <p:cTn id="13" dur="500" fill="hold"/>
                                        <p:tgtEl>
                                          <p:spTgt spid="11267"/>
                                        </p:tgtEl>
                                        <p:attrNameLst>
                                          <p:attrName>ppt_x</p:attrName>
                                        </p:attrNameLst>
                                      </p:cBhvr>
                                      <p:tavLst>
                                        <p:tav tm="0">
                                          <p:val>
                                            <p:strVal val="#ppt_x"/>
                                          </p:val>
                                        </p:tav>
                                        <p:tav tm="100000">
                                          <p:val>
                                            <p:strVal val="#ppt_x"/>
                                          </p:val>
                                        </p:tav>
                                      </p:tavLst>
                                    </p:anim>
                                    <p:anim calcmode="lin" valueType="num">
                                      <p:cBhvr>
                                        <p:cTn id="14" dur="500" fill="hold"/>
                                        <p:tgtEl>
                                          <p:spTgt spid="1126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271"/>
                                        </p:tgtEl>
                                        <p:attrNameLst>
                                          <p:attrName>style.visibility</p:attrName>
                                        </p:attrNameLst>
                                      </p:cBhvr>
                                      <p:to>
                                        <p:strVal val="visible"/>
                                      </p:to>
                                    </p:set>
                                    <p:anim calcmode="lin" valueType="num">
                                      <p:cBhvr>
                                        <p:cTn id="19" dur="500" fill="hold"/>
                                        <p:tgtEl>
                                          <p:spTgt spid="11271"/>
                                        </p:tgtEl>
                                        <p:attrNameLst>
                                          <p:attrName>ppt_x</p:attrName>
                                        </p:attrNameLst>
                                      </p:cBhvr>
                                      <p:tavLst>
                                        <p:tav tm="0">
                                          <p:val>
                                            <p:strVal val="#ppt_x"/>
                                          </p:val>
                                        </p:tav>
                                        <p:tav tm="100000">
                                          <p:val>
                                            <p:strVal val="#ppt_x"/>
                                          </p:val>
                                        </p:tav>
                                      </p:tavLst>
                                    </p:anim>
                                    <p:anim calcmode="lin" valueType="num">
                                      <p:cBhvr>
                                        <p:cTn id="20" dur="500" fill="hold"/>
                                        <p:tgtEl>
                                          <p:spTgt spid="1127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1313"/>
                                        </p:tgtEl>
                                        <p:attrNameLst>
                                          <p:attrName>style.visibility</p:attrName>
                                        </p:attrNameLst>
                                      </p:cBhvr>
                                      <p:to>
                                        <p:strVal val="visible"/>
                                      </p:to>
                                    </p:set>
                                    <p:anim calcmode="lin" valueType="num">
                                      <p:cBhvr>
                                        <p:cTn id="25" dur="500" fill="hold"/>
                                        <p:tgtEl>
                                          <p:spTgt spid="11313"/>
                                        </p:tgtEl>
                                        <p:attrNameLst>
                                          <p:attrName>ppt_x</p:attrName>
                                        </p:attrNameLst>
                                      </p:cBhvr>
                                      <p:tavLst>
                                        <p:tav tm="0">
                                          <p:val>
                                            <p:strVal val="1+#ppt_w/2"/>
                                          </p:val>
                                        </p:tav>
                                        <p:tav tm="100000">
                                          <p:val>
                                            <p:strVal val="#ppt_x"/>
                                          </p:val>
                                        </p:tav>
                                      </p:tavLst>
                                    </p:anim>
                                    <p:anim calcmode="lin" valueType="num">
                                      <p:cBhvr>
                                        <p:cTn id="26" dur="500" fill="hold"/>
                                        <p:tgtEl>
                                          <p:spTgt spid="113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1268"/>
                                        </p:tgtEl>
                                        <p:attrNameLst>
                                          <p:attrName>style.visibility</p:attrName>
                                        </p:attrNameLst>
                                      </p:cBhvr>
                                      <p:to>
                                        <p:strVal val="visible"/>
                                      </p:to>
                                    </p:set>
                                    <p:anim calcmode="lin" valueType="num">
                                      <p:cBhvr>
                                        <p:cTn id="31" dur="500" fill="hold"/>
                                        <p:tgtEl>
                                          <p:spTgt spid="11268"/>
                                        </p:tgtEl>
                                        <p:attrNameLst>
                                          <p:attrName>ppt_x</p:attrName>
                                        </p:attrNameLst>
                                      </p:cBhvr>
                                      <p:tavLst>
                                        <p:tav tm="0">
                                          <p:val>
                                            <p:strVal val="0-#ppt_w/2"/>
                                          </p:val>
                                        </p:tav>
                                        <p:tav tm="100000">
                                          <p:val>
                                            <p:strVal val="#ppt_x"/>
                                          </p:val>
                                        </p:tav>
                                      </p:tavLst>
                                    </p:anim>
                                    <p:anim calcmode="lin" valueType="num">
                                      <p:cBhvr>
                                        <p:cTn id="32" dur="500" fill="hold"/>
                                        <p:tgtEl>
                                          <p:spTgt spid="1126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11350"/>
                                        </p:tgtEl>
                                        <p:attrNameLst>
                                          <p:attrName>style.visibility</p:attrName>
                                        </p:attrNameLst>
                                      </p:cBhvr>
                                      <p:to>
                                        <p:strVal val="visible"/>
                                      </p:to>
                                    </p:set>
                                    <p:animEffect transition="in" filter="barn(outVertical)">
                                      <p:cBhvr>
                                        <p:cTn id="37" dur="500"/>
                                        <p:tgtEl>
                                          <p:spTgt spid="1135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11349"/>
                                        </p:tgtEl>
                                        <p:attrNameLst>
                                          <p:attrName>style.visibility</p:attrName>
                                        </p:attrNameLst>
                                      </p:cBhvr>
                                      <p:to>
                                        <p:strVal val="visible"/>
                                      </p:to>
                                    </p:set>
                                    <p:animEffect transition="in" filter="barn(outVertical)">
                                      <p:cBhvr>
                                        <p:cTn id="42" dur="500"/>
                                        <p:tgtEl>
                                          <p:spTgt spid="11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349"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6" name="Group 2"/>
          <p:cNvGrpSpPr/>
          <p:nvPr/>
        </p:nvGrpSpPr>
        <p:grpSpPr bwMode="auto">
          <a:xfrm>
            <a:off x="5153026" y="3711576"/>
            <a:ext cx="601663" cy="709613"/>
            <a:chOff x="0" y="0"/>
            <a:chExt cx="379" cy="447"/>
          </a:xfrm>
        </p:grpSpPr>
        <p:sp>
          <p:nvSpPr>
            <p:cNvPr id="36919" name="Arc 3"/>
            <p:cNvSpPr>
              <a:spLocks noChangeArrowheads="1"/>
            </p:cNvSpPr>
            <p:nvPr/>
          </p:nvSpPr>
          <p:spPr bwMode="auto">
            <a:xfrm rot="-7447758" flipH="1" flipV="1">
              <a:off x="-30" y="293"/>
              <a:ext cx="213" cy="62"/>
            </a:xfrm>
            <a:custGeom>
              <a:avLst/>
              <a:gdLst>
                <a:gd name="T0" fmla="*/ 0 w 43200"/>
                <a:gd name="T1" fmla="*/ 62 h 21600"/>
                <a:gd name="T2" fmla="*/ 106 w 43200"/>
                <a:gd name="T3" fmla="*/ 0 h 21600"/>
                <a:gd name="T4" fmla="*/ 213 w 43200"/>
                <a:gd name="T5" fmla="*/ 62 h 21600"/>
                <a:gd name="T6" fmla="*/ 0 w 43200"/>
                <a:gd name="T7" fmla="*/ 62 h 21600"/>
                <a:gd name="T8" fmla="*/ 106 w 43200"/>
                <a:gd name="T9" fmla="*/ 0 h 21600"/>
                <a:gd name="T10" fmla="*/ 213 w 43200"/>
                <a:gd name="T11" fmla="*/ 62 h 21600"/>
                <a:gd name="T12" fmla="*/ 106 w 43200"/>
                <a:gd name="T13" fmla="*/ 62 h 21600"/>
                <a:gd name="T14" fmla="*/ 0 w 43200"/>
                <a:gd name="T15" fmla="*/ 62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20" name="Arc 4"/>
            <p:cNvSpPr>
              <a:spLocks noChangeArrowheads="1"/>
            </p:cNvSpPr>
            <p:nvPr/>
          </p:nvSpPr>
          <p:spPr bwMode="auto">
            <a:xfrm rot="-7445238" flipH="1" flipV="1">
              <a:off x="2" y="248"/>
              <a:ext cx="268" cy="78"/>
            </a:xfrm>
            <a:custGeom>
              <a:avLst/>
              <a:gdLst>
                <a:gd name="T0" fmla="*/ 0 w 43200"/>
                <a:gd name="T1" fmla="*/ 78 h 21600"/>
                <a:gd name="T2" fmla="*/ 134 w 43200"/>
                <a:gd name="T3" fmla="*/ 0 h 21600"/>
                <a:gd name="T4" fmla="*/ 268 w 43200"/>
                <a:gd name="T5" fmla="*/ 78 h 21600"/>
                <a:gd name="T6" fmla="*/ 0 w 43200"/>
                <a:gd name="T7" fmla="*/ 78 h 21600"/>
                <a:gd name="T8" fmla="*/ 134 w 43200"/>
                <a:gd name="T9" fmla="*/ 0 h 21600"/>
                <a:gd name="T10" fmla="*/ 268 w 43200"/>
                <a:gd name="T11" fmla="*/ 78 h 21600"/>
                <a:gd name="T12" fmla="*/ 134 w 43200"/>
                <a:gd name="T13" fmla="*/ 78 h 21600"/>
                <a:gd name="T14" fmla="*/ 0 w 43200"/>
                <a:gd name="T15" fmla="*/ 7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21" name="Arc 5"/>
            <p:cNvSpPr>
              <a:spLocks noChangeArrowheads="1"/>
            </p:cNvSpPr>
            <p:nvPr/>
          </p:nvSpPr>
          <p:spPr bwMode="auto">
            <a:xfrm rot="-7428485" flipH="1" flipV="1">
              <a:off x="48" y="207"/>
              <a:ext cx="290" cy="84"/>
            </a:xfrm>
            <a:custGeom>
              <a:avLst/>
              <a:gdLst>
                <a:gd name="T0" fmla="*/ 0 w 43200"/>
                <a:gd name="T1" fmla="*/ 84 h 21600"/>
                <a:gd name="T2" fmla="*/ 145 w 43200"/>
                <a:gd name="T3" fmla="*/ 0 h 21600"/>
                <a:gd name="T4" fmla="*/ 290 w 43200"/>
                <a:gd name="T5" fmla="*/ 84 h 21600"/>
                <a:gd name="T6" fmla="*/ 0 w 43200"/>
                <a:gd name="T7" fmla="*/ 84 h 21600"/>
                <a:gd name="T8" fmla="*/ 145 w 43200"/>
                <a:gd name="T9" fmla="*/ 0 h 21600"/>
                <a:gd name="T10" fmla="*/ 290 w 43200"/>
                <a:gd name="T11" fmla="*/ 84 h 21600"/>
                <a:gd name="T12" fmla="*/ 145 w 43200"/>
                <a:gd name="T13" fmla="*/ 84 h 21600"/>
                <a:gd name="T14" fmla="*/ 0 w 43200"/>
                <a:gd name="T15" fmla="*/ 84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22" name="Arc 6"/>
            <p:cNvSpPr>
              <a:spLocks noChangeArrowheads="1"/>
            </p:cNvSpPr>
            <p:nvPr/>
          </p:nvSpPr>
          <p:spPr bwMode="auto">
            <a:xfrm rot="-7434792" flipH="1" flipV="1">
              <a:off x="91" y="157"/>
              <a:ext cx="325" cy="96"/>
            </a:xfrm>
            <a:custGeom>
              <a:avLst/>
              <a:gdLst>
                <a:gd name="T0" fmla="*/ 0 w 43200"/>
                <a:gd name="T1" fmla="*/ 96 h 21600"/>
                <a:gd name="T2" fmla="*/ 163 w 43200"/>
                <a:gd name="T3" fmla="*/ 0 h 21600"/>
                <a:gd name="T4" fmla="*/ 325 w 43200"/>
                <a:gd name="T5" fmla="*/ 96 h 21600"/>
                <a:gd name="T6" fmla="*/ 0 w 43200"/>
                <a:gd name="T7" fmla="*/ 96 h 21600"/>
                <a:gd name="T8" fmla="*/ 163 w 43200"/>
                <a:gd name="T9" fmla="*/ 0 h 21600"/>
                <a:gd name="T10" fmla="*/ 325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23" name="Arc 7"/>
            <p:cNvSpPr>
              <a:spLocks noChangeArrowheads="1"/>
            </p:cNvSpPr>
            <p:nvPr/>
          </p:nvSpPr>
          <p:spPr bwMode="auto">
            <a:xfrm rot="-7434792" flipH="1" flipV="1">
              <a:off x="163" y="114"/>
              <a:ext cx="325" cy="96"/>
            </a:xfrm>
            <a:custGeom>
              <a:avLst/>
              <a:gdLst>
                <a:gd name="T0" fmla="*/ 0 w 43200"/>
                <a:gd name="T1" fmla="*/ 96 h 21600"/>
                <a:gd name="T2" fmla="*/ 163 w 43200"/>
                <a:gd name="T3" fmla="*/ 0 h 21600"/>
                <a:gd name="T4" fmla="*/ 325 w 43200"/>
                <a:gd name="T5" fmla="*/ 96 h 21600"/>
                <a:gd name="T6" fmla="*/ 0 w 43200"/>
                <a:gd name="T7" fmla="*/ 96 h 21600"/>
                <a:gd name="T8" fmla="*/ 163 w 43200"/>
                <a:gd name="T9" fmla="*/ 0 h 21600"/>
                <a:gd name="T10" fmla="*/ 325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762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24" name="Arc 8"/>
            <p:cNvSpPr>
              <a:spLocks noChangeArrowheads="1"/>
            </p:cNvSpPr>
            <p:nvPr/>
          </p:nvSpPr>
          <p:spPr bwMode="auto">
            <a:xfrm rot="-7447758" flipH="1" flipV="1">
              <a:off x="-62" y="326"/>
              <a:ext cx="178" cy="53"/>
            </a:xfrm>
            <a:custGeom>
              <a:avLst/>
              <a:gdLst>
                <a:gd name="T0" fmla="*/ 0 w 43200"/>
                <a:gd name="T1" fmla="*/ 53 h 21600"/>
                <a:gd name="T2" fmla="*/ 89 w 43200"/>
                <a:gd name="T3" fmla="*/ 0 h 21600"/>
                <a:gd name="T4" fmla="*/ 178 w 43200"/>
                <a:gd name="T5" fmla="*/ 53 h 21600"/>
                <a:gd name="T6" fmla="*/ 0 w 43200"/>
                <a:gd name="T7" fmla="*/ 53 h 21600"/>
                <a:gd name="T8" fmla="*/ 89 w 43200"/>
                <a:gd name="T9" fmla="*/ 0 h 21600"/>
                <a:gd name="T10" fmla="*/ 178 w 43200"/>
                <a:gd name="T11" fmla="*/ 53 h 21600"/>
                <a:gd name="T12" fmla="*/ 89 w 43200"/>
                <a:gd name="T13" fmla="*/ 53 h 21600"/>
                <a:gd name="T14" fmla="*/ 0 w 43200"/>
                <a:gd name="T15" fmla="*/ 53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2297" name="Rectangle 9"/>
          <p:cNvSpPr>
            <a:spLocks noGrp="1" noRot="1"/>
          </p:cNvSpPr>
          <p:nvPr>
            <p:ph type="title" idx="4294967295"/>
          </p:nvPr>
        </p:nvSpPr>
        <p:spPr>
          <a:xfrm>
            <a:off x="4138123" y="130659"/>
            <a:ext cx="4017963" cy="676275"/>
          </a:xfrm>
        </p:spPr>
        <p:txBody>
          <a:bodyPr anchor="ctr"/>
          <a:lstStyle/>
          <a:p>
            <a:pPr eaLnBrk="1" hangingPunct="1">
              <a:defRPr/>
            </a:pPr>
            <a:r>
              <a:rPr lang="zh-CN" altLang="en-US" sz="3600" dirty="0">
                <a:effectLst>
                  <a:outerShdw blurRad="38100" dist="38100" dir="2700000" algn="tl">
                    <a:srgbClr val="C0C0C0"/>
                  </a:outerShdw>
                </a:effectLst>
                <a:latin typeface="华文新魏" panose="02010800040101010101" pitchFamily="2" charset="-122"/>
                <a:ea typeface="华文新魏" panose="02010800040101010101" pitchFamily="2" charset="-122"/>
              </a:rPr>
              <a:t>焊接注意事项</a:t>
            </a:r>
            <a:endParaRPr lang="zh-CN" altLang="en-US" sz="3600"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grpSp>
        <p:nvGrpSpPr>
          <p:cNvPr id="12298" name="Group 11"/>
          <p:cNvGrpSpPr/>
          <p:nvPr/>
        </p:nvGrpSpPr>
        <p:grpSpPr bwMode="auto">
          <a:xfrm rot="1153153">
            <a:off x="5867401" y="1600201"/>
            <a:ext cx="3559175" cy="4778375"/>
            <a:chOff x="0" y="0"/>
            <a:chExt cx="2284" cy="3117"/>
          </a:xfrm>
        </p:grpSpPr>
        <p:grpSp>
          <p:nvGrpSpPr>
            <p:cNvPr id="36884" name="Group 12"/>
            <p:cNvGrpSpPr/>
            <p:nvPr/>
          </p:nvGrpSpPr>
          <p:grpSpPr bwMode="auto">
            <a:xfrm rot="-3154557">
              <a:off x="1252" y="-72"/>
              <a:ext cx="960" cy="1104"/>
              <a:chOff x="0" y="0"/>
              <a:chExt cx="2384" cy="4425"/>
            </a:xfrm>
          </p:grpSpPr>
          <p:sp>
            <p:nvSpPr>
              <p:cNvPr id="36917" name="Arc 13"/>
              <p:cNvSpPr>
                <a:spLocks noChangeArrowheads="1"/>
              </p:cNvSpPr>
              <p:nvPr/>
            </p:nvSpPr>
            <p:spPr bwMode="auto">
              <a:xfrm>
                <a:off x="0" y="0"/>
                <a:ext cx="1740" cy="2445"/>
              </a:xfrm>
              <a:custGeom>
                <a:avLst/>
                <a:gdLst>
                  <a:gd name="T0" fmla="*/ 0 w 21600"/>
                  <a:gd name="T1" fmla="*/ 0 h 21600"/>
                  <a:gd name="T2" fmla="*/ 1740 w 21600"/>
                  <a:gd name="T3" fmla="*/ 2445 h 21600"/>
                  <a:gd name="T4" fmla="*/ 0 w 21600"/>
                  <a:gd name="T5" fmla="*/ 0 h 21600"/>
                  <a:gd name="T6" fmla="*/ 1740 w 21600"/>
                  <a:gd name="T7" fmla="*/ 2445 h 21600"/>
                  <a:gd name="T8" fmla="*/ 0 w 21600"/>
                  <a:gd name="T9" fmla="*/ 2445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7620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918" name="Arc 14"/>
              <p:cNvSpPr>
                <a:spLocks noChangeArrowheads="1"/>
              </p:cNvSpPr>
              <p:nvPr/>
            </p:nvSpPr>
            <p:spPr bwMode="auto">
              <a:xfrm flipH="1" flipV="1">
                <a:off x="1738" y="2325"/>
                <a:ext cx="646" cy="2100"/>
              </a:xfrm>
              <a:custGeom>
                <a:avLst/>
                <a:gdLst>
                  <a:gd name="T0" fmla="*/ 0 w 21600"/>
                  <a:gd name="T1" fmla="*/ 0 h 21600"/>
                  <a:gd name="T2" fmla="*/ 646 w 21600"/>
                  <a:gd name="T3" fmla="*/ 2100 h 21600"/>
                  <a:gd name="T4" fmla="*/ 0 w 21600"/>
                  <a:gd name="T5" fmla="*/ 0 h 21600"/>
                  <a:gd name="T6" fmla="*/ 646 w 21600"/>
                  <a:gd name="T7" fmla="*/ 2100 h 21600"/>
                  <a:gd name="T8" fmla="*/ 0 w 21600"/>
                  <a:gd name="T9" fmla="*/ 210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76200">
                <a:solidFill>
                  <a:srgbClr val="80808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6885" name="Group 15"/>
            <p:cNvGrpSpPr/>
            <p:nvPr/>
          </p:nvGrpSpPr>
          <p:grpSpPr bwMode="auto">
            <a:xfrm rot="2202031">
              <a:off x="0" y="232"/>
              <a:ext cx="328" cy="2885"/>
              <a:chOff x="0" y="0"/>
              <a:chExt cx="558" cy="5217"/>
            </a:xfrm>
          </p:grpSpPr>
          <p:sp>
            <p:nvSpPr>
              <p:cNvPr id="36886" name="Rectangle 16"/>
              <p:cNvSpPr>
                <a:spLocks noChangeArrowheads="1"/>
              </p:cNvSpPr>
              <p:nvPr/>
            </p:nvSpPr>
            <p:spPr bwMode="auto">
              <a:xfrm>
                <a:off x="60" y="627"/>
                <a:ext cx="430" cy="1935"/>
              </a:xfrm>
              <a:prstGeom prst="rect">
                <a:avLst/>
              </a:prstGeom>
              <a:gradFill rotWithShape="0">
                <a:gsLst>
                  <a:gs pos="0">
                    <a:srgbClr val="E3DAD1"/>
                  </a:gs>
                  <a:gs pos="100000">
                    <a:srgbClr val="663300"/>
                  </a:gs>
                </a:gsLst>
                <a:lin ang="18900000" scaled="1"/>
              </a:gra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87" name="AutoShape 17"/>
              <p:cNvSpPr>
                <a:spLocks noChangeArrowheads="1"/>
              </p:cNvSpPr>
              <p:nvPr/>
            </p:nvSpPr>
            <p:spPr bwMode="auto">
              <a:xfrm flipV="1">
                <a:off x="66" y="501"/>
                <a:ext cx="420" cy="123"/>
              </a:xfrm>
              <a:custGeom>
                <a:avLst/>
                <a:gdLst>
                  <a:gd name="T0" fmla="*/ 0 w 21600"/>
                  <a:gd name="T1" fmla="*/ 0 h 21600"/>
                  <a:gd name="T2" fmla="*/ 105 w 21600"/>
                  <a:gd name="T3" fmla="*/ 123 h 21600"/>
                  <a:gd name="T4" fmla="*/ 315 w 21600"/>
                  <a:gd name="T5" fmla="*/ 123 h 21600"/>
                  <a:gd name="T6" fmla="*/ 420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5400" y="21600"/>
                    </a:lnTo>
                    <a:lnTo>
                      <a:pt x="16200" y="21600"/>
                    </a:lnTo>
                    <a:lnTo>
                      <a:pt x="21600" y="0"/>
                    </a:lnTo>
                    <a:lnTo>
                      <a:pt x="0" y="0"/>
                    </a:lnTo>
                    <a:close/>
                  </a:path>
                </a:pathLst>
              </a:custGeom>
              <a:solidFill>
                <a:srgbClr val="000000"/>
              </a:solidFill>
              <a:ln w="19050">
                <a:solidFill>
                  <a:srgbClr val="000000"/>
                </a:solidFill>
                <a:bevel/>
              </a:ln>
            </p:spPr>
            <p:txBody>
              <a:bodyPr/>
              <a:lstStyle/>
              <a:p>
                <a:endParaRPr lang="zh-CN" altLang="en-US"/>
              </a:p>
            </p:txBody>
          </p:sp>
          <p:sp>
            <p:nvSpPr>
              <p:cNvPr id="36888" name="Rectangle 18"/>
              <p:cNvSpPr>
                <a:spLocks noChangeArrowheads="1"/>
              </p:cNvSpPr>
              <p:nvPr/>
            </p:nvSpPr>
            <p:spPr bwMode="auto">
              <a:xfrm>
                <a:off x="0" y="2562"/>
                <a:ext cx="556" cy="195"/>
              </a:xfrm>
              <a:prstGeom prst="rect">
                <a:avLst/>
              </a:prstGeom>
              <a:gradFill rotWithShape="0">
                <a:gsLst>
                  <a:gs pos="0">
                    <a:srgbClr val="996600"/>
                  </a:gs>
                  <a:gs pos="100000">
                    <a:srgbClr val="472F00"/>
                  </a:gs>
                </a:gsLst>
                <a:lin ang="18900000" scaled="1"/>
              </a:gra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89" name="Rectangle 19"/>
              <p:cNvSpPr>
                <a:spLocks noChangeArrowheads="1"/>
              </p:cNvSpPr>
              <p:nvPr/>
            </p:nvSpPr>
            <p:spPr bwMode="auto">
              <a:xfrm>
                <a:off x="2" y="2757"/>
                <a:ext cx="556" cy="114"/>
              </a:xfrm>
              <a:prstGeom prst="rect">
                <a:avLst/>
              </a:prstGeom>
              <a:solidFill>
                <a:srgbClr val="00000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90" name="Rectangle 20"/>
              <p:cNvSpPr>
                <a:spLocks noChangeArrowheads="1"/>
              </p:cNvSpPr>
              <p:nvPr/>
            </p:nvSpPr>
            <p:spPr bwMode="auto">
              <a:xfrm>
                <a:off x="164" y="2871"/>
                <a:ext cx="240" cy="63"/>
              </a:xfrm>
              <a:prstGeom prst="rect">
                <a:avLst/>
              </a:prstGeom>
              <a:solidFill>
                <a:srgbClr val="00000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91" name="Rectangle 21"/>
              <p:cNvSpPr>
                <a:spLocks noChangeArrowheads="1"/>
              </p:cNvSpPr>
              <p:nvPr/>
            </p:nvSpPr>
            <p:spPr bwMode="auto">
              <a:xfrm>
                <a:off x="220" y="2937"/>
                <a:ext cx="136" cy="708"/>
              </a:xfrm>
              <a:prstGeom prst="rect">
                <a:avLst/>
              </a:prstGeom>
              <a:solidFill>
                <a:srgbClr val="C0C0C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92" name="Rectangle 22"/>
              <p:cNvSpPr>
                <a:spLocks noChangeArrowheads="1"/>
              </p:cNvSpPr>
              <p:nvPr/>
            </p:nvSpPr>
            <p:spPr bwMode="auto">
              <a:xfrm>
                <a:off x="200" y="3645"/>
                <a:ext cx="178" cy="936"/>
              </a:xfrm>
              <a:prstGeom prst="rect">
                <a:avLst/>
              </a:prstGeom>
              <a:solidFill>
                <a:srgbClr val="C0C0C0"/>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93" name="AutoShape 23"/>
              <p:cNvSpPr>
                <a:spLocks noChangeArrowheads="1"/>
              </p:cNvSpPr>
              <p:nvPr/>
            </p:nvSpPr>
            <p:spPr bwMode="auto">
              <a:xfrm>
                <a:off x="230" y="4587"/>
                <a:ext cx="116" cy="630"/>
              </a:xfrm>
              <a:custGeom>
                <a:avLst/>
                <a:gdLst>
                  <a:gd name="T0" fmla="*/ 0 w 21600"/>
                  <a:gd name="T1" fmla="*/ 0 h 21600"/>
                  <a:gd name="T2" fmla="*/ 44 w 21600"/>
                  <a:gd name="T3" fmla="*/ 630 h 21600"/>
                  <a:gd name="T4" fmla="*/ 72 w 21600"/>
                  <a:gd name="T5" fmla="*/ 630 h 21600"/>
                  <a:gd name="T6" fmla="*/ 116 w 21600"/>
                  <a:gd name="T7" fmla="*/ 0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8193" y="21600"/>
                    </a:lnTo>
                    <a:lnTo>
                      <a:pt x="13407" y="21600"/>
                    </a:lnTo>
                    <a:lnTo>
                      <a:pt x="21600" y="0"/>
                    </a:lnTo>
                    <a:lnTo>
                      <a:pt x="0" y="0"/>
                    </a:lnTo>
                    <a:close/>
                  </a:path>
                </a:pathLst>
              </a:custGeom>
              <a:solidFill>
                <a:srgbClr val="C0C0C0"/>
              </a:solidFill>
              <a:ln w="19050">
                <a:solidFill>
                  <a:srgbClr val="000000"/>
                </a:solidFill>
                <a:bevel/>
              </a:ln>
            </p:spPr>
            <p:txBody>
              <a:bodyPr/>
              <a:lstStyle/>
              <a:p>
                <a:endParaRPr lang="zh-CN" altLang="en-US"/>
              </a:p>
            </p:txBody>
          </p:sp>
          <p:sp>
            <p:nvSpPr>
              <p:cNvPr id="36894" name="Rectangle 24"/>
              <p:cNvSpPr>
                <a:spLocks noChangeArrowheads="1"/>
              </p:cNvSpPr>
              <p:nvPr/>
            </p:nvSpPr>
            <p:spPr bwMode="auto">
              <a:xfrm>
                <a:off x="186" y="0"/>
                <a:ext cx="182" cy="507"/>
              </a:xfrm>
              <a:prstGeom prst="rect">
                <a:avLst/>
              </a:prstGeom>
              <a:solidFill>
                <a:srgbClr val="969696"/>
              </a:soli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95" name="Line 25"/>
              <p:cNvSpPr>
                <a:spLocks noChangeShapeType="1"/>
              </p:cNvSpPr>
              <p:nvPr/>
            </p:nvSpPr>
            <p:spPr bwMode="auto">
              <a:xfrm>
                <a:off x="240" y="5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896" name="Line 26"/>
              <p:cNvSpPr>
                <a:spLocks noChangeShapeType="1"/>
              </p:cNvSpPr>
              <p:nvPr/>
            </p:nvSpPr>
            <p:spPr bwMode="auto">
              <a:xfrm>
                <a:off x="236" y="132"/>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897" name="Line 27"/>
              <p:cNvSpPr>
                <a:spLocks noChangeShapeType="1"/>
              </p:cNvSpPr>
              <p:nvPr/>
            </p:nvSpPr>
            <p:spPr bwMode="auto">
              <a:xfrm>
                <a:off x="240" y="20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898" name="Line 28"/>
              <p:cNvSpPr>
                <a:spLocks noChangeShapeType="1"/>
              </p:cNvSpPr>
              <p:nvPr/>
            </p:nvSpPr>
            <p:spPr bwMode="auto">
              <a:xfrm>
                <a:off x="240" y="261"/>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899" name="Line 29"/>
              <p:cNvSpPr>
                <a:spLocks noChangeShapeType="1"/>
              </p:cNvSpPr>
              <p:nvPr/>
            </p:nvSpPr>
            <p:spPr bwMode="auto">
              <a:xfrm>
                <a:off x="240" y="330"/>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0" name="Line 30"/>
              <p:cNvSpPr>
                <a:spLocks noChangeShapeType="1"/>
              </p:cNvSpPr>
              <p:nvPr/>
            </p:nvSpPr>
            <p:spPr bwMode="auto">
              <a:xfrm>
                <a:off x="246" y="396"/>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1" name="Line 31"/>
              <p:cNvSpPr>
                <a:spLocks noChangeShapeType="1"/>
              </p:cNvSpPr>
              <p:nvPr/>
            </p:nvSpPr>
            <p:spPr bwMode="auto">
              <a:xfrm>
                <a:off x="240" y="456"/>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2" name="Line 32"/>
              <p:cNvSpPr>
                <a:spLocks noChangeShapeType="1"/>
              </p:cNvSpPr>
              <p:nvPr/>
            </p:nvSpPr>
            <p:spPr bwMode="auto">
              <a:xfrm>
                <a:off x="190" y="426"/>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3" name="Line 33"/>
              <p:cNvSpPr>
                <a:spLocks noChangeShapeType="1"/>
              </p:cNvSpPr>
              <p:nvPr/>
            </p:nvSpPr>
            <p:spPr bwMode="auto">
              <a:xfrm>
                <a:off x="192" y="35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4" name="Line 34"/>
              <p:cNvSpPr>
                <a:spLocks noChangeShapeType="1"/>
              </p:cNvSpPr>
              <p:nvPr/>
            </p:nvSpPr>
            <p:spPr bwMode="auto">
              <a:xfrm>
                <a:off x="192" y="29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5" name="Line 35"/>
              <p:cNvSpPr>
                <a:spLocks noChangeShapeType="1"/>
              </p:cNvSpPr>
              <p:nvPr/>
            </p:nvSpPr>
            <p:spPr bwMode="auto">
              <a:xfrm>
                <a:off x="188" y="237"/>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6" name="Line 36"/>
              <p:cNvSpPr>
                <a:spLocks noChangeShapeType="1"/>
              </p:cNvSpPr>
              <p:nvPr/>
            </p:nvSpPr>
            <p:spPr bwMode="auto">
              <a:xfrm>
                <a:off x="188" y="99"/>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7" name="Line 37"/>
              <p:cNvSpPr>
                <a:spLocks noChangeShapeType="1"/>
              </p:cNvSpPr>
              <p:nvPr/>
            </p:nvSpPr>
            <p:spPr bwMode="auto">
              <a:xfrm>
                <a:off x="192" y="168"/>
                <a:ext cx="120" cy="0"/>
              </a:xfrm>
              <a:prstGeom prst="line">
                <a:avLst/>
              </a:prstGeom>
              <a:noFill/>
              <a:ln w="19050">
                <a:solidFill>
                  <a:srgbClr val="0000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08" name="Rectangle 38"/>
              <p:cNvSpPr>
                <a:spLocks noChangeArrowheads="1"/>
              </p:cNvSpPr>
              <p:nvPr/>
            </p:nvSpPr>
            <p:spPr bwMode="auto">
              <a:xfrm>
                <a:off x="226" y="2559"/>
                <a:ext cx="90" cy="195"/>
              </a:xfrm>
              <a:prstGeom prst="rect">
                <a:avLst/>
              </a:prstGeom>
              <a:gradFill rotWithShape="0">
                <a:gsLst>
                  <a:gs pos="0">
                    <a:srgbClr val="CC9900"/>
                  </a:gs>
                  <a:gs pos="100000">
                    <a:srgbClr val="5E4700"/>
                  </a:gs>
                </a:gsLst>
                <a:lin ang="18900000" scaled="1"/>
              </a:gradFill>
              <a:ln w="19050">
                <a:solidFill>
                  <a:srgbClr val="000000"/>
                </a:solidFill>
                <a:bevel/>
              </a:ln>
            </p:spPr>
            <p:txBody>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909" name="Line 39"/>
              <p:cNvSpPr>
                <a:spLocks noChangeShapeType="1"/>
              </p:cNvSpPr>
              <p:nvPr/>
            </p:nvSpPr>
            <p:spPr bwMode="auto">
              <a:xfrm>
                <a:off x="8" y="2688"/>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10" name="Line 40"/>
              <p:cNvSpPr>
                <a:spLocks noChangeShapeType="1"/>
              </p:cNvSpPr>
              <p:nvPr/>
            </p:nvSpPr>
            <p:spPr bwMode="auto">
              <a:xfrm>
                <a:off x="4" y="2646"/>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11" name="Line 41"/>
              <p:cNvSpPr>
                <a:spLocks noChangeShapeType="1"/>
              </p:cNvSpPr>
              <p:nvPr/>
            </p:nvSpPr>
            <p:spPr bwMode="auto">
              <a:xfrm>
                <a:off x="4" y="2604"/>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12" name="Line 42"/>
              <p:cNvSpPr>
                <a:spLocks noChangeShapeType="1"/>
              </p:cNvSpPr>
              <p:nvPr/>
            </p:nvSpPr>
            <p:spPr bwMode="auto">
              <a:xfrm>
                <a:off x="8" y="2724"/>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13" name="Line 43"/>
              <p:cNvSpPr>
                <a:spLocks noChangeShapeType="1"/>
              </p:cNvSpPr>
              <p:nvPr/>
            </p:nvSpPr>
            <p:spPr bwMode="auto">
              <a:xfrm>
                <a:off x="330" y="2649"/>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14" name="Line 44"/>
              <p:cNvSpPr>
                <a:spLocks noChangeShapeType="1"/>
              </p:cNvSpPr>
              <p:nvPr/>
            </p:nvSpPr>
            <p:spPr bwMode="auto">
              <a:xfrm>
                <a:off x="330" y="2607"/>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15" name="Line 45"/>
              <p:cNvSpPr>
                <a:spLocks noChangeShapeType="1"/>
              </p:cNvSpPr>
              <p:nvPr/>
            </p:nvSpPr>
            <p:spPr bwMode="auto">
              <a:xfrm>
                <a:off x="330" y="2685"/>
                <a:ext cx="210"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916" name="Line 46"/>
              <p:cNvSpPr>
                <a:spLocks noChangeShapeType="1"/>
              </p:cNvSpPr>
              <p:nvPr/>
            </p:nvSpPr>
            <p:spPr bwMode="auto">
              <a:xfrm>
                <a:off x="324" y="2721"/>
                <a:ext cx="224" cy="0"/>
              </a:xfrm>
              <a:prstGeom prst="line">
                <a:avLst/>
              </a:prstGeom>
              <a:noFill/>
              <a:ln w="19050">
                <a:solidFill>
                  <a:srgbClr val="996600"/>
                </a:solidFill>
                <a:miter lim="800000"/>
              </a:ln>
              <a:extLst>
                <a:ext uri="{909E8E84-426E-40DD-AFC4-6F175D3DCCD1}">
                  <a14:hiddenFill xmlns:a14="http://schemas.microsoft.com/office/drawing/2010/main">
                    <a:noFill/>
                  </a14:hiddenFill>
                </a:ext>
              </a:extLst>
            </p:spPr>
            <p:txBody>
              <a:bodyPr/>
              <a:lstStyle/>
              <a:p>
                <a:endParaRPr lang="zh-CN" altLang="en-US"/>
              </a:p>
            </p:txBody>
          </p:sp>
        </p:grpSp>
      </p:grpSp>
      <p:sp>
        <p:nvSpPr>
          <p:cNvPr id="36869" name="Rectangle 47"/>
          <p:cNvSpPr>
            <a:spLocks noChangeArrowheads="1"/>
          </p:cNvSpPr>
          <p:nvPr/>
        </p:nvSpPr>
        <p:spPr bwMode="auto">
          <a:xfrm>
            <a:off x="4673600" y="4983163"/>
            <a:ext cx="1974850" cy="184150"/>
          </a:xfrm>
          <a:prstGeom prst="rect">
            <a:avLst/>
          </a:prstGeom>
          <a:solidFill>
            <a:schemeClr val="tx2"/>
          </a:solidFill>
          <a:ln w="9525">
            <a:solidFill>
              <a:schemeClr val="tx1"/>
            </a:solidFill>
            <a:bevel/>
          </a:ln>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70" name="Line 48"/>
          <p:cNvSpPr>
            <a:spLocks noChangeShapeType="1"/>
          </p:cNvSpPr>
          <p:nvPr/>
        </p:nvSpPr>
        <p:spPr bwMode="auto">
          <a:xfrm flipV="1">
            <a:off x="5243513" y="4425950"/>
            <a:ext cx="0" cy="598488"/>
          </a:xfrm>
          <a:prstGeom prst="line">
            <a:avLst/>
          </a:prstGeom>
          <a:noFill/>
          <a:ln w="28575">
            <a:solidFill>
              <a:schemeClr val="tx1"/>
            </a:solidFill>
            <a:miter lim="800000"/>
          </a:ln>
          <a:extLst>
            <a:ext uri="{909E8E84-426E-40DD-AFC4-6F175D3DCCD1}">
              <a14:hiddenFill xmlns:a14="http://schemas.microsoft.com/office/drawing/2010/main">
                <a:noFill/>
              </a14:hiddenFill>
            </a:ext>
          </a:extLst>
        </p:spPr>
        <p:txBody>
          <a:bodyPr/>
          <a:lstStyle/>
          <a:p>
            <a:endParaRPr lang="zh-CN" altLang="en-US"/>
          </a:p>
        </p:txBody>
      </p:sp>
      <p:sp>
        <p:nvSpPr>
          <p:cNvPr id="36871" name="Rectangle 49"/>
          <p:cNvSpPr>
            <a:spLocks noChangeArrowheads="1"/>
          </p:cNvSpPr>
          <p:nvPr/>
        </p:nvSpPr>
        <p:spPr bwMode="auto">
          <a:xfrm>
            <a:off x="5538788" y="4857750"/>
            <a:ext cx="1009650" cy="88900"/>
          </a:xfrm>
          <a:prstGeom prst="rect">
            <a:avLst/>
          </a:prstGeom>
          <a:solidFill>
            <a:srgbClr val="FFFFCC"/>
          </a:solidFill>
          <a:ln w="38100">
            <a:solidFill>
              <a:srgbClr val="996633"/>
            </a:solidFill>
            <a:bevel/>
          </a:ln>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grpSp>
        <p:nvGrpSpPr>
          <p:cNvPr id="12337" name="Group 50"/>
          <p:cNvGrpSpPr/>
          <p:nvPr/>
        </p:nvGrpSpPr>
        <p:grpSpPr bwMode="auto">
          <a:xfrm>
            <a:off x="2711450" y="1341439"/>
            <a:ext cx="3155950" cy="3025775"/>
            <a:chOff x="0" y="0"/>
            <a:chExt cx="2976" cy="2160"/>
          </a:xfrm>
        </p:grpSpPr>
        <p:sp>
          <p:nvSpPr>
            <p:cNvPr id="36881" name="AutoShape 51"/>
            <p:cNvSpPr>
              <a:spLocks noChangeArrowheads="1"/>
            </p:cNvSpPr>
            <p:nvPr/>
          </p:nvSpPr>
          <p:spPr bwMode="auto">
            <a:xfrm>
              <a:off x="1488" y="480"/>
              <a:ext cx="1488" cy="1440"/>
            </a:xfrm>
            <a:prstGeom prst="irregularSeal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82" name="AutoShape 52"/>
            <p:cNvSpPr>
              <a:spLocks noChangeArrowheads="1"/>
            </p:cNvSpPr>
            <p:nvPr/>
          </p:nvSpPr>
          <p:spPr bwMode="auto">
            <a:xfrm rot="1222007">
              <a:off x="0" y="0"/>
              <a:ext cx="2736" cy="2160"/>
            </a:xfrm>
            <a:prstGeom prst="irregularSeal2">
              <a:avLst/>
            </a:prstGeom>
            <a:gradFill rotWithShape="0">
              <a:gsLst>
                <a:gs pos="0">
                  <a:schemeClr val="bg1"/>
                </a:gs>
                <a:gs pos="100000">
                  <a:srgbClr val="FF0000"/>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Garamond" panose="02020404030301010803" pitchFamily="18" charset="0"/>
              </a:endParaRPr>
            </a:p>
          </p:txBody>
        </p:sp>
        <p:sp>
          <p:nvSpPr>
            <p:cNvPr id="36883" name="Text Box 53"/>
            <p:cNvSpPr txBox="1">
              <a:spLocks noChangeArrowheads="1"/>
            </p:cNvSpPr>
            <p:nvPr/>
          </p:nvSpPr>
          <p:spPr bwMode="auto">
            <a:xfrm>
              <a:off x="672" y="624"/>
              <a:ext cx="1344"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dirty="0">
                  <a:solidFill>
                    <a:srgbClr val="660033"/>
                  </a:solidFill>
                </a:rPr>
                <a:t>不能碰东西</a:t>
              </a:r>
              <a:endParaRPr lang="zh-CN" altLang="en-US" sz="3200" b="1" dirty="0"/>
            </a:p>
          </p:txBody>
        </p:sp>
      </p:grpSp>
      <p:grpSp>
        <p:nvGrpSpPr>
          <p:cNvPr id="36873" name="Group 54"/>
          <p:cNvGrpSpPr/>
          <p:nvPr/>
        </p:nvGrpSpPr>
        <p:grpSpPr bwMode="auto">
          <a:xfrm>
            <a:off x="5084764" y="3795713"/>
            <a:ext cx="549275" cy="677862"/>
            <a:chOff x="0" y="0"/>
            <a:chExt cx="346" cy="427"/>
          </a:xfrm>
        </p:grpSpPr>
        <p:sp>
          <p:nvSpPr>
            <p:cNvPr id="36875" name="Arc 55"/>
            <p:cNvSpPr>
              <a:spLocks noChangeArrowheads="1"/>
            </p:cNvSpPr>
            <p:nvPr/>
          </p:nvSpPr>
          <p:spPr bwMode="auto">
            <a:xfrm rot="14143023" flipH="1">
              <a:off x="-39" y="280"/>
              <a:ext cx="212" cy="62"/>
            </a:xfrm>
            <a:custGeom>
              <a:avLst/>
              <a:gdLst>
                <a:gd name="T0" fmla="*/ 0 w 43200"/>
                <a:gd name="T1" fmla="*/ 62 h 21600"/>
                <a:gd name="T2" fmla="*/ 106 w 43200"/>
                <a:gd name="T3" fmla="*/ 0 h 21600"/>
                <a:gd name="T4" fmla="*/ 212 w 43200"/>
                <a:gd name="T5" fmla="*/ 62 h 21600"/>
                <a:gd name="T6" fmla="*/ 0 w 43200"/>
                <a:gd name="T7" fmla="*/ 62 h 21600"/>
                <a:gd name="T8" fmla="*/ 106 w 43200"/>
                <a:gd name="T9" fmla="*/ 0 h 21600"/>
                <a:gd name="T10" fmla="*/ 212 w 43200"/>
                <a:gd name="T11" fmla="*/ 62 h 21600"/>
                <a:gd name="T12" fmla="*/ 106 w 43200"/>
                <a:gd name="T13" fmla="*/ 62 h 21600"/>
                <a:gd name="T14" fmla="*/ 0 w 43200"/>
                <a:gd name="T15" fmla="*/ 62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6" name="Arc 56"/>
            <p:cNvSpPr>
              <a:spLocks noChangeArrowheads="1"/>
            </p:cNvSpPr>
            <p:nvPr/>
          </p:nvSpPr>
          <p:spPr bwMode="auto">
            <a:xfrm rot="14140503" flipH="1">
              <a:off x="-27" y="235"/>
              <a:ext cx="267" cy="79"/>
            </a:xfrm>
            <a:custGeom>
              <a:avLst/>
              <a:gdLst>
                <a:gd name="T0" fmla="*/ 0 w 43200"/>
                <a:gd name="T1" fmla="*/ 79 h 21600"/>
                <a:gd name="T2" fmla="*/ 134 w 43200"/>
                <a:gd name="T3" fmla="*/ 0 h 21600"/>
                <a:gd name="T4" fmla="*/ 267 w 43200"/>
                <a:gd name="T5" fmla="*/ 79 h 21600"/>
                <a:gd name="T6" fmla="*/ 0 w 43200"/>
                <a:gd name="T7" fmla="*/ 79 h 21600"/>
                <a:gd name="T8" fmla="*/ 134 w 43200"/>
                <a:gd name="T9" fmla="*/ 0 h 21600"/>
                <a:gd name="T10" fmla="*/ 267 w 43200"/>
                <a:gd name="T11" fmla="*/ 79 h 21600"/>
                <a:gd name="T12" fmla="*/ 134 w 43200"/>
                <a:gd name="T13" fmla="*/ 79 h 21600"/>
                <a:gd name="T14" fmla="*/ 0 w 43200"/>
                <a:gd name="T15" fmla="*/ 79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7" name="Arc 57"/>
            <p:cNvSpPr>
              <a:spLocks noChangeArrowheads="1"/>
            </p:cNvSpPr>
            <p:nvPr/>
          </p:nvSpPr>
          <p:spPr bwMode="auto">
            <a:xfrm rot="14123751" flipH="1">
              <a:off x="14" y="195"/>
              <a:ext cx="290" cy="85"/>
            </a:xfrm>
            <a:custGeom>
              <a:avLst/>
              <a:gdLst>
                <a:gd name="T0" fmla="*/ 0 w 43200"/>
                <a:gd name="T1" fmla="*/ 85 h 21600"/>
                <a:gd name="T2" fmla="*/ 145 w 43200"/>
                <a:gd name="T3" fmla="*/ 0 h 21600"/>
                <a:gd name="T4" fmla="*/ 290 w 43200"/>
                <a:gd name="T5" fmla="*/ 85 h 21600"/>
                <a:gd name="T6" fmla="*/ 0 w 43200"/>
                <a:gd name="T7" fmla="*/ 85 h 21600"/>
                <a:gd name="T8" fmla="*/ 145 w 43200"/>
                <a:gd name="T9" fmla="*/ 0 h 21600"/>
                <a:gd name="T10" fmla="*/ 290 w 43200"/>
                <a:gd name="T11" fmla="*/ 85 h 21600"/>
                <a:gd name="T12" fmla="*/ 145 w 43200"/>
                <a:gd name="T13" fmla="*/ 85 h 21600"/>
                <a:gd name="T14" fmla="*/ 0 w 43200"/>
                <a:gd name="T15" fmla="*/ 85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8" name="Arc 58"/>
            <p:cNvSpPr>
              <a:spLocks noChangeArrowheads="1"/>
            </p:cNvSpPr>
            <p:nvPr/>
          </p:nvSpPr>
          <p:spPr bwMode="auto">
            <a:xfrm rot="14130057" flipH="1">
              <a:off x="58" y="161"/>
              <a:ext cx="326" cy="96"/>
            </a:xfrm>
            <a:custGeom>
              <a:avLst/>
              <a:gdLst>
                <a:gd name="T0" fmla="*/ 0 w 43200"/>
                <a:gd name="T1" fmla="*/ 96 h 21600"/>
                <a:gd name="T2" fmla="*/ 163 w 43200"/>
                <a:gd name="T3" fmla="*/ 0 h 21600"/>
                <a:gd name="T4" fmla="*/ 326 w 43200"/>
                <a:gd name="T5" fmla="*/ 96 h 21600"/>
                <a:gd name="T6" fmla="*/ 0 w 43200"/>
                <a:gd name="T7" fmla="*/ 96 h 21600"/>
                <a:gd name="T8" fmla="*/ 163 w 43200"/>
                <a:gd name="T9" fmla="*/ 0 h 21600"/>
                <a:gd name="T10" fmla="*/ 326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9" name="Arc 59"/>
            <p:cNvSpPr>
              <a:spLocks noChangeArrowheads="1"/>
            </p:cNvSpPr>
            <p:nvPr/>
          </p:nvSpPr>
          <p:spPr bwMode="auto">
            <a:xfrm rot="14130057" flipH="1">
              <a:off x="130" y="114"/>
              <a:ext cx="325" cy="96"/>
            </a:xfrm>
            <a:custGeom>
              <a:avLst/>
              <a:gdLst>
                <a:gd name="T0" fmla="*/ 0 w 43200"/>
                <a:gd name="T1" fmla="*/ 96 h 21600"/>
                <a:gd name="T2" fmla="*/ 163 w 43200"/>
                <a:gd name="T3" fmla="*/ 0 h 21600"/>
                <a:gd name="T4" fmla="*/ 325 w 43200"/>
                <a:gd name="T5" fmla="*/ 96 h 21600"/>
                <a:gd name="T6" fmla="*/ 0 w 43200"/>
                <a:gd name="T7" fmla="*/ 96 h 21600"/>
                <a:gd name="T8" fmla="*/ 163 w 43200"/>
                <a:gd name="T9" fmla="*/ 0 h 21600"/>
                <a:gd name="T10" fmla="*/ 325 w 43200"/>
                <a:gd name="T11" fmla="*/ 96 h 21600"/>
                <a:gd name="T12" fmla="*/ 163 w 43200"/>
                <a:gd name="T13" fmla="*/ 96 h 21600"/>
                <a:gd name="T14" fmla="*/ 0 w 43200"/>
                <a:gd name="T15" fmla="*/ 96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7620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80" name="Arc 60"/>
            <p:cNvSpPr>
              <a:spLocks noChangeArrowheads="1"/>
            </p:cNvSpPr>
            <p:nvPr/>
          </p:nvSpPr>
          <p:spPr bwMode="auto">
            <a:xfrm rot="14143023" flipH="1">
              <a:off x="-62" y="306"/>
              <a:ext cx="178" cy="53"/>
            </a:xfrm>
            <a:custGeom>
              <a:avLst/>
              <a:gdLst>
                <a:gd name="T0" fmla="*/ 0 w 43200"/>
                <a:gd name="T1" fmla="*/ 53 h 21600"/>
                <a:gd name="T2" fmla="*/ 89 w 43200"/>
                <a:gd name="T3" fmla="*/ 0 h 21600"/>
                <a:gd name="T4" fmla="*/ 178 w 43200"/>
                <a:gd name="T5" fmla="*/ 53 h 21600"/>
                <a:gd name="T6" fmla="*/ 0 w 43200"/>
                <a:gd name="T7" fmla="*/ 53 h 21600"/>
                <a:gd name="T8" fmla="*/ 89 w 43200"/>
                <a:gd name="T9" fmla="*/ 0 h 21600"/>
                <a:gd name="T10" fmla="*/ 178 w 43200"/>
                <a:gd name="T11" fmla="*/ 53 h 21600"/>
                <a:gd name="T12" fmla="*/ 89 w 43200"/>
                <a:gd name="T13" fmla="*/ 53 h 21600"/>
                <a:gd name="T14" fmla="*/ 0 w 43200"/>
                <a:gd name="T15" fmla="*/ 53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200" h="21600" fill="none">
                  <a:moveTo>
                    <a:pt x="0" y="21599"/>
                  </a:moveTo>
                  <a:cubicBezTo>
                    <a:pt x="0" y="9670"/>
                    <a:pt x="9671" y="-1"/>
                    <a:pt x="21600" y="0"/>
                  </a:cubicBezTo>
                  <a:cubicBezTo>
                    <a:pt x="33529" y="0"/>
                    <a:pt x="43200" y="9670"/>
                    <a:pt x="43200" y="21600"/>
                  </a:cubicBezTo>
                </a:path>
                <a:path w="43200" h="21600" stroke="0">
                  <a:moveTo>
                    <a:pt x="0" y="21599"/>
                  </a:moveTo>
                  <a:cubicBezTo>
                    <a:pt x="0" y="9670"/>
                    <a:pt x="9671" y="-1"/>
                    <a:pt x="21600" y="0"/>
                  </a:cubicBezTo>
                  <a:cubicBezTo>
                    <a:pt x="33529" y="0"/>
                    <a:pt x="43200" y="9670"/>
                    <a:pt x="43200" y="21600"/>
                  </a:cubicBezTo>
                  <a:lnTo>
                    <a:pt x="21600" y="21600"/>
                  </a:lnTo>
                  <a:lnTo>
                    <a:pt x="0" y="21599"/>
                  </a:lnTo>
                  <a:close/>
                </a:path>
              </a:pathLst>
            </a:cu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2348" name="Rectangle 62"/>
          <p:cNvSpPr>
            <a:spLocks noRot="1"/>
          </p:cNvSpPr>
          <p:nvPr/>
        </p:nvSpPr>
        <p:spPr>
          <a:xfrm>
            <a:off x="1929579" y="5440367"/>
            <a:ext cx="8379166" cy="1364574"/>
          </a:xfrm>
          <a:prstGeom prst="rect">
            <a:avLst/>
          </a:prstGeom>
          <a:noFill/>
          <a:ln w="9525">
            <a:noFill/>
          </a:ln>
        </p:spPr>
        <p:txBody>
          <a:bodyPr anchor="ctr"/>
          <a:lstStyle/>
          <a:p>
            <a:pPr marL="342900" indent="-342900">
              <a:buFont typeface="Arial" panose="020B0604020202020204" pitchFamily="34" charset="0"/>
              <a:buChar char="•"/>
              <a:defRPr/>
            </a:pPr>
            <a:r>
              <a:rPr lang="zh-CN" altLang="en-US" sz="240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烙铁必须插在烙铁架中，电源线不能有破损；</a:t>
            </a:r>
            <a:endParaRPr lang="en-US" altLang="zh-CN" sz="240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marL="342900" indent="-342900">
              <a:buFont typeface="Arial" panose="020B0604020202020204" pitchFamily="34" charset="0"/>
              <a:buChar char="•"/>
              <a:defRPr/>
            </a:pPr>
            <a:r>
              <a:rPr lang="zh-CN" altLang="en-US" sz="240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电烙铁长时间放置会氧化，可用金属物、钢丝球、高温海绵在焊前清洁；</a:t>
            </a:r>
            <a:endParaRPr lang="en-US" altLang="zh-CN" sz="240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marL="342900" indent="-342900">
              <a:buFont typeface="Arial" panose="020B0604020202020204" pitchFamily="34" charset="0"/>
              <a:buChar char="•"/>
              <a:defRPr/>
            </a:pPr>
            <a:r>
              <a:rPr lang="zh-CN" altLang="en-US" sz="240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高温海绵不要浸水，否则会加速烙铁头的氧化，降低温度。</a:t>
            </a:r>
            <a:endParaRPr lang="zh-CN" altLang="en-US" sz="2400" dirty="0">
              <a:solidFill>
                <a:srgbClr val="FF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7"/>
                                        </p:tgtEl>
                                        <p:attrNameLst>
                                          <p:attrName>style.visibility</p:attrName>
                                        </p:attrNameLst>
                                      </p:cBhvr>
                                      <p:to>
                                        <p:strVal val="visible"/>
                                      </p:to>
                                    </p:set>
                                    <p:anim calcmode="lin" valueType="num">
                                      <p:cBhvr>
                                        <p:cTn id="7" dur="500" fill="hold"/>
                                        <p:tgtEl>
                                          <p:spTgt spid="12297"/>
                                        </p:tgtEl>
                                        <p:attrNameLst>
                                          <p:attrName>ppt_x</p:attrName>
                                        </p:attrNameLst>
                                      </p:cBhvr>
                                      <p:tavLst>
                                        <p:tav tm="0">
                                          <p:val>
                                            <p:strVal val="0-#ppt_w/2"/>
                                          </p:val>
                                        </p:tav>
                                        <p:tav tm="100000">
                                          <p:val>
                                            <p:strVal val="#ppt_x"/>
                                          </p:val>
                                        </p:tav>
                                      </p:tavLst>
                                    </p:anim>
                                    <p:anim calcmode="lin" valueType="num">
                                      <p:cBhvr>
                                        <p:cTn id="8" dur="500" fill="hold"/>
                                        <p:tgtEl>
                                          <p:spTgt spid="122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3" fill="hold" nodeType="clickEffect">
                                  <p:stCondLst>
                                    <p:cond delay="0"/>
                                  </p:stCondLst>
                                  <p:childTnLst>
                                    <p:set>
                                      <p:cBhvr>
                                        <p:cTn id="12" dur="1" fill="hold">
                                          <p:stCondLst>
                                            <p:cond delay="0"/>
                                          </p:stCondLst>
                                        </p:cTn>
                                        <p:tgtEl>
                                          <p:spTgt spid="12298"/>
                                        </p:tgtEl>
                                        <p:attrNameLst>
                                          <p:attrName>style.visibility</p:attrName>
                                        </p:attrNameLst>
                                      </p:cBhvr>
                                      <p:to>
                                        <p:strVal val="visible"/>
                                      </p:to>
                                    </p:set>
                                    <p:anim calcmode="lin" valueType="num">
                                      <p:cBhvr>
                                        <p:cTn id="13" dur="500" fill="hold"/>
                                        <p:tgtEl>
                                          <p:spTgt spid="12298"/>
                                        </p:tgtEl>
                                        <p:attrNameLst>
                                          <p:attrName>ppt_x</p:attrName>
                                        </p:attrNameLst>
                                      </p:cBhvr>
                                      <p:tavLst>
                                        <p:tav tm="0">
                                          <p:val>
                                            <p:strVal val="1+#ppt_w/2"/>
                                          </p:val>
                                        </p:tav>
                                        <p:tav tm="100000">
                                          <p:val>
                                            <p:strVal val="#ppt_x"/>
                                          </p:val>
                                        </p:tav>
                                      </p:tavLst>
                                    </p:anim>
                                    <p:anim calcmode="lin" valueType="num">
                                      <p:cBhvr>
                                        <p:cTn id="14" dur="500" fill="hold"/>
                                        <p:tgtEl>
                                          <p:spTgt spid="12298"/>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6" fill="hold" nodeType="clickEffect">
                                  <p:stCondLst>
                                    <p:cond delay="0"/>
                                  </p:stCondLst>
                                  <p:childTnLst>
                                    <p:set>
                                      <p:cBhvr>
                                        <p:cTn id="18" dur="1" fill="hold">
                                          <p:stCondLst>
                                            <p:cond delay="0"/>
                                          </p:stCondLst>
                                        </p:cTn>
                                        <p:tgtEl>
                                          <p:spTgt spid="12337"/>
                                        </p:tgtEl>
                                        <p:attrNameLst>
                                          <p:attrName>style.visibility</p:attrName>
                                        </p:attrNameLst>
                                      </p:cBhvr>
                                      <p:to>
                                        <p:strVal val="visible"/>
                                      </p:to>
                                    </p:set>
                                    <p:animEffect transition="in" filter="barn(inHorizontal)">
                                      <p:cBhvr>
                                        <p:cTn id="19" dur="500"/>
                                        <p:tgtEl>
                                          <p:spTgt spid="1233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2348"/>
                                        </p:tgtEl>
                                        <p:attrNameLst>
                                          <p:attrName>style.visibility</p:attrName>
                                        </p:attrNameLst>
                                      </p:cBhvr>
                                      <p:to>
                                        <p:strVal val="visible"/>
                                      </p:to>
                                    </p:set>
                                    <p:anim calcmode="lin" valueType="num">
                                      <p:cBhvr>
                                        <p:cTn id="24" dur="500" fill="hold"/>
                                        <p:tgtEl>
                                          <p:spTgt spid="12348"/>
                                        </p:tgtEl>
                                        <p:attrNameLst>
                                          <p:attrName>ppt_x</p:attrName>
                                        </p:attrNameLst>
                                      </p:cBhvr>
                                      <p:tavLst>
                                        <p:tav tm="0">
                                          <p:val>
                                            <p:strVal val="0-#ppt_w/2"/>
                                          </p:val>
                                        </p:tav>
                                        <p:tav tm="100000">
                                          <p:val>
                                            <p:strVal val="#ppt_x"/>
                                          </p:val>
                                        </p:tav>
                                      </p:tavLst>
                                    </p:anim>
                                    <p:anim calcmode="lin" valueType="num">
                                      <p:cBhvr>
                                        <p:cTn id="25" dur="500" fill="hold"/>
                                        <p:tgtEl>
                                          <p:spTgt spid="123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7" grpId="0"/>
      <p:bldP spid="12348" grpId="0" bldLvl="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4337"/>
          <p:cNvSpPr>
            <a:spLocks noGrp="1" noChangeArrowheads="1"/>
          </p:cNvSpPr>
          <p:nvPr>
            <p:ph type="title" idx="4294967295"/>
          </p:nvPr>
        </p:nvSpPr>
        <p:spPr>
          <a:xfrm>
            <a:off x="3983038" y="295275"/>
            <a:ext cx="8208962" cy="647700"/>
          </a:xfrm>
        </p:spPr>
        <p:txBody>
          <a:bodyPr/>
          <a:lstStyle/>
          <a:p>
            <a:pPr eaLnBrk="1" hangingPunct="1"/>
            <a:r>
              <a:rPr lang="zh-CN" altLang="en-US" sz="3600" b="1" dirty="0"/>
              <a:t>元器件识别及基本参数测试</a:t>
            </a:r>
            <a:endParaRPr lang="zh-CN" altLang="en-US" sz="3600" b="1" dirty="0"/>
          </a:p>
        </p:txBody>
      </p:sp>
      <p:sp>
        <p:nvSpPr>
          <p:cNvPr id="38915" name="文本占位符 14338"/>
          <p:cNvSpPr>
            <a:spLocks noGrp="1" noChangeArrowheads="1"/>
          </p:cNvSpPr>
          <p:nvPr>
            <p:ph idx="4294967295"/>
          </p:nvPr>
        </p:nvSpPr>
        <p:spPr>
          <a:xfrm>
            <a:off x="0" y="1601788"/>
            <a:ext cx="4932363" cy="4637087"/>
          </a:xfrm>
        </p:spPr>
        <p:txBody>
          <a:bodyPr/>
          <a:lstStyle/>
          <a:p>
            <a:pPr eaLnBrk="1" hangingPunct="1">
              <a:lnSpc>
                <a:spcPct val="120000"/>
              </a:lnSpc>
              <a:buFont typeface="Wingdings" panose="05000000000000000000" pitchFamily="2" charset="2"/>
              <a:buNone/>
            </a:pPr>
            <a:r>
              <a:rPr lang="en-US" altLang="zh-CN" sz="2100"/>
              <a:t>	       </a:t>
            </a:r>
            <a:r>
              <a:rPr lang="zh-CN" altLang="en-US" sz="2400" b="1"/>
              <a:t>装配前识别不同的元器件，以及判别所装配元器件性能的好坏，是保证装配电子产品质量的重要步骤。识别元器件及参数，需要具备相关知识；而判别元器件性能的好坏可通过外观检查、仪器测试来完成。一般情况下，是运用万用表进行元器件好坏的粗略判别。</a:t>
            </a:r>
            <a:endParaRPr lang="zh-CN" altLang="en-US" sz="2400" b="1"/>
          </a:p>
        </p:txBody>
      </p:sp>
      <p:pic>
        <p:nvPicPr>
          <p:cNvPr id="38916" name="图片 14339" descr="元器件"/>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00826" y="1268414"/>
            <a:ext cx="3578225" cy="505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5361"/>
          <p:cNvSpPr>
            <a:spLocks noGrp="1" noChangeArrowheads="1"/>
          </p:cNvSpPr>
          <p:nvPr>
            <p:ph type="title" idx="4294967295"/>
          </p:nvPr>
        </p:nvSpPr>
        <p:spPr>
          <a:xfrm>
            <a:off x="3382297" y="125361"/>
            <a:ext cx="3962400" cy="993775"/>
          </a:xfrm>
        </p:spPr>
        <p:txBody>
          <a:bodyPr/>
          <a:lstStyle/>
          <a:p>
            <a:pPr eaLnBrk="1" hangingPunct="1"/>
            <a:r>
              <a:rPr lang="zh-CN" altLang="en-US" b="1" dirty="0"/>
              <a:t>一、电阻</a:t>
            </a:r>
            <a:endParaRPr lang="zh-CN" altLang="en-US" b="1" dirty="0"/>
          </a:p>
        </p:txBody>
      </p:sp>
      <p:sp>
        <p:nvSpPr>
          <p:cNvPr id="39939" name="文本占位符 15362"/>
          <p:cNvSpPr>
            <a:spLocks noGrp="1" noChangeArrowheads="1"/>
          </p:cNvSpPr>
          <p:nvPr>
            <p:ph type="body" sz="half" idx="4294967295"/>
          </p:nvPr>
        </p:nvSpPr>
        <p:spPr>
          <a:xfrm>
            <a:off x="0" y="1412875"/>
            <a:ext cx="5770563" cy="5068888"/>
          </a:xfrm>
        </p:spPr>
        <p:txBody>
          <a:bodyPr/>
          <a:lstStyle/>
          <a:p>
            <a:pPr eaLnBrk="1" hangingPunct="1">
              <a:lnSpc>
                <a:spcPct val="90000"/>
              </a:lnSpc>
              <a:buFont typeface="Wingdings" panose="05000000000000000000" pitchFamily="2" charset="2"/>
              <a:buNone/>
            </a:pPr>
            <a:r>
              <a:rPr lang="en-US" altLang="zh-CN" b="1"/>
              <a:t>1</a:t>
            </a:r>
            <a:r>
              <a:rPr lang="zh-CN" altLang="en-US" b="1"/>
              <a:t>、电阻的主要参数</a:t>
            </a:r>
            <a:endParaRPr lang="zh-CN" altLang="en-US" b="1"/>
          </a:p>
          <a:p>
            <a:pPr eaLnBrk="1" hangingPunct="1">
              <a:lnSpc>
                <a:spcPct val="90000"/>
              </a:lnSpc>
              <a:buFont typeface="Wingdings" panose="05000000000000000000" pitchFamily="2" charset="2"/>
              <a:buNone/>
            </a:pPr>
            <a:r>
              <a:rPr lang="zh-CN" altLang="en-US"/>
              <a:t>（</a:t>
            </a:r>
            <a:r>
              <a:rPr lang="en-US" altLang="zh-CN" b="1"/>
              <a:t>1</a:t>
            </a:r>
            <a:r>
              <a:rPr lang="zh-CN" altLang="en-US" b="1"/>
              <a:t>）、电阻的单位是欧姆，电阻阻值单位有</a:t>
            </a:r>
            <a:r>
              <a:rPr lang="en-US" altLang="zh-CN" b="1"/>
              <a:t>Ω</a:t>
            </a:r>
            <a:r>
              <a:rPr lang="zh-CN" altLang="en-US" b="1"/>
              <a:t>、</a:t>
            </a:r>
            <a:r>
              <a:rPr lang="en-US" altLang="zh-CN" b="1"/>
              <a:t>KΩ</a:t>
            </a:r>
            <a:r>
              <a:rPr lang="zh-CN" altLang="en-US" b="1"/>
              <a:t>、</a:t>
            </a:r>
            <a:r>
              <a:rPr lang="en-US" altLang="zh-CN" b="1"/>
              <a:t>MΩ</a:t>
            </a:r>
            <a:endParaRPr lang="en-US" altLang="zh-CN" b="1"/>
          </a:p>
          <a:p>
            <a:pPr eaLnBrk="1" hangingPunct="1">
              <a:lnSpc>
                <a:spcPct val="90000"/>
              </a:lnSpc>
              <a:buFont typeface="Wingdings" panose="05000000000000000000" pitchFamily="2" charset="2"/>
              <a:buNone/>
            </a:pPr>
            <a:r>
              <a:rPr lang="zh-CN" altLang="en-US" b="1"/>
              <a:t>（</a:t>
            </a:r>
            <a:r>
              <a:rPr lang="en-US" altLang="zh-CN" b="1"/>
              <a:t>2</a:t>
            </a:r>
            <a:r>
              <a:rPr lang="zh-CN" altLang="en-US" b="1"/>
              <a:t>）、电阻的误差：普通电阻的误差可以分为</a:t>
            </a:r>
            <a:r>
              <a:rPr lang="en-US" altLang="zh-CN" b="1"/>
              <a:t>±0.5%</a:t>
            </a:r>
            <a:r>
              <a:rPr lang="zh-CN" altLang="en-US" b="1"/>
              <a:t>、</a:t>
            </a:r>
            <a:r>
              <a:rPr lang="en-US" altLang="zh-CN" b="1"/>
              <a:t>±1%</a:t>
            </a:r>
            <a:r>
              <a:rPr lang="zh-CN" altLang="en-US" b="1"/>
              <a:t>、</a:t>
            </a:r>
            <a:r>
              <a:rPr lang="en-US" altLang="zh-CN" b="1"/>
              <a:t>±5%</a:t>
            </a:r>
            <a:r>
              <a:rPr lang="zh-CN" altLang="en-US" b="1"/>
              <a:t>、</a:t>
            </a:r>
            <a:r>
              <a:rPr lang="en-US" altLang="zh-CN" b="1"/>
              <a:t>±10%</a:t>
            </a:r>
            <a:r>
              <a:rPr lang="zh-CN" altLang="en-US" b="1"/>
              <a:t>等几种</a:t>
            </a:r>
            <a:endParaRPr lang="zh-CN" altLang="en-US" b="1"/>
          </a:p>
          <a:p>
            <a:pPr eaLnBrk="1" hangingPunct="1">
              <a:lnSpc>
                <a:spcPct val="90000"/>
              </a:lnSpc>
              <a:buFont typeface="Wingdings" panose="05000000000000000000" pitchFamily="2" charset="2"/>
              <a:buNone/>
            </a:pPr>
            <a:r>
              <a:rPr lang="zh-CN" altLang="en-US" b="1"/>
              <a:t>（</a:t>
            </a:r>
            <a:r>
              <a:rPr lang="en-US" altLang="zh-CN" b="1"/>
              <a:t>3</a:t>
            </a:r>
            <a:r>
              <a:rPr lang="zh-CN" altLang="en-US" b="1"/>
              <a:t>）、电阻的额定功率：</a:t>
            </a:r>
            <a:r>
              <a:rPr lang="en-US" altLang="zh-CN" b="1"/>
              <a:t>P=I</a:t>
            </a:r>
            <a:r>
              <a:rPr lang="en-US" altLang="zh-CN" sz="1800" b="1" baseline="80000"/>
              <a:t>2</a:t>
            </a:r>
            <a:r>
              <a:rPr lang="en-US" altLang="zh-CN" b="1"/>
              <a:t> R</a:t>
            </a:r>
            <a:r>
              <a:rPr lang="zh-CN" altLang="en-US" b="1"/>
              <a:t>，一般电阻的只需</a:t>
            </a:r>
            <a:r>
              <a:rPr lang="en-US" altLang="zh-CN" b="1"/>
              <a:t>1/4W</a:t>
            </a:r>
            <a:r>
              <a:rPr lang="zh-CN" altLang="en-US" b="1"/>
              <a:t>、</a:t>
            </a:r>
            <a:r>
              <a:rPr lang="en-US" altLang="zh-CN" b="1"/>
              <a:t>1/6W</a:t>
            </a:r>
            <a:r>
              <a:rPr lang="zh-CN" altLang="en-US" b="1"/>
              <a:t>或</a:t>
            </a:r>
            <a:r>
              <a:rPr lang="en-US" altLang="zh-CN" b="1"/>
              <a:t>1/8W</a:t>
            </a:r>
            <a:r>
              <a:rPr lang="zh-CN" altLang="en-US" b="1"/>
              <a:t>就可以了。</a:t>
            </a:r>
            <a:endParaRPr lang="zh-CN" altLang="en-US" b="1"/>
          </a:p>
          <a:p>
            <a:pPr eaLnBrk="1" hangingPunct="1">
              <a:lnSpc>
                <a:spcPct val="90000"/>
              </a:lnSpc>
              <a:buFont typeface="Wingdings" panose="05000000000000000000" pitchFamily="2" charset="2"/>
              <a:buNone/>
            </a:pPr>
            <a:r>
              <a:rPr lang="zh-CN" altLang="en-US" b="1"/>
              <a:t>（</a:t>
            </a:r>
            <a:r>
              <a:rPr lang="en-US" altLang="zh-CN" b="1"/>
              <a:t>4</a:t>
            </a:r>
            <a:r>
              <a:rPr lang="zh-CN" altLang="en-US" b="1"/>
              <a:t>）、电阻一般起着分压分流的作用，在温度改变时，电阻的阻值也会改变</a:t>
            </a:r>
            <a:endParaRPr lang="zh-CN" altLang="en-US" b="1"/>
          </a:p>
        </p:txBody>
      </p:sp>
      <p:pic>
        <p:nvPicPr>
          <p:cNvPr id="39940" name="内容占位符 15363" descr="20-27"/>
          <p:cNvPicPr>
            <a:picLocks noGrp="1" noChangeAspect="1" noChangeArrowheads="1"/>
          </p:cNvPicPr>
          <p:nvPr>
            <p:ph sz="half" idx="4294967295"/>
          </p:nvPr>
        </p:nvPicPr>
        <p:blipFill>
          <a:blip r:embed="rId1" cstate="hqprint">
            <a:extLst>
              <a:ext uri="{28A0092B-C50C-407E-A947-70E740481C1C}">
                <a14:useLocalDpi xmlns:a14="http://schemas.microsoft.com/office/drawing/2010/main" val="0"/>
              </a:ext>
            </a:extLst>
          </a:blip>
          <a:srcRect/>
          <a:stretch>
            <a:fillRect/>
          </a:stretch>
        </p:blipFill>
        <p:spPr>
          <a:xfrm>
            <a:off x="9426575" y="1412875"/>
            <a:ext cx="2765425" cy="4897438"/>
          </a:xfrm>
        </p:spPr>
      </p:pic>
      <p:pic>
        <p:nvPicPr>
          <p:cNvPr id="2" name="图片 1"/>
          <p:cNvPicPr>
            <a:picLocks noChangeAspect="1"/>
          </p:cNvPicPr>
          <p:nvPr/>
        </p:nvPicPr>
        <p:blipFill>
          <a:blip r:embed="rId2"/>
          <a:stretch>
            <a:fillRect/>
          </a:stretch>
        </p:blipFill>
        <p:spPr>
          <a:xfrm>
            <a:off x="7061998" y="1412875"/>
            <a:ext cx="2767824" cy="4895512"/>
          </a:xfrm>
          <a:prstGeom prst="rect">
            <a:avLst/>
          </a:prstGeom>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6385"/>
          <p:cNvSpPr>
            <a:spLocks noGrp="1" noChangeArrowheads="1"/>
          </p:cNvSpPr>
          <p:nvPr>
            <p:ph type="title" idx="4294967295"/>
          </p:nvPr>
        </p:nvSpPr>
        <p:spPr>
          <a:xfrm>
            <a:off x="4332288" y="361950"/>
            <a:ext cx="7859712" cy="561975"/>
          </a:xfrm>
        </p:spPr>
        <p:txBody>
          <a:bodyPr/>
          <a:lstStyle/>
          <a:p>
            <a:pPr eaLnBrk="1" hangingPunct="1"/>
            <a:r>
              <a:rPr lang="en-US" altLang="zh-CN" b="1" dirty="0"/>
              <a:t>2</a:t>
            </a:r>
            <a:r>
              <a:rPr lang="zh-CN" altLang="en-US" b="1" dirty="0"/>
              <a:t>、电阻的分类</a:t>
            </a:r>
            <a:endParaRPr lang="zh-CN" altLang="en-US" b="1" dirty="0"/>
          </a:p>
        </p:txBody>
      </p:sp>
      <p:sp>
        <p:nvSpPr>
          <p:cNvPr id="40963" name="文本占位符 16386"/>
          <p:cNvSpPr>
            <a:spLocks noGrp="1" noChangeArrowheads="1"/>
          </p:cNvSpPr>
          <p:nvPr>
            <p:ph type="body" sz="half" idx="4294967295"/>
          </p:nvPr>
        </p:nvSpPr>
        <p:spPr>
          <a:xfrm>
            <a:off x="1083341" y="1312862"/>
            <a:ext cx="8640762" cy="3773488"/>
          </a:xfrm>
        </p:spPr>
        <p:txBody>
          <a:bodyPr/>
          <a:lstStyle/>
          <a:p>
            <a:pPr eaLnBrk="1" hangingPunct="1">
              <a:buFont typeface="Wingdings" panose="05000000000000000000" pitchFamily="2" charset="2"/>
              <a:buNone/>
            </a:pPr>
            <a:r>
              <a:rPr lang="en-US" altLang="zh-CN" sz="2400" dirty="0"/>
              <a:t>       </a:t>
            </a:r>
            <a:r>
              <a:rPr lang="zh-CN" altLang="en-US" sz="2400" b="1" dirty="0"/>
              <a:t>（</a:t>
            </a:r>
            <a:r>
              <a:rPr lang="en-US" altLang="zh-CN" sz="2400" b="1" dirty="0"/>
              <a:t>1</a:t>
            </a:r>
            <a:r>
              <a:rPr lang="zh-CN" altLang="en-US" sz="2400" b="1" dirty="0"/>
              <a:t>）按照电阻值是否可调可以分为固定电阻和可变电阻。</a:t>
            </a:r>
            <a:endParaRPr lang="zh-CN" altLang="en-US" sz="2400" b="1" dirty="0"/>
          </a:p>
          <a:p>
            <a:pPr eaLnBrk="1" hangingPunct="1">
              <a:buFont typeface="Wingdings" panose="05000000000000000000" pitchFamily="2" charset="2"/>
              <a:buNone/>
            </a:pPr>
            <a:r>
              <a:rPr lang="zh-CN" altLang="en-US" sz="2400" b="1" dirty="0"/>
              <a:t>	      </a:t>
            </a:r>
            <a:r>
              <a:rPr lang="en-US" altLang="zh-CN" sz="2400" b="1" dirty="0"/>
              <a:t>1)</a:t>
            </a:r>
            <a:r>
              <a:rPr lang="zh-CN" altLang="en-US" sz="2400" b="1" dirty="0"/>
              <a:t>固定电阻</a:t>
            </a:r>
            <a:endParaRPr lang="zh-CN" altLang="en-US" sz="2400" b="1" dirty="0"/>
          </a:p>
          <a:p>
            <a:pPr eaLnBrk="1" hangingPunct="1">
              <a:buFont typeface="Wingdings" panose="05000000000000000000" pitchFamily="2" charset="2"/>
              <a:buNone/>
            </a:pPr>
            <a:r>
              <a:rPr lang="zh-CN" altLang="en-US" sz="2400" b="1" dirty="0"/>
              <a:t>	       顾名思义，既阻值在常温下稳定不变的电阻，但随着温度升高，阻值会发生改变，一般是升高。</a:t>
            </a:r>
            <a:endParaRPr lang="zh-CN" altLang="en-US" sz="2400" b="1" dirty="0"/>
          </a:p>
          <a:p>
            <a:pPr eaLnBrk="1" hangingPunct="1">
              <a:buFont typeface="Wingdings" panose="05000000000000000000" pitchFamily="2" charset="2"/>
              <a:buNone/>
            </a:pPr>
            <a:r>
              <a:rPr lang="zh-CN" altLang="en-US" sz="2400" b="1" dirty="0"/>
              <a:t>          </a:t>
            </a:r>
            <a:r>
              <a:rPr lang="en-US" altLang="zh-CN" sz="2400" b="1" dirty="0"/>
              <a:t>2)</a:t>
            </a:r>
            <a:r>
              <a:rPr lang="zh-CN" altLang="en-US" sz="2400" b="1" dirty="0"/>
              <a:t>可变电阻</a:t>
            </a:r>
            <a:endParaRPr lang="zh-CN" altLang="en-US" sz="2400" b="1" dirty="0"/>
          </a:p>
          <a:p>
            <a:pPr eaLnBrk="1" hangingPunct="1">
              <a:buFont typeface="Wingdings" panose="05000000000000000000" pitchFamily="2" charset="2"/>
              <a:buNone/>
            </a:pPr>
            <a:r>
              <a:rPr lang="zh-CN" altLang="en-US" sz="2400" b="1" dirty="0"/>
              <a:t>	       可变电阻的主要用途是在电路中作分压器或变阻器，用作电压电流的调节。在收音机中作音量控制，在电视机中用作音量、亮度、对比度控制等。</a:t>
            </a:r>
            <a:endParaRPr lang="zh-CN" altLang="en-US" sz="2400" b="1" dirty="0"/>
          </a:p>
          <a:p>
            <a:pPr eaLnBrk="1" hangingPunct="1">
              <a:buFont typeface="Wingdings" panose="05000000000000000000" pitchFamily="2" charset="2"/>
              <a:buNone/>
            </a:pPr>
            <a:r>
              <a:rPr lang="zh-CN" altLang="en-US" sz="2400" b="1" dirty="0"/>
              <a:t>            一般电阻的符号如下图所示</a:t>
            </a:r>
            <a:r>
              <a:rPr lang="zh-CN" altLang="en-US" sz="2400" dirty="0"/>
              <a:t>：</a:t>
            </a:r>
            <a:endParaRPr lang="zh-CN" altLang="en-US" sz="2400" dirty="0"/>
          </a:p>
        </p:txBody>
      </p:sp>
      <p:pic>
        <p:nvPicPr>
          <p:cNvPr id="40964" name="图片 1638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44663" y="5086350"/>
            <a:ext cx="874395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7409"/>
          <p:cNvSpPr>
            <a:spLocks noGrp="1" noChangeArrowheads="1"/>
          </p:cNvSpPr>
          <p:nvPr>
            <p:ph type="title" idx="4294967295"/>
          </p:nvPr>
        </p:nvSpPr>
        <p:spPr>
          <a:xfrm>
            <a:off x="4198938" y="228600"/>
            <a:ext cx="7993062" cy="792163"/>
          </a:xfrm>
        </p:spPr>
        <p:txBody>
          <a:bodyPr/>
          <a:lstStyle/>
          <a:p>
            <a:pPr eaLnBrk="1" hangingPunct="1"/>
            <a:r>
              <a:rPr lang="en-US" altLang="zh-CN" b="1" dirty="0"/>
              <a:t>3</a:t>
            </a:r>
            <a:r>
              <a:rPr lang="zh-CN" altLang="en-US" b="1" dirty="0"/>
              <a:t>、电位器</a:t>
            </a:r>
            <a:endParaRPr lang="zh-CN" altLang="en-US" b="1" dirty="0"/>
          </a:p>
        </p:txBody>
      </p:sp>
      <p:sp>
        <p:nvSpPr>
          <p:cNvPr id="41987" name="文本占位符 17410"/>
          <p:cNvSpPr>
            <a:spLocks noGrp="1" noChangeArrowheads="1"/>
          </p:cNvSpPr>
          <p:nvPr>
            <p:ph type="body" sz="half" idx="4294967295"/>
          </p:nvPr>
        </p:nvSpPr>
        <p:spPr>
          <a:xfrm>
            <a:off x="0" y="1600200"/>
            <a:ext cx="7931150" cy="4525963"/>
          </a:xfrm>
        </p:spPr>
        <p:txBody>
          <a:bodyPr/>
          <a:lstStyle/>
          <a:p>
            <a:pPr eaLnBrk="1" hangingPunct="1">
              <a:buFont typeface="Wingdings" panose="05000000000000000000" pitchFamily="2" charset="2"/>
              <a:buNone/>
            </a:pPr>
            <a:r>
              <a:rPr lang="zh-CN" altLang="en-US" dirty="0"/>
              <a:t>	       </a:t>
            </a:r>
            <a:r>
              <a:rPr lang="zh-CN" altLang="en-US" b="1" dirty="0"/>
              <a:t>典型的电位器基本结构如图所示，</a:t>
            </a:r>
            <a:r>
              <a:rPr lang="en-US" altLang="zh-CN" b="1" dirty="0"/>
              <a:t>   </a:t>
            </a:r>
            <a:r>
              <a:rPr lang="zh-CN" altLang="en-US" b="1" dirty="0"/>
              <a:t>均有电阻体、滑动臂、转抽、外壳和焊片构成。它有三个引出端。其中AC两端电阻值最大，AB、BC之间的电阻值可以通过与转轴相连的簧片位置不同而加以改变。</a:t>
            </a:r>
            <a:endParaRPr lang="zh-CN" altLang="en-US" b="1" dirty="0"/>
          </a:p>
          <a:p>
            <a:pPr eaLnBrk="1" hangingPunct="1">
              <a:buFont typeface="Wingdings" panose="05000000000000000000" pitchFamily="2" charset="2"/>
              <a:buNone/>
            </a:pPr>
            <a:r>
              <a:rPr lang="zh-CN" altLang="en-US" b="1" dirty="0"/>
              <a:t>          电位器的主要用途在电路</a:t>
            </a:r>
            <a:endParaRPr lang="zh-CN" altLang="en-US" b="1" dirty="0"/>
          </a:p>
          <a:p>
            <a:pPr eaLnBrk="1" hangingPunct="1">
              <a:buFont typeface="Wingdings" panose="05000000000000000000" pitchFamily="2" charset="2"/>
              <a:buNone/>
            </a:pPr>
            <a:r>
              <a:rPr lang="zh-CN" altLang="en-US" b="1" dirty="0"/>
              <a:t>   中作分压器或变阻器，可用作</a:t>
            </a:r>
            <a:endParaRPr lang="zh-CN" altLang="en-US" b="1" dirty="0"/>
          </a:p>
          <a:p>
            <a:pPr eaLnBrk="1" hangingPunct="1">
              <a:buFont typeface="Wingdings" panose="05000000000000000000" pitchFamily="2" charset="2"/>
              <a:buNone/>
            </a:pPr>
            <a:r>
              <a:rPr lang="zh-CN" altLang="en-US" b="1" dirty="0"/>
              <a:t>   电压电流的调整，常用于声音、</a:t>
            </a:r>
            <a:endParaRPr lang="zh-CN" altLang="en-US" b="1" dirty="0"/>
          </a:p>
          <a:p>
            <a:pPr eaLnBrk="1" hangingPunct="1">
              <a:buFont typeface="Wingdings" panose="05000000000000000000" pitchFamily="2" charset="2"/>
              <a:buNone/>
            </a:pPr>
            <a:r>
              <a:rPr lang="zh-CN" altLang="en-US" b="1" dirty="0"/>
              <a:t>   亮度、和对比度控制。</a:t>
            </a:r>
            <a:endParaRPr lang="zh-CN" altLang="en-US" b="1" dirty="0"/>
          </a:p>
        </p:txBody>
      </p:sp>
      <p:pic>
        <p:nvPicPr>
          <p:cNvPr id="41988" name="内容占位符 17411"/>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a:xfrm>
            <a:off x="9740900" y="3860800"/>
            <a:ext cx="2451100" cy="2439988"/>
          </a:xfrm>
        </p:spPr>
      </p:pic>
      <p:pic>
        <p:nvPicPr>
          <p:cNvPr id="2" name="图片 1"/>
          <p:cNvPicPr>
            <a:picLocks noChangeAspect="1"/>
          </p:cNvPicPr>
          <p:nvPr/>
        </p:nvPicPr>
        <p:blipFill>
          <a:blip r:embed="rId2"/>
          <a:stretch>
            <a:fillRect/>
          </a:stretch>
        </p:blipFill>
        <p:spPr>
          <a:xfrm>
            <a:off x="8105411" y="3465175"/>
            <a:ext cx="2450804" cy="2444708"/>
          </a:xfrm>
          <a:prstGeom prst="rect">
            <a:avLst/>
          </a:prstGeom>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8433"/>
          <p:cNvSpPr>
            <a:spLocks noGrp="1" noChangeArrowheads="1"/>
          </p:cNvSpPr>
          <p:nvPr>
            <p:ph type="title" idx="4294967295"/>
          </p:nvPr>
        </p:nvSpPr>
        <p:spPr>
          <a:xfrm>
            <a:off x="3962400" y="152400"/>
            <a:ext cx="8229600" cy="1143000"/>
          </a:xfrm>
        </p:spPr>
        <p:txBody>
          <a:bodyPr/>
          <a:lstStyle/>
          <a:p>
            <a:pPr eaLnBrk="1" hangingPunct="1"/>
            <a:r>
              <a:rPr lang="en-US" altLang="zh-CN" b="1" dirty="0"/>
              <a:t>4</a:t>
            </a:r>
            <a:r>
              <a:rPr lang="zh-CN" altLang="en-US" b="1" dirty="0"/>
              <a:t>、电阻值大小的识别</a:t>
            </a:r>
            <a:endParaRPr lang="zh-CN" altLang="en-US" b="1" dirty="0"/>
          </a:p>
        </p:txBody>
      </p:sp>
      <p:graphicFrame>
        <p:nvGraphicFramePr>
          <p:cNvPr id="18435" name="表格 18434"/>
          <p:cNvGraphicFramePr>
            <a:graphicFrameLocks noGrp="1"/>
          </p:cNvGraphicFramePr>
          <p:nvPr/>
        </p:nvGraphicFramePr>
        <p:xfrm>
          <a:off x="2424114" y="1052514"/>
          <a:ext cx="7489825" cy="5464175"/>
        </p:xfrm>
        <a:graphic>
          <a:graphicData uri="http://schemas.openxmlformats.org/drawingml/2006/table">
            <a:tbl>
              <a:tblPr/>
              <a:tblGrid>
                <a:gridCol w="773112"/>
                <a:gridCol w="1358900"/>
                <a:gridCol w="1363663"/>
                <a:gridCol w="1298575"/>
                <a:gridCol w="1296987"/>
                <a:gridCol w="1398588"/>
              </a:tblGrid>
              <a:tr h="7016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颜</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色</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左第</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一位</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左第</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二位</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左第</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三位</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右第</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二位</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右第一位</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（误差）</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棕</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红</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G±2%</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橙</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黄</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绿</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D±0.5%</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蓝</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C±0.25%</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紫</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B±0.1%</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灰</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白</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黑</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金</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J±5%</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r h="396875">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银</a:t>
                      </a: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rgbClr val="A50021"/>
                        </a:buClr>
                        <a:buSzPct val="75000"/>
                        <a:buFont typeface="Wingdings" panose="05000000000000000000" pitchFamily="2" charset="2"/>
                        <a:buNone/>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c>
                  <a:txBody>
                    <a:bodyPr/>
                    <a:lstStyle>
                      <a:lvl1pPr>
                        <a:spcBef>
                          <a:spcPct val="20000"/>
                        </a:spcBef>
                        <a:buClr>
                          <a:srgbClr val="A50021"/>
                        </a:buClr>
                        <a:buSzPct val="75000"/>
                        <a:buFont typeface="Wingdings" panose="05000000000000000000" pitchFamily="2" charset="2"/>
                        <a:defRPr sz="2800">
                          <a:solidFill>
                            <a:schemeClr val="tx1"/>
                          </a:solidFill>
                          <a:latin typeface="Times New Roman" panose="02020603050405020304" pitchFamily="18" charset="0"/>
                          <a:ea typeface="宋体" panose="02010600030101010101" pitchFamily="2" charset="-122"/>
                        </a:defRPr>
                      </a:lvl1pPr>
                      <a:lvl2pPr marL="1027430" indent="-455930">
                        <a:spcBef>
                          <a:spcPct val="20000"/>
                        </a:spcBef>
                        <a:buClr>
                          <a:schemeClr val="accent2"/>
                        </a:buClr>
                        <a:buSzPct val="75000"/>
                        <a:buFont typeface="Wingdings" panose="05000000000000000000" pitchFamily="2" charset="2"/>
                        <a:defRPr sz="2400">
                          <a:solidFill>
                            <a:schemeClr val="tx1"/>
                          </a:solidFill>
                          <a:latin typeface="Times New Roman" panose="02020603050405020304" pitchFamily="18" charset="0"/>
                          <a:ea typeface="宋体" panose="02010600030101010101" pitchFamily="2" charset="-122"/>
                        </a:defRPr>
                      </a:lvl2pPr>
                      <a:lvl3pPr marL="1370330" indent="-228600">
                        <a:spcBef>
                          <a:spcPct val="20000"/>
                        </a:spcBef>
                        <a:buClr>
                          <a:srgbClr val="666699"/>
                        </a:buClr>
                        <a:buSzPct val="70000"/>
                        <a:buFont typeface="Wingdings" panose="05000000000000000000" pitchFamily="2" charset="2"/>
                        <a:defRPr sz="2000">
                          <a:solidFill>
                            <a:schemeClr val="tx1"/>
                          </a:solidFill>
                          <a:latin typeface="Times New Roman" panose="02020603050405020304" pitchFamily="18" charset="0"/>
                          <a:ea typeface="宋体" panose="02010600030101010101" pitchFamily="2" charset="-122"/>
                        </a:defRPr>
                      </a:lvl3pPr>
                      <a:lvl4pPr marL="1713230" indent="-228600">
                        <a:spcBef>
                          <a:spcPct val="20000"/>
                        </a:spcBef>
                        <a:buSzPct val="60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55000"/>
                        <a:buFont typeface="Wingdings" panose="05000000000000000000" pitchFamily="2" charset="2"/>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A50021"/>
                        </a:buClr>
                        <a:buSzPct val="75000"/>
                        <a:buFont typeface="Wingdings" panose="05000000000000000000" pitchFamily="2" charset="2"/>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K±10%</a:t>
                      </a:r>
                      <a:endPar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5" marB="45725" horzOverflow="overflow">
                    <a:lnL w="12700" cap="flat" cmpd="sng" algn="ctr">
                      <a:solidFill>
                        <a:srgbClr val="000000"/>
                      </a:solidFill>
                      <a:prstDash val="solid"/>
                      <a:bevel/>
                      <a:headEnd type="none" w="med" len="med"/>
                      <a:tailEnd type="none" w="med" len="med"/>
                    </a:lnL>
                    <a:lnR w="12700" cap="flat" cmpd="sng" algn="ctr">
                      <a:solidFill>
                        <a:srgbClr val="000000"/>
                      </a:solidFill>
                      <a:prstDash val="solid"/>
                      <a:bevel/>
                      <a:headEnd type="none" w="med" len="med"/>
                      <a:tailEnd type="none" w="med" len="med"/>
                    </a:lnR>
                    <a:lnT w="12700" cap="flat" cmpd="sng" algn="ctr">
                      <a:solidFill>
                        <a:srgbClr val="000000"/>
                      </a:solidFill>
                      <a:prstDash val="solid"/>
                      <a:bevel/>
                      <a:headEnd type="none" w="med" len="med"/>
                      <a:tailEnd type="none" w="med" len="med"/>
                    </a:lnT>
                    <a:lnB w="12700" cap="flat" cmpd="sng" algn="ctr">
                      <a:solidFill>
                        <a:srgbClr val="000000"/>
                      </a:solidFill>
                      <a:prstDash val="solid"/>
                      <a:bevel/>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9457"/>
          <p:cNvSpPr>
            <a:spLocks noGrp="1" noChangeArrowheads="1"/>
          </p:cNvSpPr>
          <p:nvPr>
            <p:ph type="title" idx="4294967295"/>
          </p:nvPr>
        </p:nvSpPr>
        <p:spPr>
          <a:xfrm>
            <a:off x="4333875" y="271463"/>
            <a:ext cx="7858125" cy="792162"/>
          </a:xfrm>
        </p:spPr>
        <p:txBody>
          <a:bodyPr/>
          <a:lstStyle/>
          <a:p>
            <a:pPr eaLnBrk="1" hangingPunct="1"/>
            <a:r>
              <a:rPr lang="en-US" altLang="zh-CN" b="1" dirty="0"/>
              <a:t>4</a:t>
            </a:r>
            <a:r>
              <a:rPr lang="zh-CN" altLang="en-US" b="1" dirty="0"/>
              <a:t>、电阻值大小的识别</a:t>
            </a:r>
            <a:endParaRPr lang="zh-CN" altLang="en-US" b="1" dirty="0"/>
          </a:p>
        </p:txBody>
      </p:sp>
      <p:sp>
        <p:nvSpPr>
          <p:cNvPr id="44035" name="文本占位符 19458"/>
          <p:cNvSpPr>
            <a:spLocks noGrp="1" noChangeArrowheads="1"/>
          </p:cNvSpPr>
          <p:nvPr>
            <p:ph type="body" sz="half" idx="4294967295"/>
          </p:nvPr>
        </p:nvSpPr>
        <p:spPr>
          <a:xfrm>
            <a:off x="1944689" y="1347788"/>
            <a:ext cx="8362950" cy="503237"/>
          </a:xfrm>
        </p:spPr>
        <p:txBody>
          <a:bodyPr/>
          <a:lstStyle/>
          <a:p>
            <a:pPr eaLnBrk="1" hangingPunct="1">
              <a:lnSpc>
                <a:spcPct val="90000"/>
              </a:lnSpc>
              <a:buFont typeface="Wingdings" panose="05000000000000000000" pitchFamily="2" charset="2"/>
              <a:buNone/>
            </a:pPr>
            <a:r>
              <a:rPr lang="en-US" altLang="zh-CN" dirty="0"/>
              <a:t>           </a:t>
            </a:r>
            <a:r>
              <a:rPr lang="zh-CN" altLang="en-US" dirty="0"/>
              <a:t>五色环电阻            </a:t>
            </a:r>
            <a:r>
              <a:rPr lang="zh-CN" altLang="en-US" dirty="0" smtClean="0"/>
              <a:t>   </a:t>
            </a:r>
            <a:r>
              <a:rPr lang="zh-CN" altLang="en-US" dirty="0"/>
              <a:t>四色环电阻</a:t>
            </a:r>
            <a:endParaRPr lang="zh-CN" altLang="en-US" dirty="0"/>
          </a:p>
        </p:txBody>
      </p:sp>
      <p:pic>
        <p:nvPicPr>
          <p:cNvPr id="44036" name="内容占位符 19459" descr="hc06"/>
          <p:cNvPicPr>
            <a:picLocks noGrp="1" noChangeAspect="1" noChangeArrowheads="1"/>
          </p:cNvPicPr>
          <p:nvPr>
            <p:ph sz="quarter" idx="4294967295"/>
          </p:nvPr>
        </p:nvPicPr>
        <p:blipFill>
          <a:blip r:embed="rId1" cstate="hqprint">
            <a:extLst>
              <a:ext uri="{28A0092B-C50C-407E-A947-70E740481C1C}">
                <a14:useLocalDpi xmlns:a14="http://schemas.microsoft.com/office/drawing/2010/main" val="0"/>
              </a:ext>
            </a:extLst>
          </a:blip>
          <a:srcRect/>
          <a:stretch>
            <a:fillRect/>
          </a:stretch>
        </p:blipFill>
        <p:spPr>
          <a:xfrm>
            <a:off x="0" y="1773238"/>
            <a:ext cx="2568575" cy="1270000"/>
          </a:xfrm>
        </p:spPr>
      </p:pic>
      <p:pic>
        <p:nvPicPr>
          <p:cNvPr id="44037" name="内容占位符 19460" descr="1000"/>
          <p:cNvPicPr>
            <a:picLocks noGrp="1" noChangeAspect="1" noChangeArrowheads="1"/>
          </p:cNvPicPr>
          <p:nvPr>
            <p:ph sz="quarter" idx="4294967295"/>
          </p:nvPr>
        </p:nvPicPr>
        <p:blipFill>
          <a:blip r:embed="rId2" cstate="print">
            <a:extLst>
              <a:ext uri="{28A0092B-C50C-407E-A947-70E740481C1C}">
                <a14:useLocalDpi xmlns:a14="http://schemas.microsoft.com/office/drawing/2010/main" val="0"/>
              </a:ext>
            </a:extLst>
          </a:blip>
          <a:srcRect/>
          <a:stretch>
            <a:fillRect/>
          </a:stretch>
        </p:blipFill>
        <p:spPr>
          <a:xfrm>
            <a:off x="9448800" y="1773238"/>
            <a:ext cx="2743200" cy="1370012"/>
          </a:xfrm>
        </p:spPr>
      </p:pic>
      <p:pic>
        <p:nvPicPr>
          <p:cNvPr id="44038" name="图片 194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914" y="3141663"/>
            <a:ext cx="7451725"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2855914" y="1925405"/>
            <a:ext cx="2566638" cy="1268078"/>
          </a:xfrm>
          <a:prstGeom prst="rect">
            <a:avLst/>
          </a:prstGeom>
        </p:spPr>
      </p:pic>
      <p:pic>
        <p:nvPicPr>
          <p:cNvPr id="3" name="图片 2"/>
          <p:cNvPicPr>
            <a:picLocks noChangeAspect="1"/>
          </p:cNvPicPr>
          <p:nvPr/>
        </p:nvPicPr>
        <p:blipFill>
          <a:blip r:embed="rId5"/>
          <a:stretch>
            <a:fillRect/>
          </a:stretch>
        </p:blipFill>
        <p:spPr>
          <a:xfrm>
            <a:off x="5920287" y="1873585"/>
            <a:ext cx="2743438" cy="1371719"/>
          </a:xfrm>
          <a:prstGeom prst="rect">
            <a:avLst/>
          </a:prstGeom>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20481"/>
          <p:cNvSpPr>
            <a:spLocks noGrp="1" noChangeArrowheads="1"/>
          </p:cNvSpPr>
          <p:nvPr>
            <p:ph type="title" idx="4294967295"/>
          </p:nvPr>
        </p:nvSpPr>
        <p:spPr>
          <a:xfrm>
            <a:off x="4333875" y="377825"/>
            <a:ext cx="7858125" cy="561975"/>
          </a:xfrm>
        </p:spPr>
        <p:txBody>
          <a:bodyPr/>
          <a:lstStyle/>
          <a:p>
            <a:pPr eaLnBrk="1" hangingPunct="1"/>
            <a:r>
              <a:rPr lang="zh-CN" altLang="en-US" b="1" dirty="0"/>
              <a:t>二、电容</a:t>
            </a:r>
            <a:endParaRPr lang="zh-CN" altLang="en-US" b="1" dirty="0"/>
          </a:p>
        </p:txBody>
      </p:sp>
      <p:sp>
        <p:nvSpPr>
          <p:cNvPr id="45059" name="文本占位符 20482"/>
          <p:cNvSpPr>
            <a:spLocks noGrp="1" noChangeArrowheads="1"/>
          </p:cNvSpPr>
          <p:nvPr>
            <p:ph type="body" sz="half" idx="4294967295"/>
          </p:nvPr>
        </p:nvSpPr>
        <p:spPr>
          <a:xfrm>
            <a:off x="0" y="1484313"/>
            <a:ext cx="8064500" cy="2620962"/>
          </a:xfrm>
        </p:spPr>
        <p:txBody>
          <a:bodyPr/>
          <a:lstStyle/>
          <a:p>
            <a:pPr eaLnBrk="1" hangingPunct="1">
              <a:lnSpc>
                <a:spcPct val="90000"/>
              </a:lnSpc>
              <a:buFont typeface="Wingdings" panose="05000000000000000000" pitchFamily="2" charset="2"/>
              <a:buNone/>
            </a:pPr>
            <a:r>
              <a:rPr lang="zh-CN" altLang="en-US" sz="2400" b="1"/>
              <a:t>    1、电容的主要参数</a:t>
            </a:r>
            <a:endParaRPr lang="zh-CN" altLang="en-US" sz="2400" b="1"/>
          </a:p>
          <a:p>
            <a:pPr eaLnBrk="1" hangingPunct="1">
              <a:lnSpc>
                <a:spcPct val="90000"/>
              </a:lnSpc>
              <a:buFont typeface="Wingdings" panose="05000000000000000000" pitchFamily="2" charset="2"/>
              <a:buNone/>
            </a:pPr>
            <a:r>
              <a:rPr lang="zh-CN" altLang="en-US" sz="2400" b="1"/>
              <a:t>  （1）电容的容量</a:t>
            </a:r>
            <a:endParaRPr lang="zh-CN" altLang="en-US" sz="2400" b="1"/>
          </a:p>
          <a:p>
            <a:pPr eaLnBrk="1" hangingPunct="1">
              <a:lnSpc>
                <a:spcPct val="90000"/>
              </a:lnSpc>
              <a:buFont typeface="Wingdings" panose="05000000000000000000" pitchFamily="2" charset="2"/>
              <a:buNone/>
            </a:pPr>
            <a:r>
              <a:rPr lang="zh-CN" altLang="en-US" sz="2400" b="1"/>
              <a:t>	       瓷介质电容容量小，</a:t>
            </a:r>
            <a:r>
              <a:rPr lang="en-US" altLang="zh-CN" sz="2400" b="1"/>
              <a:t>  </a:t>
            </a:r>
            <a:r>
              <a:rPr lang="zh-CN" altLang="en-US" sz="2400" b="1"/>
              <a:t>容量范围一般在1pF（皮法）--1μF（微法）之间。形似圆饼状，其表示方法有：直接表示法、不标单位的直接表示法和数码表示法。</a:t>
            </a:r>
            <a:endParaRPr lang="zh-CN" altLang="en-US" sz="2400" b="1"/>
          </a:p>
          <a:p>
            <a:pPr eaLnBrk="1" hangingPunct="1">
              <a:lnSpc>
                <a:spcPct val="90000"/>
              </a:lnSpc>
              <a:buFont typeface="Wingdings" panose="05000000000000000000" pitchFamily="2" charset="2"/>
              <a:buNone/>
            </a:pPr>
            <a:r>
              <a:rPr lang="zh-CN" altLang="en-US" sz="2400" b="1"/>
              <a:t>   μF=10</a:t>
            </a:r>
            <a:r>
              <a:rPr lang="zh-CN" altLang="en-US" sz="2400" b="1" baseline="30000"/>
              <a:t>-6</a:t>
            </a:r>
            <a:r>
              <a:rPr lang="zh-CN" altLang="en-US" sz="2400" b="1"/>
              <a:t>F，nF=10</a:t>
            </a:r>
            <a:r>
              <a:rPr lang="zh-CN" altLang="en-US" sz="2400" b="1" baseline="30000"/>
              <a:t>-9</a:t>
            </a:r>
            <a:r>
              <a:rPr lang="zh-CN" altLang="en-US" sz="2400" b="1"/>
              <a:t>F，pF=10</a:t>
            </a:r>
            <a:r>
              <a:rPr lang="zh-CN" altLang="en-US" sz="2400" b="1" baseline="30000"/>
              <a:t>-12</a:t>
            </a:r>
            <a:r>
              <a:rPr lang="zh-CN" altLang="en-US" sz="2400" b="1"/>
              <a:t>F</a:t>
            </a:r>
            <a:endParaRPr lang="zh-CN" altLang="en-US" sz="2400" b="1"/>
          </a:p>
        </p:txBody>
      </p:sp>
      <p:pic>
        <p:nvPicPr>
          <p:cNvPr id="45060" name="内容占位符 20483" descr="17-1801"/>
          <p:cNvPicPr>
            <a:picLocks noGrp="1" noChangeAspect="1" noChangeArrowheads="1"/>
          </p:cNvPicPr>
          <p:nvPr>
            <p:ph sz="quarter" idx="4294967295"/>
          </p:nvPr>
        </p:nvPicPr>
        <p:blipFill>
          <a:blip r:embed="rId1" cstate="hqprint">
            <a:extLst>
              <a:ext uri="{28A0092B-C50C-407E-A947-70E740481C1C}">
                <a14:useLocalDpi xmlns:a14="http://schemas.microsoft.com/office/drawing/2010/main" val="0"/>
              </a:ext>
            </a:extLst>
          </a:blip>
          <a:srcRect/>
          <a:stretch>
            <a:fillRect/>
          </a:stretch>
        </p:blipFill>
        <p:spPr>
          <a:xfrm>
            <a:off x="0" y="4292600"/>
            <a:ext cx="3644900" cy="2187575"/>
          </a:xfrm>
        </p:spPr>
      </p:pic>
      <p:pic>
        <p:nvPicPr>
          <p:cNvPr id="45061" name="内容占位符 20484" descr="03-16"/>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9956800" y="4264025"/>
            <a:ext cx="2235200" cy="2185988"/>
          </a:xfrm>
        </p:spPr>
      </p:pic>
      <p:pic>
        <p:nvPicPr>
          <p:cNvPr id="2" name="图片 1"/>
          <p:cNvPicPr>
            <a:picLocks noChangeAspect="1"/>
          </p:cNvPicPr>
          <p:nvPr/>
        </p:nvPicPr>
        <p:blipFill>
          <a:blip r:embed="rId3"/>
          <a:stretch>
            <a:fillRect/>
          </a:stretch>
        </p:blipFill>
        <p:spPr>
          <a:xfrm>
            <a:off x="2511013" y="4105275"/>
            <a:ext cx="3645724" cy="2188654"/>
          </a:xfrm>
          <a:prstGeom prst="rect">
            <a:avLst/>
          </a:prstGeom>
        </p:spPr>
      </p:pic>
      <p:pic>
        <p:nvPicPr>
          <p:cNvPr id="3" name="图片 2"/>
          <p:cNvPicPr>
            <a:picLocks noChangeAspect="1"/>
          </p:cNvPicPr>
          <p:nvPr/>
        </p:nvPicPr>
        <p:blipFill>
          <a:blip r:embed="rId4"/>
          <a:stretch>
            <a:fillRect/>
          </a:stretch>
        </p:blipFill>
        <p:spPr>
          <a:xfrm>
            <a:off x="7444963" y="3996325"/>
            <a:ext cx="2231329" cy="2188654"/>
          </a:xfrm>
          <a:prstGeom prst="rect">
            <a:avLst/>
          </a:prstGeom>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21505"/>
          <p:cNvSpPr>
            <a:spLocks noGrp="1" noChangeArrowheads="1"/>
          </p:cNvSpPr>
          <p:nvPr>
            <p:ph type="title" idx="4294967295"/>
          </p:nvPr>
        </p:nvSpPr>
        <p:spPr>
          <a:xfrm>
            <a:off x="3427720" y="165715"/>
            <a:ext cx="7859712" cy="561975"/>
          </a:xfrm>
        </p:spPr>
        <p:txBody>
          <a:bodyPr/>
          <a:lstStyle/>
          <a:p>
            <a:pPr eaLnBrk="1" hangingPunct="1"/>
            <a:r>
              <a:rPr lang="en-US" altLang="zh-CN" b="1" dirty="0"/>
              <a:t>1</a:t>
            </a:r>
            <a:r>
              <a:rPr lang="zh-CN" altLang="en-US" b="1" dirty="0"/>
              <a:t>、电容的主要参数</a:t>
            </a:r>
            <a:endParaRPr lang="zh-CN" altLang="en-US" b="1" dirty="0"/>
          </a:p>
        </p:txBody>
      </p:sp>
      <p:sp>
        <p:nvSpPr>
          <p:cNvPr id="46083" name="文本占位符 21506"/>
          <p:cNvSpPr>
            <a:spLocks noGrp="1" noChangeArrowheads="1"/>
          </p:cNvSpPr>
          <p:nvPr>
            <p:ph idx="4294967295"/>
          </p:nvPr>
        </p:nvSpPr>
        <p:spPr>
          <a:xfrm>
            <a:off x="0" y="1600200"/>
            <a:ext cx="8229600" cy="4525963"/>
          </a:xfrm>
        </p:spPr>
        <p:txBody>
          <a:bodyPr/>
          <a:lstStyle/>
          <a:p>
            <a:pPr eaLnBrk="1" hangingPunct="1">
              <a:lnSpc>
                <a:spcPct val="110000"/>
              </a:lnSpc>
              <a:buFont typeface="Wingdings" panose="05000000000000000000" pitchFamily="2" charset="2"/>
              <a:buNone/>
            </a:pPr>
            <a:r>
              <a:rPr lang="zh-CN" altLang="en-US" dirty="0"/>
              <a:t>（</a:t>
            </a:r>
            <a:r>
              <a:rPr lang="en-US" altLang="zh-CN" b="1" dirty="0"/>
              <a:t>2</a:t>
            </a:r>
            <a:r>
              <a:rPr lang="zh-CN" altLang="en-US" b="1" dirty="0"/>
              <a:t>）电容的耐压</a:t>
            </a:r>
            <a:endParaRPr lang="zh-CN" altLang="en-US" b="1" dirty="0"/>
          </a:p>
          <a:p>
            <a:pPr eaLnBrk="1" hangingPunct="1">
              <a:lnSpc>
                <a:spcPct val="110000"/>
              </a:lnSpc>
              <a:buFont typeface="Wingdings" panose="05000000000000000000" pitchFamily="2" charset="2"/>
              <a:buNone/>
            </a:pPr>
            <a:r>
              <a:rPr lang="zh-CN" altLang="en-US" b="1" dirty="0"/>
              <a:t>           电容的耐压是一个非常重要的指标，本质上是电容的额定直流工作电压，既电容器在线路中能长期可靠工作而不被击穿时所能承受的最大直流工作电压。电容器的主要参数一般标注在塑封外壳上，供选用时参考。例如：“</a:t>
            </a:r>
            <a:r>
              <a:rPr lang="en-US" altLang="zh-CN" b="1" dirty="0"/>
              <a:t>1μF50V”</a:t>
            </a:r>
            <a:r>
              <a:rPr lang="zh-CN" altLang="en-US" b="1" dirty="0"/>
              <a:t>代表：容量</a:t>
            </a:r>
            <a:r>
              <a:rPr lang="en-US" altLang="zh-CN" b="1" dirty="0"/>
              <a:t>1μF</a:t>
            </a:r>
            <a:r>
              <a:rPr lang="zh-CN" altLang="en-US" b="1" dirty="0"/>
              <a:t>，耐压值</a:t>
            </a:r>
            <a:r>
              <a:rPr lang="en-US" altLang="zh-CN" b="1" dirty="0"/>
              <a:t>50V</a:t>
            </a:r>
            <a:endParaRPr lang="en-US" altLang="zh-CN" b="1" dirty="0"/>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22529"/>
          <p:cNvSpPr>
            <a:spLocks noGrp="1" noChangeArrowheads="1"/>
          </p:cNvSpPr>
          <p:nvPr>
            <p:ph type="title" idx="4294967295"/>
          </p:nvPr>
        </p:nvSpPr>
        <p:spPr>
          <a:xfrm>
            <a:off x="3629819" y="172321"/>
            <a:ext cx="7859712" cy="561975"/>
          </a:xfrm>
        </p:spPr>
        <p:txBody>
          <a:bodyPr/>
          <a:lstStyle/>
          <a:p>
            <a:pPr eaLnBrk="1" hangingPunct="1"/>
            <a:r>
              <a:rPr lang="en-US" altLang="zh-CN" b="1" dirty="0"/>
              <a:t>1</a:t>
            </a:r>
            <a:r>
              <a:rPr lang="zh-CN" altLang="en-US" b="1" dirty="0"/>
              <a:t>、电容的主要参数</a:t>
            </a:r>
            <a:endParaRPr lang="zh-CN" altLang="en-US" b="1" dirty="0"/>
          </a:p>
        </p:txBody>
      </p:sp>
      <p:sp>
        <p:nvSpPr>
          <p:cNvPr id="47107" name="文本占位符 22530"/>
          <p:cNvSpPr>
            <a:spLocks noGrp="1" noChangeArrowheads="1"/>
          </p:cNvSpPr>
          <p:nvPr>
            <p:ph type="body" sz="half" idx="4294967295"/>
          </p:nvPr>
        </p:nvSpPr>
        <p:spPr>
          <a:xfrm>
            <a:off x="0" y="1600200"/>
            <a:ext cx="7704138" cy="3124200"/>
          </a:xfrm>
        </p:spPr>
        <p:txBody>
          <a:bodyPr/>
          <a:lstStyle/>
          <a:p>
            <a:pPr eaLnBrk="1" hangingPunct="1">
              <a:buFont typeface="Wingdings" panose="05000000000000000000" pitchFamily="2" charset="2"/>
              <a:buNone/>
            </a:pPr>
            <a:r>
              <a:rPr lang="zh-CN" altLang="en-US" b="1"/>
              <a:t>（</a:t>
            </a:r>
            <a:r>
              <a:rPr lang="en-US" altLang="zh-CN" b="1"/>
              <a:t>3</a:t>
            </a:r>
            <a:r>
              <a:rPr lang="zh-CN" altLang="en-US" b="1"/>
              <a:t>）电容的耐温特性</a:t>
            </a:r>
            <a:endParaRPr lang="zh-CN" altLang="en-US" b="1"/>
          </a:p>
          <a:p>
            <a:pPr eaLnBrk="1" hangingPunct="1">
              <a:buFont typeface="Wingdings" panose="05000000000000000000" pitchFamily="2" charset="2"/>
              <a:buNone/>
            </a:pPr>
            <a:r>
              <a:rPr lang="zh-CN" altLang="en-US" b="1"/>
              <a:t>	电容的耐温特性也是一个非常重要的指标，电容的使用环境主要是对温度的要求，特别是电解电容，一般使用温度是</a:t>
            </a:r>
            <a:r>
              <a:rPr lang="en-US" altLang="zh-CN" b="1"/>
              <a:t>-40℃</a:t>
            </a:r>
            <a:r>
              <a:rPr lang="zh-CN" altLang="en-US" b="1"/>
              <a:t>～</a:t>
            </a:r>
            <a:r>
              <a:rPr lang="en-US" altLang="zh-CN" b="1"/>
              <a:t>+85℃</a:t>
            </a:r>
            <a:endParaRPr lang="en-US" altLang="zh-CN" b="1"/>
          </a:p>
          <a:p>
            <a:pPr eaLnBrk="1" hangingPunct="1">
              <a:buFont typeface="Wingdings" panose="05000000000000000000" pitchFamily="2" charset="2"/>
              <a:buNone/>
            </a:pPr>
            <a:r>
              <a:rPr lang="zh-CN" altLang="en-US" b="1"/>
              <a:t>（</a:t>
            </a:r>
            <a:r>
              <a:rPr lang="en-US" altLang="zh-CN" b="1"/>
              <a:t>4</a:t>
            </a:r>
            <a:r>
              <a:rPr lang="zh-CN" altLang="en-US" b="1"/>
              <a:t>）电容的电路符号</a:t>
            </a:r>
            <a:endParaRPr lang="zh-CN" altLang="en-US" b="1"/>
          </a:p>
          <a:p>
            <a:pPr eaLnBrk="1" hangingPunct="1">
              <a:buFont typeface="Wingdings" panose="05000000000000000000" pitchFamily="2" charset="2"/>
              <a:buNone/>
            </a:pPr>
            <a:r>
              <a:rPr lang="zh-CN" altLang="en-US" b="1"/>
              <a:t>	在电路中电容器的常用符号如下图所示：</a:t>
            </a:r>
            <a:endParaRPr lang="zh-CN" altLang="en-US" b="1"/>
          </a:p>
        </p:txBody>
      </p:sp>
      <p:pic>
        <p:nvPicPr>
          <p:cNvPr id="47108" name="内容占位符 22531"/>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a:xfrm>
            <a:off x="0" y="4868863"/>
            <a:ext cx="7559675" cy="1309687"/>
          </a:xfrm>
        </p:spPr>
      </p:pic>
      <p:pic>
        <p:nvPicPr>
          <p:cNvPr id="2" name="图片 1"/>
          <p:cNvPicPr>
            <a:picLocks noChangeAspect="1"/>
          </p:cNvPicPr>
          <p:nvPr/>
        </p:nvPicPr>
        <p:blipFill>
          <a:blip r:embed="rId2"/>
          <a:stretch>
            <a:fillRect/>
          </a:stretch>
        </p:blipFill>
        <p:spPr>
          <a:xfrm>
            <a:off x="2178500" y="4708785"/>
            <a:ext cx="7559695" cy="1310754"/>
          </a:xfrm>
          <a:prstGeom prst="rect">
            <a:avLst/>
          </a:prstGeom>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23553"/>
          <p:cNvSpPr>
            <a:spLocks noGrp="1" noChangeArrowheads="1"/>
          </p:cNvSpPr>
          <p:nvPr>
            <p:ph type="title" idx="4294967295"/>
          </p:nvPr>
        </p:nvSpPr>
        <p:spPr>
          <a:xfrm>
            <a:off x="4332288" y="457200"/>
            <a:ext cx="7859712" cy="561975"/>
          </a:xfrm>
        </p:spPr>
        <p:txBody>
          <a:bodyPr/>
          <a:lstStyle/>
          <a:p>
            <a:pPr eaLnBrk="1" hangingPunct="1"/>
            <a:r>
              <a:rPr lang="en-US" altLang="zh-CN" b="1"/>
              <a:t>2</a:t>
            </a:r>
            <a:r>
              <a:rPr lang="zh-CN" altLang="en-US" b="1"/>
              <a:t>、电容的分类</a:t>
            </a:r>
            <a:endParaRPr lang="zh-CN" altLang="en-US" b="1"/>
          </a:p>
        </p:txBody>
      </p:sp>
      <p:sp>
        <p:nvSpPr>
          <p:cNvPr id="48131" name="文本占位符 23554"/>
          <p:cNvSpPr>
            <a:spLocks noGrp="1" noChangeArrowheads="1"/>
          </p:cNvSpPr>
          <p:nvPr>
            <p:ph idx="4294967295"/>
          </p:nvPr>
        </p:nvSpPr>
        <p:spPr>
          <a:xfrm>
            <a:off x="0" y="1339850"/>
            <a:ext cx="7632700" cy="5184775"/>
          </a:xfrm>
        </p:spPr>
        <p:txBody>
          <a:bodyPr/>
          <a:lstStyle/>
          <a:p>
            <a:pPr eaLnBrk="1" hangingPunct="1">
              <a:buFont typeface="Wingdings" panose="05000000000000000000" pitchFamily="2" charset="2"/>
              <a:buNone/>
            </a:pPr>
            <a:r>
              <a:rPr lang="en-US" altLang="zh-CN"/>
              <a:t>	       </a:t>
            </a:r>
            <a:r>
              <a:rPr lang="zh-CN" altLang="en-US" b="1"/>
              <a:t>电容的种类很多，分类方法也很多。按电容量是否可调整，可分为固定电容器、可变电容器及微调电容器（半可变电容器）。按所用介质的不同可分为瓷介质电容、云母电容、纸介质电容、塑料薄膜电容。最常用的电容有瓷介质电容、电解电容。电解电容容量较大，一般在</a:t>
            </a:r>
            <a:r>
              <a:rPr lang="en-US" altLang="zh-CN" b="1"/>
              <a:t>0.1μF</a:t>
            </a:r>
            <a:r>
              <a:rPr lang="zh-CN" altLang="en-US" b="1"/>
              <a:t>～</a:t>
            </a:r>
            <a:r>
              <a:rPr lang="en-US" altLang="zh-CN" b="1"/>
              <a:t>999μF</a:t>
            </a:r>
            <a:r>
              <a:rPr lang="zh-CN" altLang="en-US" b="1"/>
              <a:t>之间，形似圆柱状，具有极性区分：</a:t>
            </a:r>
            <a:endParaRPr lang="zh-CN" altLang="en-US" b="1"/>
          </a:p>
          <a:p>
            <a:pPr eaLnBrk="1" hangingPunct="1">
              <a:buFont typeface="Wingdings" panose="05000000000000000000" pitchFamily="2" charset="2"/>
              <a:buNone/>
            </a:pPr>
            <a:r>
              <a:rPr lang="zh-CN" altLang="en-US" b="1"/>
              <a:t>   （</a:t>
            </a:r>
            <a:r>
              <a:rPr lang="en-US" altLang="zh-CN" b="1"/>
              <a:t>1</a:t>
            </a:r>
            <a:r>
              <a:rPr lang="zh-CN" altLang="en-US" b="1"/>
              <a:t>）、新电解电容以管脚为标志：长脚为正极，短脚为负极。</a:t>
            </a:r>
            <a:endParaRPr lang="zh-CN" altLang="en-US" b="1"/>
          </a:p>
          <a:p>
            <a:pPr eaLnBrk="1" hangingPunct="1">
              <a:buFont typeface="Wingdings" panose="05000000000000000000" pitchFamily="2" charset="2"/>
              <a:buNone/>
            </a:pPr>
            <a:r>
              <a:rPr lang="zh-CN" altLang="en-US" b="1"/>
              <a:t>   （</a:t>
            </a:r>
            <a:r>
              <a:rPr lang="en-US" altLang="zh-CN" b="1"/>
              <a:t>2</a:t>
            </a:r>
            <a:r>
              <a:rPr lang="zh-CN" altLang="en-US" b="1"/>
              <a:t>）、在外壳封装上有极性标志</a:t>
            </a:r>
            <a:r>
              <a:rPr lang="zh-CN" altLang="en-US"/>
              <a:t>。</a:t>
            </a:r>
            <a:endParaRPr lang="zh-CN" alt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24577"/>
          <p:cNvSpPr>
            <a:spLocks noGrp="1" noChangeArrowheads="1"/>
          </p:cNvSpPr>
          <p:nvPr>
            <p:ph type="title" idx="4294967295"/>
          </p:nvPr>
        </p:nvSpPr>
        <p:spPr>
          <a:xfrm>
            <a:off x="3437552" y="204019"/>
            <a:ext cx="7859712" cy="561975"/>
          </a:xfrm>
        </p:spPr>
        <p:txBody>
          <a:bodyPr/>
          <a:lstStyle/>
          <a:p>
            <a:pPr eaLnBrk="1" hangingPunct="1"/>
            <a:r>
              <a:rPr lang="en-US" altLang="zh-CN" b="1" dirty="0"/>
              <a:t>3</a:t>
            </a:r>
            <a:r>
              <a:rPr lang="zh-CN" altLang="en-US" b="1" dirty="0"/>
              <a:t>、电容的电气特性</a:t>
            </a:r>
            <a:endParaRPr lang="zh-CN" altLang="en-US" b="1" dirty="0"/>
          </a:p>
        </p:txBody>
      </p:sp>
      <p:sp>
        <p:nvSpPr>
          <p:cNvPr id="49155" name="文本占位符 24578"/>
          <p:cNvSpPr>
            <a:spLocks noGrp="1" noChangeArrowheads="1"/>
          </p:cNvSpPr>
          <p:nvPr>
            <p:ph idx="4294967295"/>
          </p:nvPr>
        </p:nvSpPr>
        <p:spPr>
          <a:xfrm>
            <a:off x="0" y="1600200"/>
            <a:ext cx="7559675" cy="4708525"/>
          </a:xfrm>
        </p:spPr>
        <p:txBody>
          <a:bodyPr/>
          <a:lstStyle/>
          <a:p>
            <a:pPr eaLnBrk="1" hangingPunct="1">
              <a:lnSpc>
                <a:spcPct val="110000"/>
              </a:lnSpc>
              <a:buFont typeface="Wingdings" panose="05000000000000000000" pitchFamily="2" charset="2"/>
              <a:buNone/>
            </a:pPr>
            <a:r>
              <a:rPr lang="en-US" altLang="zh-CN" sz="3600"/>
              <a:t>	      </a:t>
            </a:r>
            <a:r>
              <a:rPr lang="zh-CN" altLang="en-US" b="1"/>
              <a:t>电容式一种储能元件，储存电荷的能力用电容量来表示。电容器在电路中具有隔断直流电、通过交流电的特点，因此多用于电路级间耦合、滤波、去耦、旁路和信号调谐等方面。电容器在使用的过程中一定要注意正负极，电解电容的极性一定不可以接反</a:t>
            </a:r>
            <a:r>
              <a:rPr lang="zh-CN" altLang="en-US" sz="3600"/>
              <a:t>。</a:t>
            </a:r>
            <a:endParaRPr lang="zh-CN" altLang="en-US" sz="360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25601"/>
          <p:cNvSpPr>
            <a:spLocks noGrp="1" noChangeArrowheads="1"/>
          </p:cNvSpPr>
          <p:nvPr>
            <p:ph type="title" idx="4294967295"/>
          </p:nvPr>
        </p:nvSpPr>
        <p:spPr>
          <a:xfrm>
            <a:off x="3476881" y="179593"/>
            <a:ext cx="7859712" cy="561975"/>
          </a:xfrm>
        </p:spPr>
        <p:txBody>
          <a:bodyPr/>
          <a:lstStyle/>
          <a:p>
            <a:pPr eaLnBrk="1" hangingPunct="1"/>
            <a:r>
              <a:rPr lang="en-US" altLang="zh-CN" b="1" dirty="0"/>
              <a:t>4</a:t>
            </a:r>
            <a:r>
              <a:rPr lang="zh-CN" altLang="en-US" b="1" dirty="0"/>
              <a:t>、常见电容器</a:t>
            </a:r>
            <a:endParaRPr lang="zh-CN" altLang="en-US" b="1" dirty="0"/>
          </a:p>
        </p:txBody>
      </p:sp>
      <p:sp>
        <p:nvSpPr>
          <p:cNvPr id="50179" name="文本占位符 25602"/>
          <p:cNvSpPr>
            <a:spLocks noGrp="1" noChangeArrowheads="1"/>
          </p:cNvSpPr>
          <p:nvPr>
            <p:ph type="body" sz="half" idx="4294967295"/>
          </p:nvPr>
        </p:nvSpPr>
        <p:spPr>
          <a:xfrm>
            <a:off x="4546600" y="1600200"/>
            <a:ext cx="7645400" cy="1470025"/>
          </a:xfrm>
        </p:spPr>
        <p:txBody>
          <a:bodyPr/>
          <a:lstStyle/>
          <a:p>
            <a:pPr eaLnBrk="1" hangingPunct="1">
              <a:lnSpc>
                <a:spcPct val="90000"/>
              </a:lnSpc>
              <a:buFont typeface="Wingdings" panose="05000000000000000000" pitchFamily="2" charset="2"/>
              <a:buNone/>
            </a:pPr>
            <a:r>
              <a:rPr lang="zh-CN" altLang="en-US" b="1"/>
              <a:t>（</a:t>
            </a:r>
            <a:r>
              <a:rPr lang="en-US" altLang="zh-CN" b="1"/>
              <a:t>1</a:t>
            </a:r>
            <a:r>
              <a:rPr lang="zh-CN" altLang="en-US" b="1"/>
              <a:t>）、电解电容     （</a:t>
            </a:r>
            <a:r>
              <a:rPr lang="en-US" altLang="zh-CN" b="1"/>
              <a:t>2</a:t>
            </a:r>
            <a:r>
              <a:rPr lang="zh-CN" altLang="en-US" b="1"/>
              <a:t>）、瓷质电容</a:t>
            </a:r>
            <a:endParaRPr lang="zh-CN" altLang="en-US" b="1"/>
          </a:p>
          <a:p>
            <a:pPr eaLnBrk="1" hangingPunct="1">
              <a:lnSpc>
                <a:spcPct val="90000"/>
              </a:lnSpc>
              <a:buFont typeface="Wingdings" panose="05000000000000000000" pitchFamily="2" charset="2"/>
              <a:buNone/>
            </a:pPr>
            <a:r>
              <a:rPr lang="zh-CN" altLang="en-US" b="1"/>
              <a:t>（</a:t>
            </a:r>
            <a:r>
              <a:rPr lang="en-US" altLang="zh-CN" b="1"/>
              <a:t>3</a:t>
            </a:r>
            <a:r>
              <a:rPr lang="zh-CN" altLang="en-US" b="1"/>
              <a:t>）、独石电容     （</a:t>
            </a:r>
            <a:r>
              <a:rPr lang="en-US" altLang="zh-CN" b="1"/>
              <a:t>4</a:t>
            </a:r>
            <a:r>
              <a:rPr lang="zh-CN" altLang="en-US" b="1"/>
              <a:t>）、四联可变电容器</a:t>
            </a:r>
            <a:endParaRPr lang="zh-CN" altLang="en-US" b="1"/>
          </a:p>
          <a:p>
            <a:pPr eaLnBrk="1" hangingPunct="1">
              <a:lnSpc>
                <a:spcPct val="90000"/>
              </a:lnSpc>
              <a:buFont typeface="Wingdings" panose="05000000000000000000" pitchFamily="2" charset="2"/>
              <a:buNone/>
            </a:pPr>
            <a:r>
              <a:rPr lang="zh-CN" altLang="en-US" b="1"/>
              <a:t>（</a:t>
            </a:r>
            <a:r>
              <a:rPr lang="en-US" altLang="zh-CN" b="1"/>
              <a:t>5</a:t>
            </a:r>
            <a:r>
              <a:rPr lang="zh-CN" altLang="en-US" b="1"/>
              <a:t>）、半可调电容</a:t>
            </a:r>
            <a:endParaRPr lang="zh-CN" altLang="en-US" b="1"/>
          </a:p>
        </p:txBody>
      </p:sp>
      <p:pic>
        <p:nvPicPr>
          <p:cNvPr id="50180" name="图片 256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69151" y="2924176"/>
            <a:ext cx="2671763"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图片 256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9626" y="3502026"/>
            <a:ext cx="2124075"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图片 256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4113" y="3213101"/>
            <a:ext cx="13525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矩形 25606"/>
          <p:cNvSpPr>
            <a:spLocks noGrp="1" noChangeArrowheads="1"/>
          </p:cNvSpPr>
          <p:nvPr/>
        </p:nvSpPr>
        <p:spPr bwMode="auto">
          <a:xfrm>
            <a:off x="2206626" y="5805489"/>
            <a:ext cx="75612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rPr>
              <a:t>  </a:t>
            </a:r>
            <a:r>
              <a:rPr lang="zh-CN" altLang="en-US">
                <a:solidFill>
                  <a:schemeClr val="tx2"/>
                </a:solidFill>
              </a:rPr>
              <a:t>电解电容               瓷质电容               四联可变电容器</a:t>
            </a:r>
            <a:endParaRPr lang="zh-CN" altLang="en-US">
              <a:solidFill>
                <a:schemeClr val="tx2"/>
              </a:solidFill>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26625"/>
          <p:cNvSpPr>
            <a:spLocks noGrp="1" noChangeArrowheads="1"/>
          </p:cNvSpPr>
          <p:nvPr>
            <p:ph type="title" idx="4294967295"/>
          </p:nvPr>
        </p:nvSpPr>
        <p:spPr>
          <a:xfrm>
            <a:off x="4332288" y="381000"/>
            <a:ext cx="7859712" cy="561975"/>
          </a:xfrm>
        </p:spPr>
        <p:txBody>
          <a:bodyPr/>
          <a:lstStyle/>
          <a:p>
            <a:pPr eaLnBrk="1" hangingPunct="1"/>
            <a:r>
              <a:rPr lang="zh-CN" altLang="en-US" sz="4000" b="1"/>
              <a:t>三、晶体三极管</a:t>
            </a:r>
            <a:endParaRPr lang="zh-CN" altLang="en-US" sz="4000" b="1"/>
          </a:p>
        </p:txBody>
      </p:sp>
      <p:sp>
        <p:nvSpPr>
          <p:cNvPr id="51203" name="文本占位符 26626"/>
          <p:cNvSpPr>
            <a:spLocks noGrp="1" noChangeArrowheads="1"/>
          </p:cNvSpPr>
          <p:nvPr>
            <p:ph type="body" sz="half" idx="4294967295"/>
          </p:nvPr>
        </p:nvSpPr>
        <p:spPr>
          <a:xfrm>
            <a:off x="0" y="1412875"/>
            <a:ext cx="5545138" cy="4924425"/>
          </a:xfrm>
        </p:spPr>
        <p:txBody>
          <a:bodyPr/>
          <a:lstStyle/>
          <a:p>
            <a:pPr eaLnBrk="1" hangingPunct="1">
              <a:lnSpc>
                <a:spcPct val="110000"/>
              </a:lnSpc>
              <a:buFont typeface="Wingdings" panose="05000000000000000000" pitchFamily="2" charset="2"/>
              <a:buNone/>
            </a:pPr>
            <a:r>
              <a:rPr lang="en-US" altLang="zh-CN" sz="3000"/>
              <a:t>	       </a:t>
            </a:r>
            <a:r>
              <a:rPr lang="zh-CN" altLang="en-US" b="1"/>
              <a:t>晶体三极管是电子电路中的重要元件，它是由两个坐在一起的</a:t>
            </a:r>
            <a:r>
              <a:rPr lang="en-US" altLang="zh-CN" b="1"/>
              <a:t>PN</a:t>
            </a:r>
            <a:r>
              <a:rPr lang="zh-CN" altLang="en-US" b="1"/>
              <a:t>结上相应的引出电极引线及封装组成的。三极管最基本的特点是具有放大作用，用它可以组成高频、低频放大电路，振荡电路，广泛地应用在收音机、扩音机、录音机、电视机和其他各种半导体电路中</a:t>
            </a:r>
            <a:r>
              <a:rPr lang="zh-CN" altLang="en-US" sz="3000"/>
              <a:t>。</a:t>
            </a:r>
            <a:endParaRPr lang="zh-CN" altLang="en-US" sz="3000"/>
          </a:p>
        </p:txBody>
      </p:sp>
      <p:pic>
        <p:nvPicPr>
          <p:cNvPr id="51204" name="内容占位符 26627" descr="30-31"/>
          <p:cNvPicPr>
            <a:picLocks noGrp="1" noChangeAspect="1" noChangeArrowheads="1"/>
          </p:cNvPicPr>
          <p:nvPr>
            <p:ph sz="half" idx="4294967295"/>
          </p:nvPr>
        </p:nvPicPr>
        <p:blipFill>
          <a:blip r:embed="rId1" cstate="hqprint">
            <a:extLst>
              <a:ext uri="{28A0092B-C50C-407E-A947-70E740481C1C}">
                <a14:useLocalDpi xmlns:a14="http://schemas.microsoft.com/office/drawing/2010/main" val="0"/>
              </a:ext>
            </a:extLst>
          </a:blip>
          <a:srcRect l="33333"/>
          <a:stretch>
            <a:fillRect/>
          </a:stretch>
        </p:blipFill>
        <p:spPr>
          <a:xfrm>
            <a:off x="9901238" y="1916113"/>
            <a:ext cx="2290762" cy="3600450"/>
          </a:xfrm>
        </p:spPr>
      </p:pic>
      <p:pic>
        <p:nvPicPr>
          <p:cNvPr id="2" name="图片 1"/>
          <p:cNvPicPr>
            <a:picLocks noChangeAspect="1"/>
          </p:cNvPicPr>
          <p:nvPr/>
        </p:nvPicPr>
        <p:blipFill>
          <a:blip r:embed="rId2"/>
          <a:stretch>
            <a:fillRect/>
          </a:stretch>
        </p:blipFill>
        <p:spPr>
          <a:xfrm>
            <a:off x="6473852" y="1637308"/>
            <a:ext cx="2292295" cy="3603048"/>
          </a:xfrm>
          <a:prstGeom prst="rect">
            <a:avLst/>
          </a:prstGeom>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27649"/>
          <p:cNvSpPr>
            <a:spLocks noGrp="1" noChangeArrowheads="1"/>
          </p:cNvSpPr>
          <p:nvPr>
            <p:ph type="title" idx="4294967295"/>
          </p:nvPr>
        </p:nvSpPr>
        <p:spPr>
          <a:xfrm>
            <a:off x="4332288" y="371475"/>
            <a:ext cx="7859712" cy="561975"/>
          </a:xfrm>
        </p:spPr>
        <p:txBody>
          <a:bodyPr/>
          <a:lstStyle/>
          <a:p>
            <a:pPr eaLnBrk="1" hangingPunct="1"/>
            <a:r>
              <a:rPr lang="zh-CN" altLang="en-US" sz="4000" b="1" dirty="0"/>
              <a:t>三、晶体三极管</a:t>
            </a:r>
            <a:endParaRPr lang="zh-CN" altLang="en-US" sz="4000" b="1" dirty="0"/>
          </a:p>
        </p:txBody>
      </p:sp>
      <p:sp>
        <p:nvSpPr>
          <p:cNvPr id="52227" name="文本占位符 27650"/>
          <p:cNvSpPr>
            <a:spLocks noGrp="1" noChangeArrowheads="1"/>
          </p:cNvSpPr>
          <p:nvPr>
            <p:ph type="body" sz="half" idx="4294967295"/>
          </p:nvPr>
        </p:nvSpPr>
        <p:spPr>
          <a:xfrm>
            <a:off x="2447925" y="1231106"/>
            <a:ext cx="6696075" cy="3268662"/>
          </a:xfrm>
        </p:spPr>
        <p:txBody>
          <a:bodyPr/>
          <a:lstStyle/>
          <a:p>
            <a:pPr eaLnBrk="1" hangingPunct="1">
              <a:lnSpc>
                <a:spcPct val="110000"/>
              </a:lnSpc>
              <a:buFont typeface="Wingdings" panose="05000000000000000000" pitchFamily="2" charset="2"/>
              <a:buNone/>
            </a:pPr>
            <a:r>
              <a:rPr lang="en-US" altLang="zh-CN" b="1" dirty="0"/>
              <a:t> 1</a:t>
            </a:r>
            <a:r>
              <a:rPr lang="zh-CN" altLang="en-US" b="1" dirty="0"/>
              <a:t>、晶体三极管的主要参数</a:t>
            </a:r>
            <a:endParaRPr lang="zh-CN" altLang="en-US" b="1" dirty="0"/>
          </a:p>
          <a:p>
            <a:pPr eaLnBrk="1" hangingPunct="1">
              <a:lnSpc>
                <a:spcPct val="110000"/>
              </a:lnSpc>
              <a:buFont typeface="Wingdings" panose="05000000000000000000" pitchFamily="2" charset="2"/>
              <a:buNone/>
            </a:pPr>
            <a:r>
              <a:rPr lang="zh-CN" altLang="en-US" b="1" dirty="0"/>
              <a:t>  （</a:t>
            </a:r>
            <a:r>
              <a:rPr lang="en-US" altLang="zh-CN" b="1" dirty="0"/>
              <a:t>1</a:t>
            </a:r>
            <a:r>
              <a:rPr lang="zh-CN" altLang="en-US" b="1" dirty="0"/>
              <a:t>）电流放大系数</a:t>
            </a:r>
            <a:r>
              <a:rPr lang="en-US" altLang="zh-CN" b="1" dirty="0"/>
              <a:t>β</a:t>
            </a:r>
            <a:r>
              <a:rPr lang="zh-CN" altLang="en-US" b="1" dirty="0"/>
              <a:t>和放大倍数</a:t>
            </a:r>
            <a:r>
              <a:rPr lang="en-US" altLang="zh-CN" b="1" dirty="0" err="1"/>
              <a:t>hFE</a:t>
            </a:r>
            <a:endParaRPr lang="en-US" altLang="zh-CN" b="1" dirty="0"/>
          </a:p>
          <a:p>
            <a:pPr eaLnBrk="1" hangingPunct="1">
              <a:lnSpc>
                <a:spcPct val="110000"/>
              </a:lnSpc>
              <a:buFont typeface="Wingdings" panose="05000000000000000000" pitchFamily="2" charset="2"/>
              <a:buNone/>
            </a:pPr>
            <a:r>
              <a:rPr lang="en-US" altLang="zh-CN" b="1" dirty="0"/>
              <a:t>  </a:t>
            </a:r>
            <a:r>
              <a:rPr lang="zh-CN" altLang="en-US" b="1" dirty="0"/>
              <a:t>（</a:t>
            </a:r>
            <a:r>
              <a:rPr lang="en-US" altLang="zh-CN" b="1" dirty="0"/>
              <a:t>2</a:t>
            </a:r>
            <a:r>
              <a:rPr lang="zh-CN" altLang="en-US" b="1" dirty="0"/>
              <a:t>）集电极最大电流</a:t>
            </a:r>
            <a:r>
              <a:rPr lang="en-US" altLang="zh-CN" b="1" dirty="0" err="1"/>
              <a:t>Icm</a:t>
            </a:r>
            <a:endParaRPr lang="en-US" altLang="zh-CN" b="1" dirty="0"/>
          </a:p>
          <a:p>
            <a:pPr eaLnBrk="1" hangingPunct="1">
              <a:lnSpc>
                <a:spcPct val="110000"/>
              </a:lnSpc>
              <a:buFont typeface="Wingdings" panose="05000000000000000000" pitchFamily="2" charset="2"/>
              <a:buNone/>
            </a:pPr>
            <a:r>
              <a:rPr lang="en-US" altLang="zh-CN" b="1" dirty="0"/>
              <a:t>  </a:t>
            </a:r>
            <a:r>
              <a:rPr lang="zh-CN" altLang="en-US" b="1" dirty="0"/>
              <a:t>（</a:t>
            </a:r>
            <a:r>
              <a:rPr lang="en-US" altLang="zh-CN" b="1" dirty="0"/>
              <a:t>3</a:t>
            </a:r>
            <a:r>
              <a:rPr lang="zh-CN" altLang="en-US" b="1" dirty="0"/>
              <a:t>）集电极最大允许功耗</a:t>
            </a:r>
            <a:r>
              <a:rPr lang="en-US" altLang="zh-CN" b="1" dirty="0" err="1"/>
              <a:t>Pcm</a:t>
            </a:r>
            <a:endParaRPr lang="en-US" altLang="zh-CN" b="1" dirty="0"/>
          </a:p>
          <a:p>
            <a:pPr eaLnBrk="1" hangingPunct="1">
              <a:lnSpc>
                <a:spcPct val="110000"/>
              </a:lnSpc>
              <a:buFont typeface="Wingdings" panose="05000000000000000000" pitchFamily="2" charset="2"/>
              <a:buNone/>
            </a:pPr>
            <a:r>
              <a:rPr lang="en-US" altLang="zh-CN" b="1" dirty="0"/>
              <a:t>  </a:t>
            </a:r>
            <a:r>
              <a:rPr lang="zh-CN" altLang="en-US" b="1" dirty="0"/>
              <a:t>（</a:t>
            </a:r>
            <a:r>
              <a:rPr lang="en-US" altLang="zh-CN" b="1" dirty="0"/>
              <a:t>4</a:t>
            </a:r>
            <a:r>
              <a:rPr lang="zh-CN" altLang="en-US" b="1" dirty="0"/>
              <a:t>）集电极</a:t>
            </a:r>
            <a:r>
              <a:rPr lang="en-US" altLang="zh-CN" b="1" dirty="0"/>
              <a:t>-</a:t>
            </a:r>
            <a:r>
              <a:rPr lang="zh-CN" altLang="en-US" b="1" dirty="0"/>
              <a:t>发射极击穿电压</a:t>
            </a:r>
            <a:r>
              <a:rPr lang="en-US" altLang="zh-CN" b="1" dirty="0" err="1"/>
              <a:t>BUceo</a:t>
            </a:r>
            <a:endParaRPr lang="en-US" altLang="zh-CN" b="1" dirty="0"/>
          </a:p>
          <a:p>
            <a:pPr eaLnBrk="1" hangingPunct="1">
              <a:lnSpc>
                <a:spcPct val="110000"/>
              </a:lnSpc>
              <a:buFont typeface="Wingdings" panose="05000000000000000000" pitchFamily="2" charset="2"/>
              <a:buNone/>
            </a:pPr>
            <a:r>
              <a:rPr lang="en-US" altLang="zh-CN" b="1" dirty="0"/>
              <a:t>2</a:t>
            </a:r>
            <a:r>
              <a:rPr lang="zh-CN" altLang="en-US" b="1" dirty="0"/>
              <a:t>、晶体三极管的外形和电路符号</a:t>
            </a:r>
            <a:endParaRPr lang="zh-CN" altLang="en-US" b="1" dirty="0"/>
          </a:p>
        </p:txBody>
      </p:sp>
      <p:pic>
        <p:nvPicPr>
          <p:cNvPr id="52228" name="内容占位符 27651"/>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a:xfrm>
            <a:off x="0" y="4797425"/>
            <a:ext cx="6337300" cy="1362075"/>
          </a:xfrm>
        </p:spPr>
      </p:pic>
      <p:pic>
        <p:nvPicPr>
          <p:cNvPr id="2" name="图片 1"/>
          <p:cNvPicPr>
            <a:picLocks noChangeAspect="1"/>
          </p:cNvPicPr>
          <p:nvPr/>
        </p:nvPicPr>
        <p:blipFill>
          <a:blip r:embed="rId2"/>
          <a:stretch>
            <a:fillRect/>
          </a:stretch>
        </p:blipFill>
        <p:spPr>
          <a:xfrm>
            <a:off x="2889524" y="5097631"/>
            <a:ext cx="6334293" cy="1359526"/>
          </a:xfrm>
          <a:prstGeom prst="rect">
            <a:avLst/>
          </a:prstGeom>
        </p:spPr>
      </p:pic>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28673"/>
          <p:cNvSpPr>
            <a:spLocks noGrp="1" noChangeArrowheads="1"/>
          </p:cNvSpPr>
          <p:nvPr>
            <p:ph type="title" idx="4294967295"/>
          </p:nvPr>
        </p:nvSpPr>
        <p:spPr>
          <a:xfrm>
            <a:off x="4332288" y="381000"/>
            <a:ext cx="7859712" cy="561975"/>
          </a:xfrm>
        </p:spPr>
        <p:txBody>
          <a:bodyPr/>
          <a:lstStyle/>
          <a:p>
            <a:pPr eaLnBrk="1" hangingPunct="1"/>
            <a:r>
              <a:rPr lang="zh-CN" altLang="en-US" sz="4000" b="1" dirty="0"/>
              <a:t>三、晶体三极管</a:t>
            </a:r>
            <a:endParaRPr lang="zh-CN" altLang="en-US" sz="4000" b="1" dirty="0"/>
          </a:p>
        </p:txBody>
      </p:sp>
      <p:sp>
        <p:nvSpPr>
          <p:cNvPr id="53251" name="文本占位符 28674"/>
          <p:cNvSpPr>
            <a:spLocks noGrp="1" noChangeArrowheads="1"/>
          </p:cNvSpPr>
          <p:nvPr>
            <p:ph idx="4294967295"/>
          </p:nvPr>
        </p:nvSpPr>
        <p:spPr>
          <a:xfrm>
            <a:off x="0" y="1052513"/>
            <a:ext cx="7632700" cy="5616575"/>
          </a:xfrm>
        </p:spPr>
        <p:txBody>
          <a:bodyPr/>
          <a:lstStyle/>
          <a:p>
            <a:pPr eaLnBrk="1" hangingPunct="1">
              <a:lnSpc>
                <a:spcPct val="110000"/>
              </a:lnSpc>
              <a:buFont typeface="Wingdings" panose="05000000000000000000" pitchFamily="2" charset="2"/>
              <a:buNone/>
            </a:pPr>
            <a:r>
              <a:rPr lang="zh-CN" altLang="en-US" sz="2400" b="1" dirty="0"/>
              <a:t>	</a:t>
            </a:r>
            <a:r>
              <a:rPr lang="zh-CN" altLang="en-US" b="1" dirty="0"/>
              <a:t>3、晶体三极管的分类</a:t>
            </a:r>
            <a:endParaRPr lang="zh-CN" altLang="en-US" b="1" dirty="0"/>
          </a:p>
          <a:p>
            <a:pPr eaLnBrk="1" hangingPunct="1">
              <a:lnSpc>
                <a:spcPct val="110000"/>
              </a:lnSpc>
              <a:buFont typeface="Wingdings" panose="05000000000000000000" pitchFamily="2" charset="2"/>
              <a:buNone/>
            </a:pPr>
            <a:r>
              <a:rPr lang="zh-CN" altLang="en-US" b="1" dirty="0"/>
              <a:t>	        三极管的种类很多，按体积、</a:t>
            </a:r>
            <a:r>
              <a:rPr lang="en-US" altLang="zh-CN" b="1" dirty="0" err="1"/>
              <a:t>形状</a:t>
            </a:r>
            <a:r>
              <a:rPr lang="zh-CN" altLang="en-US" b="1" dirty="0"/>
              <a:t>、分类方法也比较多。按材料可以分为锗管和硅管；按工艺、结构可以分为点接触型、面接触型和平面型，按应用角度分为以下种类</a:t>
            </a:r>
            <a:r>
              <a:rPr lang="en-US" altLang="zh-CN" b="1" dirty="0"/>
              <a:t>。</a:t>
            </a:r>
            <a:endParaRPr lang="en-US" altLang="zh-CN" b="1" dirty="0"/>
          </a:p>
          <a:p>
            <a:pPr eaLnBrk="1" hangingPunct="1">
              <a:lnSpc>
                <a:spcPct val="110000"/>
              </a:lnSpc>
              <a:buFont typeface="Wingdings" panose="05000000000000000000" pitchFamily="2" charset="2"/>
              <a:buNone/>
            </a:pPr>
            <a:r>
              <a:rPr lang="zh-CN" altLang="en-US" b="1" dirty="0"/>
              <a:t>    1）依工作频率：</a:t>
            </a:r>
            <a:r>
              <a:rPr lang="en-US" altLang="zh-CN" b="1" dirty="0" err="1"/>
              <a:t>低频、高频三极管等</a:t>
            </a:r>
            <a:r>
              <a:rPr lang="en-US" altLang="zh-CN" b="1" dirty="0"/>
              <a:t>。</a:t>
            </a:r>
            <a:endParaRPr lang="en-US" altLang="zh-CN" b="1" dirty="0"/>
          </a:p>
          <a:p>
            <a:pPr eaLnBrk="1" hangingPunct="1">
              <a:lnSpc>
                <a:spcPct val="110000"/>
              </a:lnSpc>
              <a:buFont typeface="Wingdings" panose="05000000000000000000" pitchFamily="2" charset="2"/>
              <a:buNone/>
            </a:pPr>
            <a:r>
              <a:rPr lang="zh-CN" altLang="en-US" b="1" dirty="0"/>
              <a:t>    2）依工作功率：</a:t>
            </a:r>
            <a:r>
              <a:rPr lang="en-US" altLang="zh-CN" b="1" dirty="0" err="1"/>
              <a:t>为小、中和大功率三极管</a:t>
            </a:r>
            <a:r>
              <a:rPr lang="en-US" altLang="zh-CN" b="1" dirty="0"/>
              <a:t>。</a:t>
            </a:r>
            <a:endParaRPr lang="en-US" altLang="zh-CN" b="1" dirty="0"/>
          </a:p>
          <a:p>
            <a:pPr eaLnBrk="1" hangingPunct="1">
              <a:lnSpc>
                <a:spcPct val="110000"/>
              </a:lnSpc>
              <a:buFont typeface="Wingdings" panose="05000000000000000000" pitchFamily="2" charset="2"/>
              <a:buNone/>
            </a:pPr>
            <a:r>
              <a:rPr lang="zh-CN" altLang="en-US" b="1" dirty="0"/>
              <a:t>    3）依封装形式：</a:t>
            </a:r>
            <a:r>
              <a:rPr lang="en-US" altLang="zh-CN" b="1" dirty="0" err="1"/>
              <a:t>金属、玻璃、塑料封装</a:t>
            </a:r>
            <a:r>
              <a:rPr lang="en-US" altLang="zh-CN" b="1" dirty="0"/>
              <a:t>。</a:t>
            </a:r>
            <a:endParaRPr lang="en-US" altLang="zh-CN" b="1" dirty="0"/>
          </a:p>
          <a:p>
            <a:pPr eaLnBrk="1" hangingPunct="1">
              <a:lnSpc>
                <a:spcPct val="110000"/>
              </a:lnSpc>
              <a:buFont typeface="Wingdings" panose="05000000000000000000" pitchFamily="2" charset="2"/>
              <a:buNone/>
            </a:pPr>
            <a:r>
              <a:rPr lang="zh-CN" altLang="en-US" b="1" dirty="0"/>
              <a:t>    4）依导电特性：PNP型和NPN型。</a:t>
            </a:r>
            <a:endParaRPr lang="zh-CN" altLang="en-US" b="1"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7117</Words>
  <Application>WPS 演示</Application>
  <PresentationFormat>宽屏</PresentationFormat>
  <Paragraphs>645</Paragraphs>
  <Slides>42</Slides>
  <Notes>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vt:i4>
      </vt:variant>
      <vt:variant>
        <vt:lpstr>幻灯片标题</vt:lpstr>
      </vt:variant>
      <vt:variant>
        <vt:i4>42</vt:i4>
      </vt:variant>
    </vt:vector>
  </HeadingPairs>
  <TitlesOfParts>
    <vt:vector size="61" baseType="lpstr">
      <vt:lpstr>Arial</vt:lpstr>
      <vt:lpstr>宋体</vt:lpstr>
      <vt:lpstr>Wingdings</vt:lpstr>
      <vt:lpstr>微软雅黑</vt:lpstr>
      <vt:lpstr>Times New Roman</vt:lpstr>
      <vt:lpstr>黑体</vt:lpstr>
      <vt:lpstr>等线</vt:lpstr>
      <vt:lpstr>Source Han Serif SC</vt:lpstr>
      <vt:lpstr>楷体_GB2312</vt:lpstr>
      <vt:lpstr>新宋体</vt:lpstr>
      <vt:lpstr>Arial Unicode MS</vt:lpstr>
      <vt:lpstr>华文中宋</vt:lpstr>
      <vt:lpstr>Calibri</vt:lpstr>
      <vt:lpstr>Garamond</vt:lpstr>
      <vt:lpstr>华文新魏</vt:lpstr>
      <vt:lpstr>等线 Light</vt:lpstr>
      <vt:lpstr>Office 主题​​</vt:lpstr>
      <vt:lpstr>Paint.Picture</vt:lpstr>
      <vt:lpstr>Excel.Sheet.8</vt:lpstr>
      <vt:lpstr>PowerPoint 演示文稿</vt:lpstr>
      <vt:lpstr>PowerPoint 演示文稿</vt:lpstr>
      <vt:lpstr>PowerPoint 演示文稿</vt:lpstr>
      <vt:lpstr>PowerPoint 演示文稿</vt:lpstr>
      <vt:lpstr>PowerPoint 演示文稿</vt:lpstr>
      <vt:lpstr>超外差式调幅收音机的主要特点</vt:lpstr>
      <vt:lpstr>典型超外差式调幅收音机的框图/原理图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收音机的统调方法1（听音法）</vt:lpstr>
      <vt:lpstr>收音机的统调方法2（示波器法）</vt:lpstr>
      <vt:lpstr>本地中波广播参考资源</vt:lpstr>
      <vt:lpstr>相关知识复习</vt:lpstr>
      <vt:lpstr>电子产品的装配与焊接</vt:lpstr>
      <vt:lpstr>PowerPoint 演示文稿</vt:lpstr>
      <vt:lpstr>PowerPoint 演示文稿</vt:lpstr>
      <vt:lpstr>焊接方法</vt:lpstr>
      <vt:lpstr>焊接注意事项</vt:lpstr>
      <vt:lpstr>元器件识别及基本参数测试</vt:lpstr>
      <vt:lpstr>一、电阻</vt:lpstr>
      <vt:lpstr>2、电阻的分类</vt:lpstr>
      <vt:lpstr>3、电位器</vt:lpstr>
      <vt:lpstr>4、电阻值大小的识别</vt:lpstr>
      <vt:lpstr>4、电阻值大小的识别</vt:lpstr>
      <vt:lpstr>二、电容</vt:lpstr>
      <vt:lpstr>1、电容的主要参数</vt:lpstr>
      <vt:lpstr>1、电容的主要参数</vt:lpstr>
      <vt:lpstr>2、电容的分类</vt:lpstr>
      <vt:lpstr>3、电容的电气特性</vt:lpstr>
      <vt:lpstr>4、常见电容器</vt:lpstr>
      <vt:lpstr>三、晶体三极管</vt:lpstr>
      <vt:lpstr>三、晶体三极管</vt:lpstr>
      <vt:lpstr>三、晶体三极管</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Chang LIU</dc:creator>
  <cp:lastModifiedBy>一</cp:lastModifiedBy>
  <cp:revision>32</cp:revision>
  <dcterms:created xsi:type="dcterms:W3CDTF">2023-11-16T02:35:00Z</dcterms:created>
  <dcterms:modified xsi:type="dcterms:W3CDTF">2025-11-18T12:55:09Z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9764E2ED970F4AD5B00F03DEBCCCFE05_13</vt:lpwstr>
  </property>
  <property fmtid="{D5CDD505-2E9C-101B-9397-08002B2CF9AE}" pid="3" name="KSOProductBuildVer">
    <vt:lpwstr>2052-12.1.0.23542</vt:lpwstr>
  </property>
</Properties>
</file>